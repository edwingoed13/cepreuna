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256" r:id="rId3"/>
    <p:sldId id="322" r:id="rId4"/>
    <p:sldId id="323" r:id="rId5"/>
    <p:sldId id="324" r:id="rId6"/>
    <p:sldId id="325" r:id="rId7"/>
    <p:sldId id="326" r:id="rId8"/>
    <p:sldId id="327" r:id="rId9"/>
    <p:sldId id="285" r:id="rId10"/>
    <p:sldId id="297" r:id="rId11"/>
    <p:sldId id="298" r:id="rId12"/>
    <p:sldId id="299" r:id="rId13"/>
    <p:sldId id="300" r:id="rId14"/>
    <p:sldId id="301" r:id="rId15"/>
    <p:sldId id="334" r:id="rId16"/>
    <p:sldId id="302" r:id="rId17"/>
    <p:sldId id="331" r:id="rId18"/>
    <p:sldId id="303" r:id="rId19"/>
    <p:sldId id="332" r:id="rId20"/>
    <p:sldId id="304" r:id="rId21"/>
    <p:sldId id="305" r:id="rId22"/>
    <p:sldId id="306" r:id="rId23"/>
    <p:sldId id="307" r:id="rId24"/>
    <p:sldId id="308" r:id="rId25"/>
    <p:sldId id="309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21" r:id="rId35"/>
    <p:sldId id="274" r:id="rId36"/>
  </p:sldIdLst>
  <p:sldSz cx="10080625" cy="5670550"/>
  <p:notesSz cx="7559675" cy="10691813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3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PE" sz="2600" b="0" strike="noStrike" spc="-1">
              <a:solidFill>
                <a:srgbClr val="1C1C1C"/>
              </a:solidFill>
              <a:latin typeface="Source Sans Pro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60000" cy="3338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PE" sz="2600" b="0" strike="noStrike" spc="-1">
              <a:solidFill>
                <a:srgbClr val="1C1C1C"/>
              </a:solidFill>
              <a:latin typeface="Source Sans Pro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PE" sz="2600" b="0" strike="noStrike" spc="-1">
              <a:solidFill>
                <a:srgbClr val="1C1C1C"/>
              </a:solidFill>
              <a:latin typeface="Source Sans Pro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ubTitle"/>
          </p:nvPr>
        </p:nvSpPr>
        <p:spPr>
          <a:xfrm>
            <a:off x="360000" y="270000"/>
            <a:ext cx="9360000" cy="33386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s-PE" sz="2600" b="0" strike="noStrike" spc="-1">
              <a:solidFill>
                <a:srgbClr val="1C1C1C"/>
              </a:solidFill>
              <a:latin typeface="Source Sans Pro Ligh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60000" y="3183480"/>
            <a:ext cx="91800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5063760" y="135000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36000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063760" y="3183480"/>
            <a:ext cx="447948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360000" y="135000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body"/>
          </p:nvPr>
        </p:nvSpPr>
        <p:spPr>
          <a:xfrm>
            <a:off x="3463920" y="135000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body"/>
          </p:nvPr>
        </p:nvSpPr>
        <p:spPr>
          <a:xfrm>
            <a:off x="6567480" y="135000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360000" y="318348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6" name="PlaceHolder 6"/>
          <p:cNvSpPr>
            <a:spLocks noGrp="1"/>
          </p:cNvSpPr>
          <p:nvPr>
            <p:ph type="body"/>
          </p:nvPr>
        </p:nvSpPr>
        <p:spPr>
          <a:xfrm>
            <a:off x="3463920" y="318348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87" name="PlaceHolder 7"/>
          <p:cNvSpPr>
            <a:spLocks noGrp="1"/>
          </p:cNvSpPr>
          <p:nvPr>
            <p:ph type="body"/>
          </p:nvPr>
        </p:nvSpPr>
        <p:spPr>
          <a:xfrm>
            <a:off x="6567480" y="3183480"/>
            <a:ext cx="2955600" cy="1674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s-PE" sz="1950" b="1" strike="noStrike" spc="-1">
              <a:solidFill>
                <a:srgbClr val="1C1C1C"/>
              </a:solidFill>
              <a:latin typeface="Source Sans Pro Semibo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stomShape 1"/>
          <p:cNvSpPr/>
          <p:nvPr/>
        </p:nvSpPr>
        <p:spPr>
          <a:xfrm>
            <a:off x="0" y="180000"/>
            <a:ext cx="9720000" cy="90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2"/>
          <p:cNvSpPr/>
          <p:nvPr/>
        </p:nvSpPr>
        <p:spPr>
          <a:xfrm>
            <a:off x="7560000" y="5130000"/>
            <a:ext cx="252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900000" y="5130000"/>
            <a:ext cx="6480000" cy="405000"/>
          </a:xfrm>
          <a:prstGeom prst="rect">
            <a:avLst/>
          </a:prstGeom>
          <a:solidFill>
            <a:srgbClr val="B2B2B2"/>
          </a:solidFill>
          <a:ln w="0">
            <a:solidFill>
              <a:srgbClr val="808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180000" y="5130000"/>
            <a:ext cx="540000" cy="405000"/>
          </a:xfrm>
          <a:prstGeom prst="rect">
            <a:avLst/>
          </a:prstGeom>
          <a:noFill/>
          <a:ln w="72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PlaceHolder 5"/>
          <p:cNvSpPr>
            <a:spLocks noGrp="1"/>
          </p:cNvSpPr>
          <p:nvPr>
            <p:ph type="title"/>
          </p:nvPr>
        </p:nvSpPr>
        <p:spPr>
          <a:xfrm>
            <a:off x="360000" y="270000"/>
            <a:ext cx="936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PE" sz="2400" b="1" strike="noStrike" spc="-1">
                <a:solidFill>
                  <a:srgbClr val="FFFFFF"/>
                </a:solidFill>
                <a:latin typeface="Source Sans Pro Black"/>
              </a:rPr>
              <a:t>Pulse para editar el formato del texto de título</a:t>
            </a: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360000" y="1350000"/>
            <a:ext cx="9180000" cy="351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spcAft>
                <a:spcPts val="853"/>
              </a:spcAft>
            </a:pPr>
            <a:r>
              <a:rPr lang="es-PE" sz="1950" b="1" strike="noStrike" spc="-1">
                <a:solidFill>
                  <a:srgbClr val="1C1C1C"/>
                </a:solidFill>
                <a:latin typeface="Source Sans Pro Semibold"/>
              </a:rPr>
              <a:t>Pulse para editar el formato de texto del esquema</a:t>
            </a:r>
          </a:p>
          <a:p>
            <a:pPr marL="288000" lvl="1">
              <a:spcAft>
                <a:spcPts val="848"/>
              </a:spcAft>
            </a:pPr>
            <a:r>
              <a:rPr lang="es-PE" sz="1650" b="0" strike="noStrike" spc="-1">
                <a:solidFill>
                  <a:srgbClr val="1C1C1C"/>
                </a:solidFill>
                <a:latin typeface="Source Sans Pro Light"/>
              </a:rPr>
              <a:t>Segundo nivel del esquema</a:t>
            </a:r>
          </a:p>
          <a:p>
            <a:pPr marL="576000" lvl="2">
              <a:spcAft>
                <a:spcPts val="635"/>
              </a:spcAft>
            </a:pPr>
            <a:r>
              <a:rPr lang="es-PE" sz="1350" b="0" strike="noStrike" spc="-1">
                <a:solidFill>
                  <a:srgbClr val="1C1C1C"/>
                </a:solidFill>
                <a:latin typeface="Source Sans Pro Light"/>
              </a:rPr>
              <a:t>Tercer nivel del esquema</a:t>
            </a:r>
          </a:p>
          <a:p>
            <a:pPr marL="864000" lvl="3">
              <a:spcAft>
                <a:spcPts val="425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Cuarto nivel del esquema</a:t>
            </a:r>
          </a:p>
          <a:p>
            <a:pPr marL="1152000" lvl="4">
              <a:spcAft>
                <a:spcPts val="213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Quinto nivel del esquema</a:t>
            </a:r>
          </a:p>
          <a:p>
            <a:pPr marL="1440000" lvl="5">
              <a:spcAft>
                <a:spcPts val="213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Sexto nivel del esquema</a:t>
            </a:r>
          </a:p>
          <a:p>
            <a:pPr marL="1728000" lvl="6">
              <a:spcAft>
                <a:spcPts val="213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Séptimo nivel del esquema</a:t>
            </a:r>
          </a:p>
        </p:txBody>
      </p:sp>
      <p:sp>
        <p:nvSpPr>
          <p:cNvPr id="6" name="CustomShape 7"/>
          <p:cNvSpPr/>
          <p:nvPr/>
        </p:nvSpPr>
        <p:spPr>
          <a:xfrm>
            <a:off x="180000" y="5130000"/>
            <a:ext cx="540000" cy="405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" name="PlaceHolder 8"/>
          <p:cNvSpPr>
            <a:spLocks noGrp="1"/>
          </p:cNvSpPr>
          <p:nvPr>
            <p:ph type="sldNum"/>
          </p:nvPr>
        </p:nvSpPr>
        <p:spPr>
          <a:xfrm>
            <a:off x="-180000" y="5130000"/>
            <a:ext cx="1260000" cy="405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fld id="{12CBBC77-FF04-4709-A253-AA514A11DE34}" type="slidenum">
              <a:rPr lang="es-PE" sz="1800" b="1" strike="noStrike" spc="-1">
                <a:solidFill>
                  <a:srgbClr val="FFFFFF"/>
                </a:solidFill>
                <a:latin typeface="Source Sans Pro Black"/>
              </a:rPr>
              <a:t>‹Nº›</a:t>
            </a:fld>
            <a:endParaRPr lang="es-PE" sz="18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" name="PlaceHolder 9"/>
          <p:cNvSpPr>
            <a:spLocks noGrp="1"/>
          </p:cNvSpPr>
          <p:nvPr>
            <p:ph type="ftr"/>
          </p:nvPr>
        </p:nvSpPr>
        <p:spPr>
          <a:xfrm>
            <a:off x="900000" y="5130000"/>
            <a:ext cx="6480000" cy="405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PE" sz="1800" b="1" strike="noStrike" spc="-1">
                <a:solidFill>
                  <a:srgbClr val="FFFFFF"/>
                </a:solidFill>
                <a:latin typeface="Source Sans Pro Black"/>
              </a:rPr>
              <a:t>&lt;pie de página&gt;</a:t>
            </a:r>
          </a:p>
        </p:txBody>
      </p:sp>
      <p:sp>
        <p:nvSpPr>
          <p:cNvPr id="9" name="PlaceHolder 10"/>
          <p:cNvSpPr>
            <a:spLocks noGrp="1"/>
          </p:cNvSpPr>
          <p:nvPr>
            <p:ph type="dt"/>
          </p:nvPr>
        </p:nvSpPr>
        <p:spPr>
          <a:xfrm>
            <a:off x="7560000" y="5130000"/>
            <a:ext cx="2340000" cy="391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r"/>
            <a:r>
              <a:rPr lang="es-PE" sz="1800" b="1" strike="noStrike" spc="-1">
                <a:solidFill>
                  <a:srgbClr val="FFFFFF"/>
                </a:solidFill>
                <a:latin typeface="Source Sans Pro Black"/>
              </a:rPr>
              <a:t>&lt;fecha/hora&gt;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1980000"/>
            <a:ext cx="9720000" cy="990000"/>
          </a:xfrm>
          <a:prstGeom prst="rect">
            <a:avLst/>
          </a:prstGeom>
          <a:solidFill>
            <a:srgbClr val="C9211E"/>
          </a:solidFill>
          <a:ln w="180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360000" y="2160000"/>
            <a:ext cx="9180000" cy="7200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s-PE" sz="2400" b="1" strike="noStrike" spc="-1">
                <a:solidFill>
                  <a:srgbClr val="FFFFFF"/>
                </a:solidFill>
                <a:latin typeface="Source Sans Pro Black"/>
              </a:rPr>
              <a:t>Pulse para editar el formato del texto de título</a:t>
            </a: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540000" y="3150000"/>
            <a:ext cx="9000000" cy="1890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spcAft>
                <a:spcPts val="853"/>
              </a:spcAft>
            </a:pPr>
            <a:r>
              <a:rPr lang="es-PE" sz="1950" b="1" strike="noStrike" spc="-1">
                <a:solidFill>
                  <a:srgbClr val="1C1C1C"/>
                </a:solidFill>
                <a:latin typeface="Source Sans Pro Semibold"/>
              </a:rPr>
              <a:t>Pulse para editar el formato de texto del esquema</a:t>
            </a:r>
          </a:p>
          <a:p>
            <a:pPr marL="288000" lvl="1">
              <a:spcAft>
                <a:spcPts val="848"/>
              </a:spcAft>
            </a:pPr>
            <a:r>
              <a:rPr lang="es-PE" sz="1650" b="0" strike="noStrike" spc="-1">
                <a:solidFill>
                  <a:srgbClr val="1C1C1C"/>
                </a:solidFill>
                <a:latin typeface="Source Sans Pro Light"/>
              </a:rPr>
              <a:t>Segundo nivel del esquema</a:t>
            </a:r>
          </a:p>
          <a:p>
            <a:pPr marL="576000" lvl="2">
              <a:spcAft>
                <a:spcPts val="635"/>
              </a:spcAft>
            </a:pPr>
            <a:r>
              <a:rPr lang="es-PE" sz="1350" b="0" strike="noStrike" spc="-1">
                <a:solidFill>
                  <a:srgbClr val="1C1C1C"/>
                </a:solidFill>
                <a:latin typeface="Source Sans Pro Light"/>
              </a:rPr>
              <a:t>Tercer nivel del esquema</a:t>
            </a:r>
          </a:p>
          <a:p>
            <a:pPr marL="864000" lvl="3">
              <a:spcAft>
                <a:spcPts val="425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Cuarto nivel del esquema</a:t>
            </a:r>
          </a:p>
          <a:p>
            <a:pPr marL="1152000" lvl="4">
              <a:spcAft>
                <a:spcPts val="213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Quinto nivel del esquema</a:t>
            </a:r>
          </a:p>
          <a:p>
            <a:pPr marL="1440000" lvl="5">
              <a:spcAft>
                <a:spcPts val="213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Sexto nivel del esquema</a:t>
            </a:r>
          </a:p>
          <a:p>
            <a:pPr marL="1728000" lvl="6">
              <a:spcAft>
                <a:spcPts val="213"/>
              </a:spcAft>
            </a:pPr>
            <a:r>
              <a:rPr lang="es-PE" sz="1200" b="0" strike="noStrike" spc="-1">
                <a:solidFill>
                  <a:srgbClr val="1C1C1C"/>
                </a:solidFill>
                <a:latin typeface="Source Sans Pro Light"/>
              </a:rPr>
              <a:t>Séptimo nivel del esquema</a:t>
            </a:r>
          </a:p>
        </p:txBody>
      </p:sp>
      <p:sp>
        <p:nvSpPr>
          <p:cNvPr id="49" name="PlaceHolder 4"/>
          <p:cNvSpPr>
            <a:spLocks noGrp="1"/>
          </p:cNvSpPr>
          <p:nvPr>
            <p:ph type="dt"/>
          </p:nvPr>
        </p:nvSpPr>
        <p:spPr>
          <a:xfrm>
            <a:off x="7560000" y="5130000"/>
            <a:ext cx="2340000" cy="405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s-PE" sz="1800" b="1" strike="noStrike" spc="-1">
                <a:solidFill>
                  <a:srgbClr val="C9211E"/>
                </a:solidFill>
                <a:latin typeface="Source Sans Pro Black"/>
              </a:rPr>
              <a:t>&lt;fecha/hora&gt;</a:t>
            </a:r>
          </a:p>
        </p:txBody>
      </p:sp>
      <p:sp>
        <p:nvSpPr>
          <p:cNvPr id="50" name="PlaceHolder 5"/>
          <p:cNvSpPr>
            <a:spLocks noGrp="1"/>
          </p:cNvSpPr>
          <p:nvPr>
            <p:ph type="ftr"/>
          </p:nvPr>
        </p:nvSpPr>
        <p:spPr>
          <a:xfrm>
            <a:off x="1080000" y="5130000"/>
            <a:ext cx="3240000" cy="405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s-PE" sz="1800" b="1" strike="noStrike" spc="-1">
                <a:solidFill>
                  <a:srgbClr val="C9211E"/>
                </a:solidFill>
                <a:latin typeface="Source Sans Pro Black"/>
              </a:rPr>
              <a:t>&lt;pie de página&gt;</a:t>
            </a:r>
          </a:p>
        </p:txBody>
      </p:sp>
      <p:sp>
        <p:nvSpPr>
          <p:cNvPr id="51" name="PlaceHolder 6"/>
          <p:cNvSpPr>
            <a:spLocks noGrp="1"/>
          </p:cNvSpPr>
          <p:nvPr>
            <p:ph type="sldNum"/>
          </p:nvPr>
        </p:nvSpPr>
        <p:spPr>
          <a:xfrm>
            <a:off x="180000" y="5130000"/>
            <a:ext cx="540000" cy="405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fld id="{9F59E93B-9041-4E2D-BBA0-3680AF12F1B5}" type="slidenum">
              <a:rPr lang="es-PE" sz="1800" b="1" strike="noStrike" spc="-1">
                <a:solidFill>
                  <a:srgbClr val="C9211E"/>
                </a:solidFill>
                <a:latin typeface="Source Sans Pro Black"/>
              </a:rPr>
              <a:t>‹Nº›</a:t>
            </a:fld>
            <a:endParaRPr lang="es-PE" sz="1800" b="1" strike="noStrike" spc="-1">
              <a:solidFill>
                <a:srgbClr val="C9211E"/>
              </a:solidFill>
              <a:latin typeface="Source Sans Pro Black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wmf"/><Relationship Id="rId4" Type="http://schemas.openxmlformats.org/officeDocument/2006/relationships/oleObject" Target="../embeddings/oleObject4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360000" y="2160000"/>
            <a:ext cx="918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ctr"/>
            <a:r>
              <a:rPr lang="es-PE" sz="2400" b="1" strike="noStrike" spc="-1" dirty="0">
                <a:solidFill>
                  <a:srgbClr val="FFFFFF"/>
                </a:solidFill>
                <a:latin typeface="Source Sans Pro Black"/>
              </a:rPr>
              <a:t>Pautas para la construcción de </a:t>
            </a:r>
            <a:r>
              <a:rPr lang="es-PE" sz="2400" b="1" spc="-1" dirty="0">
                <a:solidFill>
                  <a:srgbClr val="FFFFFF"/>
                </a:solidFill>
                <a:latin typeface="Source Sans Pro Black"/>
              </a:rPr>
              <a:t>í</a:t>
            </a:r>
            <a:r>
              <a:rPr lang="es-PE" sz="2400" b="1" strike="noStrike" spc="-1" dirty="0">
                <a:solidFill>
                  <a:srgbClr val="FFFFFF"/>
                </a:solidFill>
                <a:latin typeface="Source Sans Pro Black"/>
              </a:rPr>
              <a:t>tems de </a:t>
            </a:r>
            <a:r>
              <a:rPr lang="es-PE" sz="2400" b="1" spc="-1" dirty="0">
                <a:solidFill>
                  <a:srgbClr val="FFFFFF"/>
                </a:solidFill>
                <a:latin typeface="Source Sans Pro Black"/>
              </a:rPr>
              <a:t>Matemática y Habilidades Matemáticas</a:t>
            </a:r>
            <a:r>
              <a:rPr lang="es-PE" sz="2400" b="1" strike="noStrike" spc="-1" dirty="0">
                <a:solidFill>
                  <a:srgbClr val="FFFFFF"/>
                </a:solidFill>
                <a:latin typeface="Source Sans Pro Black"/>
              </a:rPr>
              <a:t> en el modelo por competencias</a:t>
            </a:r>
          </a:p>
        </p:txBody>
      </p:sp>
      <p:sp>
        <p:nvSpPr>
          <p:cNvPr id="89" name="TextShape 2"/>
          <p:cNvSpPr txBox="1"/>
          <p:nvPr/>
        </p:nvSpPr>
        <p:spPr>
          <a:xfrm>
            <a:off x="540000" y="3150000"/>
            <a:ext cx="9000000" cy="18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/>
            <a:r>
              <a:rPr lang="es-PE" sz="2200" b="0" strike="noStrike" spc="-1" dirty="0">
                <a:solidFill>
                  <a:srgbClr val="1C1C1C"/>
                </a:solidFill>
                <a:latin typeface="Source Sans Pro Light"/>
              </a:rPr>
              <a:t>Renato </a:t>
            </a:r>
            <a:r>
              <a:rPr lang="es-PE" sz="2200" spc="-1" dirty="0">
                <a:solidFill>
                  <a:srgbClr val="1C1C1C"/>
                </a:solidFill>
                <a:latin typeface="Source Sans Pro Light"/>
              </a:rPr>
              <a:t>Benazic Tomé</a:t>
            </a:r>
            <a:endParaRPr lang="es-PE" sz="2200" b="0" strike="noStrike" spc="-1" dirty="0">
              <a:solidFill>
                <a:srgbClr val="1C1C1C"/>
              </a:solidFill>
              <a:latin typeface="Source Sans Pro Light"/>
            </a:endParaRPr>
          </a:p>
          <a:p>
            <a:pPr algn="ctr"/>
            <a:r>
              <a:rPr lang="es-PE" sz="2200" b="0" strike="noStrike" spc="-1" dirty="0">
                <a:solidFill>
                  <a:srgbClr val="1C1C1C"/>
                </a:solidFill>
                <a:latin typeface="Source Sans Pro Light"/>
              </a:rPr>
              <a:t>Docente monitor</a:t>
            </a:r>
          </a:p>
          <a:p>
            <a:pPr algn="ctr"/>
            <a:endParaRPr lang="es-PE" sz="2200" b="0" strike="noStrike" spc="-1" dirty="0">
              <a:solidFill>
                <a:srgbClr val="1C1C1C"/>
              </a:solidFill>
              <a:latin typeface="Source Sans Pr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651052" y="570586"/>
            <a:ext cx="9068947" cy="41941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s-PE" sz="2400" b="1">
                <a:solidFill>
                  <a:schemeClr val="bg1"/>
                </a:solidFill>
              </a:rPr>
              <a:t>Algunas pautas para la construcción de ítems</a:t>
            </a:r>
            <a:endParaRPr lang="es-PE" sz="2400" b="1" dirty="0">
              <a:solidFill>
                <a:schemeClr val="bg1"/>
              </a:solidFill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360000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 fontScale="93000"/>
          </a:bodyPr>
          <a:lstStyle/>
          <a:p>
            <a:pPr>
              <a:spcAft>
                <a:spcPts val="853"/>
              </a:spcAft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PASOS SECUENCIALES PARA LA ELABORACIÓN DE ÍTEMS </a:t>
            </a:r>
          </a:p>
          <a:p>
            <a:pPr marL="457200" indent="-457200">
              <a:spcAft>
                <a:spcPts val="853"/>
              </a:spcAft>
              <a:buFont typeface="+mj-lt"/>
              <a:buAutoNum type="arabicPeriod"/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Observar el tema que corresponde al temario de admisión</a:t>
            </a:r>
          </a:p>
          <a:p>
            <a:pPr marL="457200" indent="-457200">
              <a:spcAft>
                <a:spcPts val="853"/>
              </a:spcAft>
              <a:buFont typeface="+mj-lt"/>
              <a:buAutoNum type="arabicPeriod"/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Elegir la destreza cognitiva que buscamos activar en el postulante</a:t>
            </a:r>
          </a:p>
          <a:p>
            <a:pPr marL="457200" indent="-457200">
              <a:spcAft>
                <a:spcPts val="853"/>
              </a:spcAft>
              <a:buFont typeface="+mj-lt"/>
              <a:buAutoNum type="arabicPeriod"/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Determinar la posibilidad de insertar el tema elegido en un caso concreto</a:t>
            </a:r>
          </a:p>
          <a:p>
            <a:pPr marL="457200" indent="-457200">
              <a:spcAft>
                <a:spcPts val="853"/>
              </a:spcAft>
              <a:buFont typeface="+mj-lt"/>
              <a:buAutoNum type="arabicPeriod"/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Reajustar y reformular el ítem si no está orientado hacia el objetivo</a:t>
            </a:r>
          </a:p>
          <a:p>
            <a:pPr marL="457200" indent="-457200">
              <a:spcAft>
                <a:spcPts val="853"/>
              </a:spcAft>
              <a:buFont typeface="+mj-lt"/>
              <a:buAutoNum type="arabicPeriod"/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Procurar un idóneo grado de complejidad en el enunciado o las alternativas</a:t>
            </a:r>
          </a:p>
          <a:p>
            <a:pPr marL="457200" indent="-457200">
              <a:spcAft>
                <a:spcPts val="853"/>
              </a:spcAft>
              <a:buFont typeface="+mj-lt"/>
              <a:buAutoNum type="arabicPeriod"/>
            </a:pPr>
            <a:r>
              <a:rPr lang="es-PE" sz="1950" b="1" strike="noStrike" spc="-1" dirty="0">
                <a:solidFill>
                  <a:srgbClr val="1C1C1C"/>
                </a:solidFill>
                <a:latin typeface="Source Sans Pro Semibold"/>
              </a:rPr>
              <a:t>Revisar y corregir hasta llegar a una versión óptima a nivel formal</a:t>
            </a:r>
          </a:p>
        </p:txBody>
      </p:sp>
    </p:spTree>
    <p:extLst>
      <p:ext uri="{BB962C8B-B14F-4D97-AF65-F5344CB8AC3E}">
        <p14:creationId xmlns:p14="http://schemas.microsoft.com/office/powerpoint/2010/main" val="335478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9B8E6-E450-414D-80BD-70D4E87F7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993"/>
            <a:ext cx="9699955" cy="670929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solidFill>
                  <a:schemeClr val="bg1"/>
                </a:solidFill>
                <a:latin typeface="Source Sans Pro Black"/>
                <a:cs typeface="Arial" panose="020B0604020202020204" pitchFamily="34" charset="0"/>
              </a:rPr>
              <a:t>Acerca del contenido y de la habilidad que se mide con el ítem</a:t>
            </a:r>
            <a:endParaRPr lang="es-419" sz="2400" dirty="0">
              <a:solidFill>
                <a:schemeClr val="bg1"/>
              </a:solidFill>
              <a:latin typeface="Source Sans Pro Black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A710C1-5DA1-41DD-AADA-6DDB524E1B9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3043" y="1915593"/>
            <a:ext cx="8694539" cy="2382773"/>
          </a:xfrm>
        </p:spPr>
        <p:txBody>
          <a:bodyPr>
            <a:normAutofit lnSpcReduction="10000"/>
          </a:bodyPr>
          <a:lstStyle/>
          <a:p>
            <a:pPr marL="283510" indent="-28351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contenido del ítem debe estar señalado en el temario y debe corresponder al nivel de la Educación Básica Regular. </a:t>
            </a:r>
          </a:p>
          <a:p>
            <a:pPr marL="0" indent="0" algn="just">
              <a:buClr>
                <a:schemeClr val="accent2"/>
              </a:buClr>
              <a:buNone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510" indent="-283510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habilidad que se mide debe corresponder a un nivel de la EBR.</a:t>
            </a:r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28809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A1A1E-7D49-476B-AB94-EA74A2F0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3995"/>
            <a:ext cx="9699954" cy="533829"/>
          </a:xfrm>
        </p:spPr>
        <p:txBody>
          <a:bodyPr>
            <a:normAutofit/>
          </a:bodyPr>
          <a:lstStyle/>
          <a:p>
            <a:r>
              <a:rPr lang="es-ES" sz="3307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Black"/>
                <a:cs typeface="Arial" panose="020B0604020202020204" pitchFamily="34" charset="0"/>
              </a:rPr>
              <a:t>Acerca de la formulación del enunciado</a:t>
            </a:r>
            <a:endParaRPr lang="es-419" sz="2400" b="1" dirty="0">
              <a:solidFill>
                <a:schemeClr val="bg1"/>
              </a:solidFill>
              <a:latin typeface="Source Sans Pro Black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D5934-6F98-48F1-B232-2035AE633BE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3043" y="1243585"/>
            <a:ext cx="8694539" cy="3840480"/>
          </a:xfrm>
        </p:spPr>
        <p:txBody>
          <a:bodyPr/>
          <a:lstStyle/>
          <a:p>
            <a:pPr marL="296635" indent="-29663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El enunciado se debe formular en un lenguaje directo, denotativo, sin artificios sintácticos. Hay que evitar las construcciones anfibológicas cuyo procesamiento implique demasiado tiempo.</a:t>
            </a:r>
          </a:p>
          <a:p>
            <a:pPr marL="296635" indent="-29663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6635" indent="-29663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El enunciado debe presentar con claridad el contexto del ítem y debe orientarse a una actividad reflexiva (procesamiento de la información). No debe ser memorístico.</a:t>
            </a:r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354592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A1A1E-7D49-476B-AB94-EA74A2F0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3995"/>
            <a:ext cx="9699954" cy="533829"/>
          </a:xfrm>
        </p:spPr>
        <p:txBody>
          <a:bodyPr>
            <a:normAutofit/>
          </a:bodyPr>
          <a:lstStyle/>
          <a:p>
            <a:r>
              <a:rPr lang="es-ES" sz="3307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Black"/>
                <a:cs typeface="Arial" panose="020B0604020202020204" pitchFamily="34" charset="0"/>
              </a:rPr>
              <a:t>Consideraciones acerca de las claves </a:t>
            </a:r>
            <a:endParaRPr lang="es-419" sz="2400" b="1" dirty="0">
              <a:solidFill>
                <a:schemeClr val="bg1"/>
              </a:solidFill>
              <a:latin typeface="Source Sans Pro Black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D5934-6F98-48F1-B232-2035AE633BE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3043" y="1243585"/>
            <a:ext cx="8694539" cy="3840480"/>
          </a:xfrm>
        </p:spPr>
        <p:txBody>
          <a:bodyPr>
            <a:normAutofit fontScale="92500" lnSpcReduction="10000"/>
          </a:bodyPr>
          <a:lstStyle/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La clave debe ser una respuesta razonada y fundamentada del ítem. El reconocimiento de la clave debe implicar un proceso cognitivo (análisis, síntesis, inferencia, contraste, etc.).</a:t>
            </a: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Formalmente, la clave debe guardar isomorfismo con las alternativas. </a:t>
            </a: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No debe presentar una señal que permita al postulante detectarla sin mayor análisis.</a:t>
            </a:r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6740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A1A1E-7D49-476B-AB94-EA74A2F0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3995"/>
            <a:ext cx="9699954" cy="533829"/>
          </a:xfrm>
        </p:spPr>
        <p:txBody>
          <a:bodyPr>
            <a:normAutofit/>
          </a:bodyPr>
          <a:lstStyle/>
          <a:p>
            <a:r>
              <a:rPr lang="es-ES" sz="3307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Black"/>
                <a:cs typeface="Arial" panose="020B0604020202020204" pitchFamily="34" charset="0"/>
              </a:rPr>
              <a:t>Sobre las alternativas</a:t>
            </a:r>
            <a:endParaRPr lang="es-419" sz="2400" b="1" dirty="0">
              <a:solidFill>
                <a:schemeClr val="bg1"/>
              </a:solidFill>
              <a:latin typeface="Source Sans Pro Black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D5934-6F98-48F1-B232-2035AE633BE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3043" y="1243585"/>
            <a:ext cx="8694539" cy="3840480"/>
          </a:xfrm>
        </p:spPr>
        <p:txBody>
          <a:bodyPr>
            <a:normAutofit fontScale="92500" lnSpcReduction="20000"/>
          </a:bodyPr>
          <a:lstStyle/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Las alternativas son elementos cruciales en las preguntas de selección múltiple (</a:t>
            </a:r>
            <a:r>
              <a:rPr lang="es-PE" i="1" dirty="0" err="1"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PE" i="1" dirty="0" err="1">
                <a:latin typeface="Arial" panose="020B0604020202020204" pitchFamily="34" charset="0"/>
                <a:cs typeface="Arial" panose="020B0604020202020204" pitchFamily="34" charset="0"/>
              </a:rPr>
              <a:t>choice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). En gran medida, un ítem puede tener una buena capacidad discriminatoria si hay buenas alternativas (distractores).</a:t>
            </a: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Para cumplir con su función los distractores deben guardar cierta aproximación a la clave. Si un ítem no permite formular tres buenos distractores, es un ítem fallido. Hay que reconstruirlo.</a:t>
            </a: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58775" indent="-358775"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El postulante debe descartar el distractor luego de un análisis minucioso.</a:t>
            </a:r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09350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A1A1E-7D49-476B-AB94-EA74A2F0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43995"/>
            <a:ext cx="9699954" cy="533829"/>
          </a:xfrm>
        </p:spPr>
        <p:txBody>
          <a:bodyPr>
            <a:normAutofit/>
          </a:bodyPr>
          <a:lstStyle/>
          <a:p>
            <a:r>
              <a:rPr lang="es-ES" sz="3307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Sans Pro Black"/>
                <a:cs typeface="Arial" panose="020B0604020202020204" pitchFamily="34" charset="0"/>
              </a:rPr>
              <a:t>Acerca de la solución del ítem </a:t>
            </a:r>
            <a:endParaRPr lang="es-419" sz="2400" b="1" dirty="0">
              <a:solidFill>
                <a:schemeClr val="bg1"/>
              </a:solidFill>
              <a:latin typeface="Source Sans Pro Black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AD5934-6F98-48F1-B232-2035AE633BE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3043" y="1243585"/>
            <a:ext cx="8694539" cy="3840480"/>
          </a:xfrm>
        </p:spPr>
        <p:txBody>
          <a:bodyPr>
            <a:normAutofit fontScale="92500" lnSpcReduction="10000"/>
          </a:bodyPr>
          <a:lstStyle/>
          <a:p>
            <a:pPr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sz="2600" dirty="0">
                <a:latin typeface="Arial" panose="020B0604020202020204" pitchFamily="34" charset="0"/>
                <a:cs typeface="Arial" panose="020B0604020202020204" pitchFamily="34" charset="0"/>
              </a:rPr>
              <a:t>La solución del ítem no debe ser prolija en exceso, pero tampoco debe ser minimalista y </a:t>
            </a:r>
            <a:r>
              <a:rPr lang="es-PE" sz="2600" dirty="0" err="1">
                <a:latin typeface="Arial" panose="020B0604020202020204" pitchFamily="34" charset="0"/>
                <a:cs typeface="Arial" panose="020B0604020202020204" pitchFamily="34" charset="0"/>
              </a:rPr>
              <a:t>cuasitautológica</a:t>
            </a:r>
            <a:r>
              <a:rPr lang="es-PE" sz="2600" dirty="0">
                <a:latin typeface="Arial" panose="020B0604020202020204" pitchFamily="34" charset="0"/>
                <a:cs typeface="Arial" panose="020B0604020202020204" pitchFamily="34" charset="0"/>
              </a:rPr>
              <a:t>. En promedio, la solución debe ser de 50 palabras. 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sz="2600" dirty="0">
                <a:latin typeface="Arial" panose="020B0604020202020204" pitchFamily="34" charset="0"/>
                <a:cs typeface="Arial" panose="020B0604020202020204" pitchFamily="34" charset="0"/>
              </a:rPr>
              <a:t>En las áreas de matemáticas, si la solución es un algoritmo, se procede formalmente.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sz="2600" dirty="0">
                <a:latin typeface="Arial" panose="020B0604020202020204" pitchFamily="34" charset="0"/>
                <a:cs typeface="Arial" panose="020B0604020202020204" pitchFamily="34" charset="0"/>
              </a:rPr>
              <a:t>La solución debe hacer constar la referencia bibliográfica pertinente (en el caso de ítems que miden manejo de información).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sz="2600" dirty="0">
                <a:latin typeface="Arial" panose="020B0604020202020204" pitchFamily="34" charset="0"/>
                <a:cs typeface="Arial" panose="020B0604020202020204" pitchFamily="34" charset="0"/>
              </a:rPr>
              <a:t>En ciertos casos, es pertinente que la solución explique por qué un distractor no es la clave.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s-PE" sz="2600" dirty="0">
                <a:latin typeface="Arial" panose="020B0604020202020204" pitchFamily="34" charset="0"/>
                <a:cs typeface="Arial" panose="020B0604020202020204" pitchFamily="34" charset="0"/>
              </a:rPr>
              <a:t>Recuérdese que la solución puede ser de ayuda didáctica.</a:t>
            </a:r>
          </a:p>
          <a:p>
            <a:pPr marL="0" indent="0">
              <a:buNone/>
            </a:pP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52445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301976" y="2689805"/>
            <a:ext cx="389900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SEMEJANZA DE TRIÁNGULOS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E0B47D6-C14C-419C-921B-CE8F8D7A7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713" y="382874"/>
            <a:ext cx="4367175" cy="11548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197221" y="583373"/>
            <a:ext cx="2997901" cy="261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C249E5E-1F0C-4619-86A7-FD42191A7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72" y="1779865"/>
            <a:ext cx="5095308" cy="9695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D7C3D09-42BC-4D4A-A54E-22DC2FC08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51" y="3050439"/>
            <a:ext cx="5581770" cy="24279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21 Cuadro de texto">
            <a:extLst>
              <a:ext uri="{FF2B5EF4-FFF2-40B4-BE49-F238E27FC236}">
                <a16:creationId xmlns:a16="http://schemas.microsoft.com/office/drawing/2014/main" id="{3376635A-8E8B-4F29-AE49-9E4ABFD0BD1F}"/>
              </a:ext>
            </a:extLst>
          </p:cNvPr>
          <p:cNvSpPr txBox="1"/>
          <p:nvPr/>
        </p:nvSpPr>
        <p:spPr>
          <a:xfrm>
            <a:off x="7056437" y="2166438"/>
            <a:ext cx="2728263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173107" y="3209517"/>
            <a:ext cx="2557782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424928" y="3749503"/>
            <a:ext cx="2492050" cy="14661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</a:t>
            </a:r>
          </a:p>
          <a:p>
            <a:r>
              <a:rPr lang="es-PE" sz="1488" dirty="0">
                <a:solidFill>
                  <a:srgbClr val="0070C0"/>
                </a:solidFill>
              </a:rPr>
              <a:t>procesamiento visual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0863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521786" y="2704434"/>
            <a:ext cx="3972153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TEOREMA DE PITÁGORAS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197221" y="583373"/>
            <a:ext cx="2997901" cy="261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21 Cuadro de texto">
            <a:extLst>
              <a:ext uri="{FF2B5EF4-FFF2-40B4-BE49-F238E27FC236}">
                <a16:creationId xmlns:a16="http://schemas.microsoft.com/office/drawing/2014/main" id="{3376635A-8E8B-4F29-AE49-9E4ABFD0BD1F}"/>
              </a:ext>
            </a:extLst>
          </p:cNvPr>
          <p:cNvSpPr txBox="1"/>
          <p:nvPr/>
        </p:nvSpPr>
        <p:spPr>
          <a:xfrm>
            <a:off x="6798772" y="2213257"/>
            <a:ext cx="2728263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6799133" y="3130267"/>
            <a:ext cx="2557782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B7BEC4B-BEC8-41EF-B5CD-E51DD721A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92"/>
          <a:stretch/>
        </p:blipFill>
        <p:spPr>
          <a:xfrm>
            <a:off x="1261562" y="219456"/>
            <a:ext cx="4407718" cy="14911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656E629-D2C2-43E4-9F25-0EB66707E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901" y="1850805"/>
            <a:ext cx="4786812" cy="9194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7A6A08F-195D-45DD-B047-8C2EB74FB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996" y="2914380"/>
            <a:ext cx="5388967" cy="25793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6853979" y="3739900"/>
            <a:ext cx="2788331" cy="123719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</a:t>
            </a:r>
            <a:r>
              <a:rPr lang="es-PE" sz="1488" dirty="0">
                <a:solidFill>
                  <a:srgbClr val="0070C0"/>
                </a:solidFill>
              </a:rPr>
              <a:t>procesamiento visual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82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389845" y="2686145"/>
            <a:ext cx="3877055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TEOREMA DE PITÁGORAS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365765-198C-4228-99BA-D6291F530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811" y="617546"/>
            <a:ext cx="7212787" cy="451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64688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505275" y="2659391"/>
            <a:ext cx="3989087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ÁREA DE CUADRILÁTEROS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231902" y="1080349"/>
            <a:ext cx="2997901" cy="261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306557" y="2704279"/>
            <a:ext cx="2557782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5818B7B-7467-4E26-AECF-898012077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73" y="504749"/>
            <a:ext cx="4598775" cy="1788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A762D5E-1006-40B4-82CC-F5F722AD9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573" y="2508973"/>
            <a:ext cx="5783842" cy="2677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292293" y="3511509"/>
            <a:ext cx="2487221" cy="14661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</a:t>
            </a:r>
            <a:r>
              <a:rPr lang="es-PE" sz="1488" dirty="0">
                <a:solidFill>
                  <a:srgbClr val="0070C0"/>
                </a:solidFill>
              </a:rPr>
              <a:t>procesamiento visual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8F0F863-9258-44B1-AE13-DA9C466659D1}"/>
              </a:ext>
            </a:extLst>
          </p:cNvPr>
          <p:cNvSpPr/>
          <p:nvPr/>
        </p:nvSpPr>
        <p:spPr>
          <a:xfrm>
            <a:off x="6525372" y="2530622"/>
            <a:ext cx="478014" cy="3394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488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73419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318172" y="2664199"/>
            <a:ext cx="3877057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ÁREA DE CUADRILÁTEROS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017CB68-ACD9-4125-918A-2184294A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7" y="397499"/>
            <a:ext cx="7541971" cy="46865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324E6711-F45A-4581-A1A5-9A078DD9F9A2}"/>
              </a:ext>
            </a:extLst>
          </p:cNvPr>
          <p:cNvSpPr/>
          <p:nvPr/>
        </p:nvSpPr>
        <p:spPr>
          <a:xfrm>
            <a:off x="7398237" y="-7775"/>
            <a:ext cx="478014" cy="33943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488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995451768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28011" y="2636626"/>
            <a:ext cx="390295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VOLUMEN DEL</a:t>
            </a:r>
          </a:p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PRISMA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729985" y="1624449"/>
            <a:ext cx="2801721" cy="3506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532771" y="2830983"/>
            <a:ext cx="2399040" cy="336499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27"/>
              </a:spcAft>
            </a:pPr>
            <a:r>
              <a:rPr lang="es-PE" sz="1158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EE1D050-DCEB-42C8-933E-319FABC3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889" y="1624449"/>
            <a:ext cx="4717417" cy="803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1977778-F139-417D-A7C5-4431D048F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77" y="2693822"/>
            <a:ext cx="6407380" cy="13443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644384" y="3825850"/>
            <a:ext cx="2287427" cy="1237198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34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28011" y="2636626"/>
            <a:ext cx="390295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VOLUMEN DEL</a:t>
            </a:r>
          </a:p>
          <a:p>
            <a:pPr algn="ctr"/>
            <a:r>
              <a:rPr lang="es-PE" sz="2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 PRISMA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1977778-F139-417D-A7C5-4431D048F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401" y="1245411"/>
            <a:ext cx="7033991" cy="14758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BCB623F-5995-45D4-9236-0DD242D24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618" y="2794407"/>
            <a:ext cx="6571558" cy="2311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566603" y="2687644"/>
            <a:ext cx="3991104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ECUACIONES DE PRIMER GRADO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759246" y="1009498"/>
            <a:ext cx="2794406" cy="3112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21 Cuadro de texto">
            <a:extLst>
              <a:ext uri="{FF2B5EF4-FFF2-40B4-BE49-F238E27FC236}">
                <a16:creationId xmlns:a16="http://schemas.microsoft.com/office/drawing/2014/main" id="{3376635A-8E8B-4F29-AE49-9E4ABFD0BD1F}"/>
              </a:ext>
            </a:extLst>
          </p:cNvPr>
          <p:cNvSpPr txBox="1"/>
          <p:nvPr/>
        </p:nvSpPr>
        <p:spPr>
          <a:xfrm>
            <a:off x="7139636" y="1923898"/>
            <a:ext cx="2633472" cy="373074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439557" y="2900141"/>
            <a:ext cx="2468453" cy="435590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0B7DE26-5817-4267-BF0F-3846EFA07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3" y="866882"/>
            <a:ext cx="5369356" cy="6487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5024B3D-B8DB-4FA2-A878-884197FDA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3" y="1713281"/>
            <a:ext cx="5879509" cy="9310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96FDAB2-7FD3-4469-AE60-4399F3590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80" y="2900141"/>
            <a:ext cx="6474411" cy="18547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439557" y="3533242"/>
            <a:ext cx="2468453" cy="14661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</a:t>
            </a:r>
            <a:r>
              <a:rPr lang="es-PE" sz="1488" dirty="0">
                <a:solidFill>
                  <a:srgbClr val="0070C0"/>
                </a:solidFill>
              </a:rPr>
              <a:t>inteligencia cristalizada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CCEB01-7FAD-4256-9C99-5CA92C8B3917}"/>
              </a:ext>
            </a:extLst>
          </p:cNvPr>
          <p:cNvSpPr/>
          <p:nvPr/>
        </p:nvSpPr>
        <p:spPr>
          <a:xfrm>
            <a:off x="4044775" y="253176"/>
            <a:ext cx="247366" cy="2346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24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25C9A2-D7E1-4D07-8EFA-43F4096D00F0}"/>
              </a:ext>
            </a:extLst>
          </p:cNvPr>
          <p:cNvSpPr/>
          <p:nvPr/>
        </p:nvSpPr>
        <p:spPr>
          <a:xfrm>
            <a:off x="3477027" y="2900141"/>
            <a:ext cx="815114" cy="25584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240" dirty="0" err="1">
                <a:latin typeface="Arial" panose="020B0604020202020204" pitchFamily="34" charset="0"/>
                <a:cs typeface="Arial" panose="020B0604020202020204" pitchFamily="34" charset="0"/>
              </a:rPr>
              <a:t>prosalud</a:t>
            </a:r>
            <a:endParaRPr lang="es-419" sz="12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E0C68B-07BE-493F-AF4B-80DEA91DFEF5}"/>
              </a:ext>
            </a:extLst>
          </p:cNvPr>
          <p:cNvSpPr/>
          <p:nvPr/>
        </p:nvSpPr>
        <p:spPr>
          <a:xfrm>
            <a:off x="1887150" y="5244566"/>
            <a:ext cx="247366" cy="2346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24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251748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541004" y="2702276"/>
            <a:ext cx="4020369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ECUACIONES DE PRIMER GRADO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96FDAB2-7FD3-4469-AE60-4399F3590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74" y="1169499"/>
            <a:ext cx="8643913" cy="16102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D1687D9-90B2-4B27-82CF-A5EA299C2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301" y="2874874"/>
            <a:ext cx="5767248" cy="22018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36CCEB01-7FAD-4256-9C99-5CA92C8B3917}"/>
              </a:ext>
            </a:extLst>
          </p:cNvPr>
          <p:cNvSpPr/>
          <p:nvPr/>
        </p:nvSpPr>
        <p:spPr>
          <a:xfrm>
            <a:off x="4044775" y="253176"/>
            <a:ext cx="247366" cy="2346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24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E0C68B-07BE-493F-AF4B-80DEA91DFEF5}"/>
              </a:ext>
            </a:extLst>
          </p:cNvPr>
          <p:cNvSpPr/>
          <p:nvPr/>
        </p:nvSpPr>
        <p:spPr>
          <a:xfrm>
            <a:off x="1887150" y="5244566"/>
            <a:ext cx="247366" cy="23468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124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416867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17251" y="2646064"/>
            <a:ext cx="3869443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ECUACIONES DE SEGUNDO GRADO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962845" y="1471310"/>
            <a:ext cx="2729683" cy="328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21 Cuadro de texto">
            <a:extLst>
              <a:ext uri="{FF2B5EF4-FFF2-40B4-BE49-F238E27FC236}">
                <a16:creationId xmlns:a16="http://schemas.microsoft.com/office/drawing/2014/main" id="{3376635A-8E8B-4F29-AE49-9E4ABFD0BD1F}"/>
              </a:ext>
            </a:extLst>
          </p:cNvPr>
          <p:cNvSpPr txBox="1"/>
          <p:nvPr/>
        </p:nvSpPr>
        <p:spPr>
          <a:xfrm>
            <a:off x="7471948" y="2889505"/>
            <a:ext cx="2466896" cy="329184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471948" y="3735580"/>
            <a:ext cx="2557782" cy="37556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7C5C77A-F48F-41E3-893A-D510F4CD7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831" y="1341149"/>
            <a:ext cx="4741624" cy="7284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F35C398-C48E-402E-A8C9-5658D612F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082" y="2547169"/>
            <a:ext cx="6158499" cy="7358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0F10D1B-71C8-4AB4-9851-30E9A6E81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832" y="3735581"/>
            <a:ext cx="6146750" cy="11656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341444" y="4176980"/>
            <a:ext cx="2688285" cy="95410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00" b="1" dirty="0"/>
              <a:t>Destrezas cognitivas usadas:</a:t>
            </a:r>
          </a:p>
          <a:p>
            <a:r>
              <a:rPr lang="es-ES" sz="1400" dirty="0">
                <a:solidFill>
                  <a:srgbClr val="0070C0"/>
                </a:solidFill>
              </a:rPr>
              <a:t>Deducción, inteligencia fluida, </a:t>
            </a:r>
            <a:r>
              <a:rPr lang="es-PE" sz="1400" dirty="0">
                <a:solidFill>
                  <a:srgbClr val="0070C0"/>
                </a:solidFill>
              </a:rPr>
              <a:t>inteligencia cristalizada</a:t>
            </a:r>
            <a:r>
              <a:rPr lang="es-ES" sz="1400" dirty="0">
                <a:solidFill>
                  <a:srgbClr val="0070C0"/>
                </a:solidFill>
              </a:rPr>
              <a:t>, conocimiento cuantitativo.</a:t>
            </a:r>
            <a:endParaRPr lang="es-PE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79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17251" y="2646064"/>
            <a:ext cx="3869443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ECUACIONES DE SEGUNDO GRADO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E0F10D1B-71C8-4AB4-9851-30E9A6E81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45" y="1317491"/>
            <a:ext cx="8077063" cy="11550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021177D-59A2-4CFA-AD12-DB11881AD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" y="2809038"/>
            <a:ext cx="8148151" cy="227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49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27864" y="2716240"/>
            <a:ext cx="3922611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INECUACIONES DE SEGUNDO GRADO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6898234" y="1460146"/>
            <a:ext cx="2991916" cy="3247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508565" y="2821814"/>
            <a:ext cx="2557782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FE144E2-9E36-4DE5-A3DB-4D944032E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156" y="1289621"/>
            <a:ext cx="5490719" cy="9593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F637696-288E-42A5-A31E-D23F048BB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628" y="2677362"/>
            <a:ext cx="6340965" cy="17849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560795" y="3359577"/>
            <a:ext cx="2453323" cy="14661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</a:t>
            </a:r>
            <a:r>
              <a:rPr lang="es-PE" sz="1488" dirty="0">
                <a:solidFill>
                  <a:srgbClr val="0070C0"/>
                </a:solidFill>
              </a:rPr>
              <a:t>inteligencia cristalizada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9EA3955-574D-4DF3-84F9-8DD158B5BD16}"/>
              </a:ext>
            </a:extLst>
          </p:cNvPr>
          <p:cNvSpPr/>
          <p:nvPr/>
        </p:nvSpPr>
        <p:spPr>
          <a:xfrm>
            <a:off x="2310934" y="2958909"/>
            <a:ext cx="463614" cy="24979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419" sz="12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805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74250" y="2653814"/>
            <a:ext cx="3944067" cy="83099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INECUACIONES DE </a:t>
            </a:r>
          </a:p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SEGUNDO GRADO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D46AE15-D92E-45E1-9C61-4EC856C1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58" y="546591"/>
            <a:ext cx="5362042" cy="4521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1342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46294" y="2664199"/>
            <a:ext cx="3877057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SISTEMA DE ECUACIONES </a:t>
            </a:r>
          </a:p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LINEALES</a:t>
            </a: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7242058" y="1634214"/>
            <a:ext cx="2729683" cy="261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361730" y="3187628"/>
            <a:ext cx="2557782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8E0CA56-04C4-43F9-9467-AE55A975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07" y="1141169"/>
            <a:ext cx="6147578" cy="174605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0B58C6-FF32-434C-8C1C-3F969304C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07" y="3072384"/>
            <a:ext cx="6240951" cy="18131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413959" y="3632123"/>
            <a:ext cx="2453323" cy="14661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</a:t>
            </a:r>
            <a:r>
              <a:rPr lang="es-PE" sz="1488" dirty="0">
                <a:solidFill>
                  <a:srgbClr val="0070C0"/>
                </a:solidFill>
              </a:rPr>
              <a:t>inteligencia cristalizada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670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54622" y="2661789"/>
            <a:ext cx="3934142" cy="83099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>
              <a:defRPr/>
            </a:pPr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  <a:latin typeface="Calibri Light" panose="020F0302020204030204"/>
              </a:rPr>
              <a:t>SISTEMA DE ECUACIONES LINEALES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7A3503-273C-46ED-8486-6E23F7FE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99" y="1163117"/>
            <a:ext cx="8075914" cy="398615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4960946-952D-4BD6-902B-6F134EB7AD4D}"/>
              </a:ext>
            </a:extLst>
          </p:cNvPr>
          <p:cNvSpPr/>
          <p:nvPr/>
        </p:nvSpPr>
        <p:spPr>
          <a:xfrm>
            <a:off x="1667715" y="4939452"/>
            <a:ext cx="477174" cy="20981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419" sz="124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579348547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441920" y="2663560"/>
            <a:ext cx="3907413" cy="86263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/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</a:rPr>
              <a:t>SISTEMA DE ECUACIONES LINEALES</a:t>
            </a:r>
            <a:endParaRPr lang="es-PE" sz="2400" b="1" dirty="0">
              <a:ln w="12700">
                <a:solidFill>
                  <a:srgbClr val="162F33">
                    <a:lumMod val="75000"/>
                  </a:srgbClr>
                </a:solidFill>
                <a:prstDash val="solid"/>
              </a:ln>
              <a:solidFill>
                <a:srgbClr val="162F33">
                  <a:lumMod val="75000"/>
                  <a:lumOff val="25000"/>
                </a:srgbClr>
              </a:solidFill>
              <a:effectLst>
                <a:outerShdw dist="38100" dir="2640000" algn="bl" rotWithShape="0">
                  <a:srgbClr val="162F33">
                    <a:lumMod val="75000"/>
                  </a:srgbClr>
                </a:outerShdw>
              </a:effectLst>
              <a:latin typeface="Calibri Light" panose="020F0302020204030204"/>
            </a:endParaRPr>
          </a:p>
        </p:txBody>
      </p:sp>
      <p:sp>
        <p:nvSpPr>
          <p:cNvPr id="7" name="21 Cuadro de texto">
            <a:extLst>
              <a:ext uri="{FF2B5EF4-FFF2-40B4-BE49-F238E27FC236}">
                <a16:creationId xmlns:a16="http://schemas.microsoft.com/office/drawing/2014/main" id="{CEA0D9EE-B7D3-4EEB-8EAC-724648026ED9}"/>
              </a:ext>
            </a:extLst>
          </p:cNvPr>
          <p:cNvSpPr txBox="1"/>
          <p:nvPr/>
        </p:nvSpPr>
        <p:spPr>
          <a:xfrm>
            <a:off x="7184865" y="1402790"/>
            <a:ext cx="2729683" cy="2619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57150">
            <a:solidFill>
              <a:schemeClr val="tx2">
                <a:lumMod val="50000"/>
                <a:lumOff val="50000"/>
              </a:schemeClr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CONTEXTUALIZADO </a:t>
            </a:r>
            <a:endParaRPr lang="es-PE" sz="1158" dirty="0">
              <a:solidFill>
                <a:prstClr val="black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21 Cuadro de texto">
            <a:extLst>
              <a:ext uri="{FF2B5EF4-FFF2-40B4-BE49-F238E27FC236}">
                <a16:creationId xmlns:a16="http://schemas.microsoft.com/office/drawing/2014/main" id="{E5478DF4-DEB9-4441-BF8D-43103EE691B5}"/>
              </a:ext>
            </a:extLst>
          </p:cNvPr>
          <p:cNvSpPr txBox="1"/>
          <p:nvPr/>
        </p:nvSpPr>
        <p:spPr>
          <a:xfrm>
            <a:off x="7427512" y="3027323"/>
            <a:ext cx="2557782" cy="261991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2"/>
            </a:solidFill>
          </a:ln>
          <a:effectLst/>
        </p:spPr>
        <p:txBody>
          <a:bodyPr rot="0" spcFirstLastPara="0" vert="horz" wrap="square" lIns="75605" tIns="37802" rIns="75605" bIns="378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378013">
              <a:lnSpc>
                <a:spcPct val="115000"/>
              </a:lnSpc>
              <a:spcAft>
                <a:spcPts val="827"/>
              </a:spcAft>
              <a:defRPr/>
            </a:pPr>
            <a:r>
              <a:rPr lang="es-PE" sz="1158" b="1" dirty="0">
                <a:solidFill>
                  <a:prstClr val="black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CONTEXTUALIZADO </a:t>
            </a:r>
            <a:endParaRPr lang="es-PE" sz="1158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E3C5236-07CD-4986-B4C1-A8C1C4364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748" y="1190500"/>
            <a:ext cx="5867399" cy="14841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BABFFC9-AFD0-4022-8202-70E8DE3A1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010831"/>
            <a:ext cx="6308580" cy="17211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7461225" y="3582411"/>
            <a:ext cx="2453323" cy="14661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s-ES" sz="1488" b="1" dirty="0"/>
              <a:t>Destrezas cognitivas usadas:</a:t>
            </a:r>
          </a:p>
          <a:p>
            <a:r>
              <a:rPr lang="es-ES" sz="1488" dirty="0">
                <a:solidFill>
                  <a:srgbClr val="0070C0"/>
                </a:solidFill>
              </a:rPr>
              <a:t>Deducción, inteligencia fluida, </a:t>
            </a:r>
            <a:r>
              <a:rPr lang="es-PE" sz="1488" dirty="0">
                <a:solidFill>
                  <a:srgbClr val="0070C0"/>
                </a:solidFill>
              </a:rPr>
              <a:t>inteligencia cristalizada</a:t>
            </a:r>
            <a:r>
              <a:rPr lang="es-ES" sz="1488" dirty="0">
                <a:solidFill>
                  <a:srgbClr val="0070C0"/>
                </a:solidFill>
              </a:rPr>
              <a:t>, conocimiento cuantitativo.</a:t>
            </a:r>
            <a:endParaRPr lang="es-PE" sz="1488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81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65129D3E-13E2-4E42-8B68-B5BE25D44C52}"/>
              </a:ext>
            </a:extLst>
          </p:cNvPr>
          <p:cNvSpPr txBox="1"/>
          <p:nvPr/>
        </p:nvSpPr>
        <p:spPr>
          <a:xfrm rot="16200000">
            <a:off x="-1545497" y="2675174"/>
            <a:ext cx="4001417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78013"/>
            <a:r>
              <a:rPr lang="es-PE" sz="2400" b="1" dirty="0">
                <a:ln w="12700">
                  <a:solidFill>
                    <a:srgbClr val="162F33">
                      <a:lumMod val="75000"/>
                    </a:srgbClr>
                  </a:solidFill>
                  <a:prstDash val="solid"/>
                </a:ln>
                <a:solidFill>
                  <a:srgbClr val="162F33">
                    <a:lumMod val="75000"/>
                    <a:lumOff val="25000"/>
                  </a:srgbClr>
                </a:solidFill>
                <a:effectLst>
                  <a:outerShdw dist="38100" dir="2640000" algn="bl" rotWithShape="0">
                    <a:srgbClr val="162F33">
                      <a:lumMod val="75000"/>
                    </a:srgbClr>
                  </a:outerShdw>
                </a:effectLst>
              </a:rPr>
              <a:t>SISTEMA DE ECUACIONES LINEALES</a:t>
            </a:r>
            <a:endParaRPr lang="es-PE" sz="2400" b="1" dirty="0">
              <a:ln w="12700">
                <a:solidFill>
                  <a:srgbClr val="162F33">
                    <a:lumMod val="75000"/>
                  </a:srgbClr>
                </a:solidFill>
                <a:prstDash val="solid"/>
              </a:ln>
              <a:solidFill>
                <a:srgbClr val="162F33">
                  <a:lumMod val="75000"/>
                  <a:lumOff val="25000"/>
                </a:srgbClr>
              </a:solidFill>
              <a:effectLst>
                <a:outerShdw dist="38100" dir="2640000" algn="bl" rotWithShape="0">
                  <a:srgbClr val="162F33">
                    <a:lumMod val="75000"/>
                  </a:srgbClr>
                </a:outerShdw>
              </a:effectLst>
              <a:latin typeface="Calibri Light" panose="020F0302020204030204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D813EF0-C7B3-4E09-A079-E08E029A2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387" y="1089966"/>
            <a:ext cx="6459321" cy="4001414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0263DF51-656C-4906-8037-D6BC7576B882}"/>
              </a:ext>
            </a:extLst>
          </p:cNvPr>
          <p:cNvSpPr/>
          <p:nvPr/>
        </p:nvSpPr>
        <p:spPr>
          <a:xfrm>
            <a:off x="4180845" y="2440854"/>
            <a:ext cx="69951" cy="20981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419" sz="12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97459E7-A23C-45BD-B6FC-47F55FCBFE60}"/>
              </a:ext>
            </a:extLst>
          </p:cNvPr>
          <p:cNvSpPr/>
          <p:nvPr/>
        </p:nvSpPr>
        <p:spPr>
          <a:xfrm>
            <a:off x="1788447" y="5352780"/>
            <a:ext cx="48511" cy="11881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s-419" sz="124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625074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6200000">
            <a:off x="-1617478" y="2897638"/>
            <a:ext cx="3937218" cy="438912"/>
          </a:xfr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solidFill>
              <a:srgbClr val="FF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ÍTEMS DE ARITMÉTICA</a:t>
            </a:r>
            <a:endParaRPr lang="es-PE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1135464" y="1266093"/>
            <a:ext cx="8308459" cy="3269332"/>
          </a:xfrm>
          <a:ln w="38100"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55000" lnSpcReduction="20000"/>
          </a:bodyPr>
          <a:lstStyle/>
          <a:p>
            <a:pPr marL="0" indent="0" algn="just">
              <a:buNone/>
            </a:pPr>
            <a:r>
              <a:rPr lang="es-ES" dirty="0">
                <a:solidFill>
                  <a:srgbClr val="C00000"/>
                </a:solidFill>
                <a:effectLst/>
              </a:rPr>
              <a:t>ÍTEM 1. Reparto proporcional</a:t>
            </a:r>
            <a:endParaRPr lang="es-PE" dirty="0">
              <a:solidFill>
                <a:srgbClr val="C00000"/>
              </a:solidFill>
              <a:effectLst/>
            </a:endParaRPr>
          </a:p>
          <a:p>
            <a:pPr marL="0" indent="0" algn="just">
              <a:buNone/>
            </a:pPr>
            <a:r>
              <a:rPr lang="es-PE" dirty="0">
                <a:effectLst/>
              </a:rPr>
              <a:t>En una fiesta patronal se tiene pensado preparar </a:t>
            </a:r>
            <a:r>
              <a:rPr lang="es-PE" dirty="0" err="1">
                <a:effectLst/>
              </a:rPr>
              <a:t>carapulcra</a:t>
            </a:r>
            <a:r>
              <a:rPr lang="es-PE" dirty="0">
                <a:effectLst/>
              </a:rPr>
              <a:t> con sopa seca para el almuerzo de 225 personas, utilizando 125 kg de papa seca.  Las porciones generosas que se sirvieron fueron todas iguales, cada asistente recibió una sola porción y no sobró ninguna porción.  Si asistieron 171 personas a la fiesta patronal, ¿cuántos kilogramos de papa seca se utilizó en la preparación del almuerzo?</a:t>
            </a: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>
              <a:effectLst/>
            </a:endParaRPr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endParaRPr lang="es-ES" dirty="0">
              <a:effectLst/>
            </a:endParaRPr>
          </a:p>
          <a:p>
            <a:pPr marL="0" indent="0" algn="just">
              <a:buNone/>
            </a:pPr>
            <a:endParaRPr lang="es-PE" dirty="0">
              <a:effectLst/>
            </a:endParaRPr>
          </a:p>
          <a:p>
            <a:pPr marL="0" indent="0">
              <a:buNone/>
            </a:pPr>
            <a:r>
              <a:rPr lang="es-PE" dirty="0">
                <a:effectLst/>
              </a:rPr>
              <a:t>A) 95		B) 90		C) 105 		D) 115</a:t>
            </a:r>
          </a:p>
        </p:txBody>
      </p:sp>
      <p:pic>
        <p:nvPicPr>
          <p:cNvPr id="8" name="Imagen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751" y="2581105"/>
            <a:ext cx="2544224" cy="124474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1009499" y="4535424"/>
            <a:ext cx="8119872" cy="550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88" dirty="0">
                <a:solidFill>
                  <a:srgbClr val="C00000"/>
                </a:solidFill>
              </a:rPr>
              <a:t>Las destrezas cognitivas que se usan son las siguientes:</a:t>
            </a:r>
          </a:p>
          <a:p>
            <a:r>
              <a:rPr lang="es-ES" sz="1488" dirty="0"/>
              <a:t>Deducción, inteligencia fluida, conocimiento cuantitativo.</a:t>
            </a:r>
            <a:endParaRPr lang="es-PE" sz="1488" dirty="0"/>
          </a:p>
        </p:txBody>
      </p:sp>
    </p:spTree>
    <p:extLst>
      <p:ext uri="{BB962C8B-B14F-4D97-AF65-F5344CB8AC3E}">
        <p14:creationId xmlns:p14="http://schemas.microsoft.com/office/powerpoint/2010/main" val="1810101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8ED2044-0964-4EE6-B9D7-0F6B96072AB8}"/>
              </a:ext>
            </a:extLst>
          </p:cNvPr>
          <p:cNvSpPr/>
          <p:nvPr/>
        </p:nvSpPr>
        <p:spPr>
          <a:xfrm>
            <a:off x="2011272" y="1110053"/>
            <a:ext cx="5462566" cy="249701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88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C582108-FFE9-4CAF-89B0-8114CE36767A}"/>
              </a:ext>
            </a:extLst>
          </p:cNvPr>
          <p:cNvSpPr txBox="1"/>
          <p:nvPr/>
        </p:nvSpPr>
        <p:spPr>
          <a:xfrm>
            <a:off x="2161091" y="1188322"/>
            <a:ext cx="1055097" cy="321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88" b="1" dirty="0">
                <a:latin typeface="Arial" panose="020B0604020202020204" pitchFamily="34" charset="0"/>
                <a:cs typeface="Arial" panose="020B0604020202020204" pitchFamily="34" charset="0"/>
              </a:rPr>
              <a:t>Solución:</a:t>
            </a:r>
            <a:endParaRPr lang="es-PE" sz="148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5BD28E63-3D64-4F8D-940D-E08318D37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2540" y="1717147"/>
          <a:ext cx="1226956" cy="576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8080" imgH="393480" progId="Equation.DSMT4">
                  <p:embed/>
                </p:oleObj>
              </mc:Choice>
              <mc:Fallback>
                <p:oleObj name="Equation" r:id="rId2" imgW="838080" imgH="393480" progId="Equation.DSMT4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5BD28E63-3D64-4F8D-940D-E08318D375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2540" y="1717147"/>
                        <a:ext cx="1226956" cy="5762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ángulo 6">
            <a:extLst>
              <a:ext uri="{FF2B5EF4-FFF2-40B4-BE49-F238E27FC236}">
                <a16:creationId xmlns:a16="http://schemas.microsoft.com/office/drawing/2014/main" id="{A6A97738-1B60-4DCA-AEC8-1F54842BD262}"/>
              </a:ext>
            </a:extLst>
          </p:cNvPr>
          <p:cNvSpPr/>
          <p:nvPr/>
        </p:nvSpPr>
        <p:spPr>
          <a:xfrm>
            <a:off x="3066588" y="2544458"/>
            <a:ext cx="1337226" cy="3213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88" dirty="0">
                <a:latin typeface="Arial" panose="020B0604020202020204" pitchFamily="34" charset="0"/>
                <a:ea typeface="Calibri" panose="020F0502020204030204" pitchFamily="34" charset="0"/>
              </a:rPr>
              <a:t>Se utilizaron: </a:t>
            </a:r>
            <a:endParaRPr lang="es-PE" sz="1488" dirty="0"/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C0B5DFF7-0B2B-4659-953E-68C6B6D0D7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79295" y="2478851"/>
          <a:ext cx="1152446" cy="492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480" progId="Equation.DSMT4">
                  <p:embed/>
                </p:oleObj>
              </mc:Choice>
              <mc:Fallback>
                <p:oleObj name="Equation" r:id="rId4" imgW="914400" imgH="393480" progId="Equation.DSMT4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C0B5DFF7-0B2B-4659-953E-68C6B6D0D7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9295" y="2478851"/>
                        <a:ext cx="1152446" cy="4922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46B99C9E-B945-44DC-937E-8207CDCC10B8}"/>
              </a:ext>
            </a:extLst>
          </p:cNvPr>
          <p:cNvSpPr/>
          <p:nvPr/>
        </p:nvSpPr>
        <p:spPr>
          <a:xfrm>
            <a:off x="3066588" y="1838098"/>
            <a:ext cx="830677" cy="3213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88" dirty="0">
                <a:latin typeface="Arial" panose="020B0604020202020204" pitchFamily="34" charset="0"/>
                <a:cs typeface="Arial" panose="020B0604020202020204" pitchFamily="34" charset="0"/>
              </a:rPr>
              <a:t>Porción</a:t>
            </a:r>
          </a:p>
        </p:txBody>
      </p:sp>
    </p:spTree>
    <p:extLst>
      <p:ext uri="{BB962C8B-B14F-4D97-AF65-F5344CB8AC3E}">
        <p14:creationId xmlns:p14="http://schemas.microsoft.com/office/powerpoint/2010/main" val="49491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6200000">
            <a:off x="-1597733" y="2804741"/>
            <a:ext cx="3978198" cy="563273"/>
          </a:xfr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ÍTEMS DE ARITMÉTICA</a:t>
            </a:r>
            <a:endParaRPr lang="es-PE" sz="2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1316737" y="4067251"/>
            <a:ext cx="8232804" cy="1008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88" dirty="0">
                <a:solidFill>
                  <a:srgbClr val="C00000"/>
                </a:solidFill>
              </a:rPr>
              <a:t>Las destrezas cognitivas que se usan son las siguientes:</a:t>
            </a:r>
          </a:p>
          <a:p>
            <a:r>
              <a:rPr lang="es-ES" sz="1488" dirty="0"/>
              <a:t>Deducción, inteligencia fluida, </a:t>
            </a:r>
            <a:r>
              <a:rPr lang="es-PE" sz="1488" dirty="0"/>
              <a:t>conocimiento general (de dominio específico), </a:t>
            </a:r>
            <a:r>
              <a:rPr lang="es-ES" sz="1488" dirty="0"/>
              <a:t>conocimiento cuantitativo.</a:t>
            </a:r>
            <a:endParaRPr lang="es-PE" sz="1488" dirty="0"/>
          </a:p>
          <a:p>
            <a:endParaRPr lang="es-ES" sz="1488" dirty="0">
              <a:solidFill>
                <a:srgbClr val="C00000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656D751-9645-44C3-8B3F-C93E3B9D8A38}"/>
              </a:ext>
            </a:extLst>
          </p:cNvPr>
          <p:cNvSpPr/>
          <p:nvPr/>
        </p:nvSpPr>
        <p:spPr>
          <a:xfrm>
            <a:off x="1536192" y="1097279"/>
            <a:ext cx="8013348" cy="306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1488" dirty="0">
                <a:solidFill>
                  <a:srgbClr val="C00000"/>
                </a:solidFill>
              </a:rPr>
              <a:t>ÍTEM 2. Regla de tres</a:t>
            </a:r>
            <a:endParaRPr lang="es-PE" sz="1488" dirty="0">
              <a:solidFill>
                <a:srgbClr val="C00000"/>
              </a:solidFill>
            </a:endParaRPr>
          </a:p>
          <a:p>
            <a:pPr lvl="0" algn="just"/>
            <a:r>
              <a:rPr lang="es-PE" sz="1488" dirty="0"/>
              <a:t>La clínica de la UNMSM  ha comprado para el consumo de 10 pacientes durante 45 días, 21 litros de líquido nebulizador.  Al cabo de 20 días llegan 6 pacientes más. ¿Cuántos litros más tendrá que comprar?</a:t>
            </a:r>
          </a:p>
          <a:p>
            <a:pPr lvl="0" algn="just"/>
            <a:endParaRPr lang="es-PE" sz="1488" dirty="0"/>
          </a:p>
          <a:p>
            <a:pPr lvl="0" algn="just"/>
            <a:endParaRPr lang="es-PE" sz="1488" dirty="0"/>
          </a:p>
          <a:p>
            <a:pPr lvl="0" algn="just"/>
            <a:endParaRPr lang="es-PE" sz="1488" dirty="0"/>
          </a:p>
          <a:p>
            <a:endParaRPr lang="es-PE" sz="1488" dirty="0"/>
          </a:p>
          <a:p>
            <a:endParaRPr lang="es-ES" sz="1488" dirty="0"/>
          </a:p>
          <a:p>
            <a:endParaRPr lang="es-PE" sz="1488" dirty="0"/>
          </a:p>
          <a:p>
            <a:endParaRPr lang="es-PE" sz="1488" dirty="0"/>
          </a:p>
          <a:p>
            <a:r>
              <a:rPr lang="es-PE" sz="1488" dirty="0"/>
              <a:t>A) 7		B) 9		C) 14 			D) 8</a:t>
            </a:r>
          </a:p>
          <a:p>
            <a:endParaRPr lang="es-PE" sz="1488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9A58C18-B313-4CA8-A135-AED632D57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7607" y="2089744"/>
            <a:ext cx="2568502" cy="140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74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7778863-22F0-49A0-8D71-6C6E4B1D5375}"/>
              </a:ext>
            </a:extLst>
          </p:cNvPr>
          <p:cNvSpPr/>
          <p:nvPr/>
        </p:nvSpPr>
        <p:spPr>
          <a:xfrm>
            <a:off x="2109898" y="1257247"/>
            <a:ext cx="5767054" cy="245275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88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874266-921F-4057-87D2-171E6F187344}"/>
              </a:ext>
            </a:extLst>
          </p:cNvPr>
          <p:cNvSpPr txBox="1"/>
          <p:nvPr/>
        </p:nvSpPr>
        <p:spPr>
          <a:xfrm>
            <a:off x="2302907" y="1407498"/>
            <a:ext cx="1055097" cy="321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488" b="1" dirty="0">
                <a:latin typeface="Arial" panose="020B0604020202020204" pitchFamily="34" charset="0"/>
                <a:cs typeface="Arial" panose="020B0604020202020204" pitchFamily="34" charset="0"/>
              </a:rPr>
              <a:t>Solución:</a:t>
            </a:r>
            <a:endParaRPr lang="es-PE" sz="1488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B235D94-CCA4-47AC-8882-6557E95898F9}"/>
              </a:ext>
            </a:extLst>
          </p:cNvPr>
          <p:cNvSpPr/>
          <p:nvPr/>
        </p:nvSpPr>
        <p:spPr>
          <a:xfrm>
            <a:off x="2999703" y="3029211"/>
            <a:ext cx="1661032" cy="575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1488" dirty="0"/>
              <a:t>45.10.</a:t>
            </a:r>
            <a:r>
              <a:rPr lang="es-PE" sz="1654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s-PE" sz="1488" dirty="0"/>
              <a:t> = 25.6.21</a:t>
            </a:r>
          </a:p>
          <a:p>
            <a:endParaRPr lang="es-PE" sz="1488" dirty="0"/>
          </a:p>
        </p:txBody>
      </p:sp>
      <p:graphicFrame>
        <p:nvGraphicFramePr>
          <p:cNvPr id="7" name="Objeto 6">
            <a:extLst>
              <a:ext uri="{FF2B5EF4-FFF2-40B4-BE49-F238E27FC236}">
                <a16:creationId xmlns:a16="http://schemas.microsoft.com/office/drawing/2014/main" id="{87F6D927-E632-4A2A-BAC8-9E294320D5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81291" y="2168493"/>
          <a:ext cx="2581774" cy="844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19300" imgH="660400" progId="Equation.DSMT4">
                  <p:embed/>
                </p:oleObj>
              </mc:Choice>
              <mc:Fallback>
                <p:oleObj name="Equation" r:id="rId2" imgW="2019300" imgH="660400" progId="Equation.DSMT4">
                  <p:embed/>
                  <p:pic>
                    <p:nvPicPr>
                      <p:cNvPr id="7" name="Objeto 6">
                        <a:extLst>
                          <a:ext uri="{FF2B5EF4-FFF2-40B4-BE49-F238E27FC236}">
                            <a16:creationId xmlns:a16="http://schemas.microsoft.com/office/drawing/2014/main" id="{87F6D927-E632-4A2A-BAC8-9E294320D5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1291" y="2168493"/>
                        <a:ext cx="2581774" cy="8442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C6C24884-0D31-448B-8212-8FDB4D5D3F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1119" y="3075928"/>
          <a:ext cx="677119" cy="2332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177480" progId="Equation.DSMT4">
                  <p:embed/>
                </p:oleObj>
              </mc:Choice>
              <mc:Fallback>
                <p:oleObj name="Equation" r:id="rId4" imgW="533160" imgH="177480" progId="Equation.DSMT4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C6C24884-0D31-448B-8212-8FDB4D5D3F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1119" y="3075928"/>
                        <a:ext cx="677119" cy="2332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5452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6200000">
            <a:off x="-1627632" y="2827325"/>
            <a:ext cx="3964838" cy="563270"/>
          </a:xfrm>
          <a:gradFill flip="none" rotWithShape="1">
            <a:gsLst>
              <a:gs pos="0">
                <a:srgbClr val="C00000">
                  <a:tint val="66000"/>
                  <a:satMod val="160000"/>
                </a:srgbClr>
              </a:gs>
              <a:gs pos="50000">
                <a:srgbClr val="C00000">
                  <a:tint val="44500"/>
                  <a:satMod val="160000"/>
                </a:srgbClr>
              </a:gs>
              <a:gs pos="100000">
                <a:srgbClr val="C00000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>
            <a:normAutofit fontScale="90000"/>
          </a:bodyPr>
          <a:lstStyle/>
          <a:p>
            <a:pPr algn="ctr"/>
            <a:r>
              <a:rPr lang="es-ES" sz="3638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ÍTEMS DE ARITMÉTICA</a:t>
            </a:r>
            <a:endParaRPr lang="es-PE" sz="3638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3C7CAF3-61DC-454E-A9B0-0DF451219515}"/>
              </a:ext>
            </a:extLst>
          </p:cNvPr>
          <p:cNvSpPr/>
          <p:nvPr/>
        </p:nvSpPr>
        <p:spPr>
          <a:xfrm>
            <a:off x="1397973" y="4608577"/>
            <a:ext cx="8258091" cy="550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88" dirty="0">
                <a:solidFill>
                  <a:srgbClr val="C00000"/>
                </a:solidFill>
              </a:rPr>
              <a:t>Las destrezas cognitivas que se usan son las siguientes:</a:t>
            </a:r>
          </a:p>
          <a:p>
            <a:r>
              <a:rPr lang="es-ES" sz="1488" dirty="0"/>
              <a:t>Deducción, inteligencia fluida, conocimiento cuantitativo.</a:t>
            </a:r>
            <a:endParaRPr lang="es-PE" sz="1488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86B7D50-A26B-401C-B955-67C929EE0731}"/>
              </a:ext>
            </a:extLst>
          </p:cNvPr>
          <p:cNvSpPr/>
          <p:nvPr/>
        </p:nvSpPr>
        <p:spPr>
          <a:xfrm>
            <a:off x="1397974" y="1075333"/>
            <a:ext cx="7826494" cy="3526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s-ES" sz="1488" dirty="0">
                <a:solidFill>
                  <a:srgbClr val="C00000"/>
                </a:solidFill>
              </a:rPr>
              <a:t>ÍTEM 3. Reparto proporcional</a:t>
            </a:r>
            <a:endParaRPr lang="es-PE" sz="1488" dirty="0">
              <a:solidFill>
                <a:srgbClr val="C00000"/>
              </a:solidFill>
            </a:endParaRPr>
          </a:p>
          <a:p>
            <a:pPr algn="just"/>
            <a:r>
              <a:rPr lang="es-PE" sz="1488" dirty="0"/>
              <a:t>Un barco sale del Callao hacia Guayaquil con ¾ de su capacidad, llevando en partes iguales peruanos, ecuatorianos y bolivianos.  En Guayaquil se desembarcan la mitad de los peruanos, la quinta parte de los ecuatorianos y la quinta parte de los bolivianos, y se embarcan 60, 70 y 90 peruanos, ecuatorianos y bolivianos respectivamente.  Halle la capacidad del barco si parte de Guayaquil con 4/5 de su capacidad.</a:t>
            </a:r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algn="just"/>
            <a:endParaRPr lang="es-ES" sz="1488" dirty="0"/>
          </a:p>
          <a:p>
            <a:pPr marL="378013" indent="-378013">
              <a:buAutoNum type="alphaUcParenR"/>
            </a:pPr>
            <a:r>
              <a:rPr lang="es-PE" sz="1488" dirty="0"/>
              <a:t>800 personas	   B) 650 personas        C) 640 personas           D) 900 personas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1E96F05-DB5F-47D3-B876-905FED45FF1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187" y="2507104"/>
            <a:ext cx="4409382" cy="16698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551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25A90BB3-E722-4827-AD07-05326618332A}"/>
              </a:ext>
            </a:extLst>
          </p:cNvPr>
          <p:cNvSpPr/>
          <p:nvPr/>
        </p:nvSpPr>
        <p:spPr>
          <a:xfrm>
            <a:off x="2177930" y="1272845"/>
            <a:ext cx="5575946" cy="3340859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PE" sz="1488" b="1" dirty="0">
                <a:solidFill>
                  <a:schemeClr val="tx1"/>
                </a:solidFill>
              </a:rPr>
              <a:t>Solución: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bg1"/>
                </a:solidFill>
              </a:rPr>
              <a:t>	</a:t>
            </a:r>
            <a:r>
              <a:rPr lang="es-PE" sz="1488" dirty="0">
                <a:solidFill>
                  <a:schemeClr val="tx1"/>
                </a:solidFill>
              </a:rPr>
              <a:t>Sea, capacidad del barco = 80</a:t>
            </a:r>
            <a:r>
              <a:rPr lang="es-PE" sz="1488" i="1" dirty="0">
                <a:solidFill>
                  <a:schemeClr val="tx1"/>
                </a:solidFill>
              </a:rPr>
              <a:t>N</a:t>
            </a:r>
            <a:r>
              <a:rPr lang="es-PE" sz="1488" dirty="0">
                <a:solidFill>
                  <a:schemeClr val="tx1"/>
                </a:solidFill>
              </a:rPr>
              <a:t> personas</a:t>
            </a:r>
          </a:p>
          <a:p>
            <a:r>
              <a:rPr lang="es-PE" sz="1488" dirty="0">
                <a:solidFill>
                  <a:schemeClr val="tx1"/>
                </a:solidFill>
              </a:rPr>
              <a:t> 	</a:t>
            </a:r>
            <a:r>
              <a:rPr lang="es-PE" sz="1488" u="sng" dirty="0">
                <a:solidFill>
                  <a:schemeClr val="tx1"/>
                </a:solidFill>
              </a:rPr>
              <a:t>Parten de Callao:</a:t>
            </a:r>
            <a:r>
              <a:rPr lang="es-PE" sz="1488" dirty="0">
                <a:solidFill>
                  <a:schemeClr val="tx1"/>
                </a:solidFill>
              </a:rPr>
              <a:t> ¾(80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r>
              <a:rPr lang="es-PE" sz="1488" dirty="0">
                <a:solidFill>
                  <a:schemeClr val="tx1"/>
                </a:solidFill>
              </a:rPr>
              <a:t>) = 60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tx1"/>
                </a:solidFill>
              </a:rPr>
              <a:t>	Peruanos	20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tx1"/>
                </a:solidFill>
              </a:rPr>
              <a:t>	Ecuatorianos	20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tx1"/>
                </a:solidFill>
              </a:rPr>
              <a:t>	Bolivianos	20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tx1"/>
                </a:solidFill>
              </a:rPr>
              <a:t> </a:t>
            </a:r>
            <a:endParaRPr lang="es-PE" sz="331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tx1"/>
                </a:solidFill>
              </a:rPr>
              <a:t>	</a:t>
            </a:r>
            <a:r>
              <a:rPr lang="es-PE" sz="1488" u="sng" dirty="0">
                <a:solidFill>
                  <a:schemeClr val="tx1"/>
                </a:solidFill>
              </a:rPr>
              <a:t>Parten de Guayaquil:</a:t>
            </a:r>
            <a:r>
              <a:rPr lang="es-PE" sz="1488" dirty="0">
                <a:solidFill>
                  <a:schemeClr val="tx1"/>
                </a:solidFill>
              </a:rPr>
              <a:t> 4/5(80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r>
              <a:rPr lang="es-PE" sz="1488" dirty="0">
                <a:solidFill>
                  <a:schemeClr val="tx1"/>
                </a:solidFill>
              </a:rPr>
              <a:t>) = 64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PE" sz="1488" dirty="0">
                <a:solidFill>
                  <a:schemeClr val="tx1"/>
                </a:solidFill>
              </a:rPr>
              <a:t>	Peruanos	20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r>
              <a:rPr lang="es-PE" sz="1488" dirty="0">
                <a:solidFill>
                  <a:schemeClr val="tx1"/>
                </a:solidFill>
              </a:rPr>
              <a:t> – 10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r>
              <a:rPr lang="es-PE" sz="1488" dirty="0">
                <a:solidFill>
                  <a:schemeClr val="tx1"/>
                </a:solidFill>
              </a:rPr>
              <a:t> + 60</a:t>
            </a:r>
          </a:p>
          <a:p>
            <a:r>
              <a:rPr lang="es-PE" sz="1488" dirty="0">
                <a:solidFill>
                  <a:schemeClr val="tx1"/>
                </a:solidFill>
              </a:rPr>
              <a:t>	Ecuatorianos	20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r>
              <a:rPr lang="es-PE" sz="1488" dirty="0">
                <a:solidFill>
                  <a:schemeClr val="tx1"/>
                </a:solidFill>
              </a:rPr>
              <a:t> – 4</a:t>
            </a:r>
            <a:r>
              <a:rPr lang="es-PE" sz="1488" i="1" dirty="0">
                <a:solidFill>
                  <a:schemeClr val="tx1"/>
                </a:solidFill>
              </a:rPr>
              <a:t> N</a:t>
            </a:r>
            <a:r>
              <a:rPr lang="es-PE" sz="1488" dirty="0">
                <a:solidFill>
                  <a:schemeClr val="tx1"/>
                </a:solidFill>
              </a:rPr>
              <a:t> + 70</a:t>
            </a:r>
          </a:p>
          <a:p>
            <a:r>
              <a:rPr lang="es-PE" sz="1488" dirty="0">
                <a:solidFill>
                  <a:schemeClr val="tx1"/>
                </a:solidFill>
              </a:rPr>
              <a:t>	Bolivianos	</a:t>
            </a:r>
            <a:r>
              <a:rPr lang="es-PE" sz="1488" u="sng" dirty="0">
                <a:solidFill>
                  <a:schemeClr val="tx1"/>
                </a:solidFill>
              </a:rPr>
              <a:t>20</a:t>
            </a:r>
            <a:r>
              <a:rPr lang="es-PE" sz="1488" i="1" u="sng" dirty="0">
                <a:solidFill>
                  <a:schemeClr val="tx1"/>
                </a:solidFill>
              </a:rPr>
              <a:t> N</a:t>
            </a:r>
            <a:r>
              <a:rPr lang="es-PE" sz="1488" u="sng" dirty="0">
                <a:solidFill>
                  <a:schemeClr val="tx1"/>
                </a:solidFill>
              </a:rPr>
              <a:t> – 4</a:t>
            </a:r>
            <a:r>
              <a:rPr lang="es-PE" sz="1488" i="1" u="sng" dirty="0">
                <a:solidFill>
                  <a:schemeClr val="tx1"/>
                </a:solidFill>
              </a:rPr>
              <a:t> N</a:t>
            </a:r>
            <a:r>
              <a:rPr lang="es-PE" sz="1488" u="sng" dirty="0">
                <a:solidFill>
                  <a:schemeClr val="tx1"/>
                </a:solidFill>
              </a:rPr>
              <a:t> + 90</a:t>
            </a:r>
          </a:p>
          <a:p>
            <a:r>
              <a:rPr lang="es-PE" sz="1488" dirty="0">
                <a:solidFill>
                  <a:schemeClr val="tx1"/>
                </a:solidFill>
              </a:rPr>
              <a:t>	Suma 		42</a:t>
            </a:r>
            <a:r>
              <a:rPr lang="es-PE" sz="1488" i="1" dirty="0">
                <a:solidFill>
                  <a:schemeClr val="tx1"/>
                </a:solidFill>
              </a:rPr>
              <a:t>N</a:t>
            </a:r>
            <a:r>
              <a:rPr lang="es-PE" sz="1488" dirty="0">
                <a:solidFill>
                  <a:schemeClr val="tx1"/>
                </a:solidFill>
              </a:rPr>
              <a:t> + 220 = 64</a:t>
            </a:r>
            <a:r>
              <a:rPr lang="es-PE" sz="1488" i="1" dirty="0">
                <a:solidFill>
                  <a:schemeClr val="tx1"/>
                </a:solidFill>
              </a:rPr>
              <a:t>N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ES" sz="1488" dirty="0">
                <a:solidFill>
                  <a:schemeClr val="tx1"/>
                </a:solidFill>
              </a:rPr>
              <a:t>				</a:t>
            </a:r>
            <a:r>
              <a:rPr lang="es-ES" sz="1488" i="1" dirty="0">
                <a:solidFill>
                  <a:schemeClr val="tx1"/>
                </a:solidFill>
              </a:rPr>
              <a:t>N</a:t>
            </a:r>
            <a:r>
              <a:rPr lang="es-ES" sz="1488" dirty="0">
                <a:solidFill>
                  <a:schemeClr val="tx1"/>
                </a:solidFill>
              </a:rPr>
              <a:t> = 10</a:t>
            </a:r>
            <a:endParaRPr lang="es-PE" sz="1488" dirty="0">
              <a:solidFill>
                <a:schemeClr val="tx1"/>
              </a:solidFill>
            </a:endParaRPr>
          </a:p>
          <a:p>
            <a:r>
              <a:rPr lang="es-ES" sz="1488" dirty="0">
                <a:solidFill>
                  <a:schemeClr val="tx1"/>
                </a:solidFill>
              </a:rPr>
              <a:t>	Capacidad del barco = 80</a:t>
            </a:r>
            <a:r>
              <a:rPr lang="es-ES" sz="1488" i="1" dirty="0">
                <a:solidFill>
                  <a:schemeClr val="tx1"/>
                </a:solidFill>
              </a:rPr>
              <a:t> N</a:t>
            </a:r>
            <a:r>
              <a:rPr lang="es-ES" sz="1488" dirty="0">
                <a:solidFill>
                  <a:schemeClr val="tx1"/>
                </a:solidFill>
              </a:rPr>
              <a:t> = 800 personas</a:t>
            </a:r>
            <a:endParaRPr lang="es-PE" sz="1488" dirty="0">
              <a:solidFill>
                <a:schemeClr val="tx1"/>
              </a:solidFill>
            </a:endParaRPr>
          </a:p>
          <a:p>
            <a:endParaRPr lang="es-PE" sz="1488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2122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4294967295"/>
          </p:nvPr>
        </p:nvSpPr>
        <p:spPr>
          <a:xfrm>
            <a:off x="1207008" y="1141169"/>
            <a:ext cx="8174844" cy="3474722"/>
          </a:xfrm>
          <a:ln w="38100">
            <a:solidFill>
              <a:schemeClr val="accent5">
                <a:lumMod val="75000"/>
              </a:schemeClr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>
                <a:solidFill>
                  <a:srgbClr val="C00000"/>
                </a:solidFill>
                <a:effectLst/>
              </a:rPr>
              <a:t>ÍTEM 1. Resolución de triángulos oblicuángulos y acutángulos </a:t>
            </a:r>
            <a:endParaRPr lang="es-PE" dirty="0">
              <a:solidFill>
                <a:srgbClr val="C00000"/>
              </a:solidFill>
              <a:effectLst/>
            </a:endParaRPr>
          </a:p>
          <a:p>
            <a:pPr marL="0" indent="0" algn="just">
              <a:buNone/>
            </a:pPr>
            <a:r>
              <a:rPr lang="es-PE" dirty="0">
                <a:effectLst/>
              </a:rPr>
              <a:t>Juan debe nadar en una piscina olímpica rectangular tal como se representa en la figura.  El recorrido que debe hacer es, partiendo de P, tocar la canaleta en Q y terminar en el punto M.  Se sabe que la distancia del punto P al punto Q es de 6 m, la distancia de Q a M es de 8 m y la distancia al cuadrado de P a M es 52 m</a:t>
            </a:r>
            <a:r>
              <a:rPr lang="es-PE" baseline="30000" dirty="0">
                <a:effectLst/>
              </a:rPr>
              <a:t>2</a:t>
            </a:r>
            <a:r>
              <a:rPr lang="es-PE" dirty="0">
                <a:effectLst/>
              </a:rPr>
              <a:t>.  El supervisor del recorrido que hace Juan desea saber, cuál es la abertura dada por la medida del ángulo PQM.</a:t>
            </a:r>
          </a:p>
          <a:p>
            <a:pPr marL="0" indent="0" algn="just">
              <a:buNone/>
            </a:pPr>
            <a:r>
              <a:rPr lang="es-PE" dirty="0">
                <a:effectLst/>
              </a:rPr>
              <a:t>A) 60°	</a:t>
            </a:r>
          </a:p>
          <a:p>
            <a:pPr marL="0" indent="0" algn="just">
              <a:buNone/>
            </a:pPr>
            <a:r>
              <a:rPr lang="es-PE" dirty="0">
                <a:effectLst/>
              </a:rPr>
              <a:t>B) 30°	</a:t>
            </a:r>
          </a:p>
          <a:p>
            <a:pPr marL="0" indent="0" algn="just">
              <a:buNone/>
            </a:pPr>
            <a:r>
              <a:rPr lang="es-PE" dirty="0">
                <a:effectLst/>
              </a:rPr>
              <a:t>C) 45° 	</a:t>
            </a:r>
          </a:p>
          <a:p>
            <a:pPr marL="0" indent="0" algn="just">
              <a:buNone/>
            </a:pPr>
            <a:r>
              <a:rPr lang="es-PE" dirty="0">
                <a:effectLst/>
              </a:rPr>
              <a:t>D) 53°</a:t>
            </a:r>
          </a:p>
          <a:p>
            <a:pPr marL="0" indent="0" algn="just">
              <a:buNone/>
            </a:pPr>
            <a:endParaRPr lang="es-PE" dirty="0">
              <a:effectLst/>
            </a:endParaRPr>
          </a:p>
          <a:p>
            <a:pPr marL="0" indent="0">
              <a:buNone/>
            </a:pPr>
            <a:endParaRPr lang="es-PE" dirty="0"/>
          </a:p>
        </p:txBody>
      </p:sp>
      <p:sp>
        <p:nvSpPr>
          <p:cNvPr id="6" name="CuadroTexto 5"/>
          <p:cNvSpPr txBox="1"/>
          <p:nvPr/>
        </p:nvSpPr>
        <p:spPr>
          <a:xfrm>
            <a:off x="936346" y="4550054"/>
            <a:ext cx="8880651" cy="779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88" dirty="0">
                <a:solidFill>
                  <a:srgbClr val="C00000"/>
                </a:solidFill>
              </a:rPr>
              <a:t>Las destrezas cognitivas que se usan son las siguientes:</a:t>
            </a:r>
          </a:p>
          <a:p>
            <a:r>
              <a:rPr lang="es-ES" sz="1488" dirty="0"/>
              <a:t>Deducción, inteligencia fluida, </a:t>
            </a:r>
            <a:r>
              <a:rPr lang="es-PE" sz="1488" dirty="0"/>
              <a:t>inteligencia cristalizada, conocimiento general, </a:t>
            </a:r>
            <a:r>
              <a:rPr lang="es-ES" sz="1488" dirty="0"/>
              <a:t>conocimiento cuantitativo.</a:t>
            </a:r>
            <a:endParaRPr lang="es-PE" sz="1488" dirty="0"/>
          </a:p>
          <a:p>
            <a:endParaRPr lang="es-PE" sz="1488" dirty="0">
              <a:solidFill>
                <a:srgbClr val="C00000"/>
              </a:solidFill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323" y="2878530"/>
            <a:ext cx="3337548" cy="1498491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7CD3757C-06A7-463A-AE97-58743182F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610254" y="2822754"/>
            <a:ext cx="3964840" cy="601671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2">
                    <a:lumMod val="2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ÍTEMS DE TRIGONOMETRÍA</a:t>
            </a:r>
            <a:endParaRPr lang="es-PE" sz="2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bg2">
                  <a:lumMod val="2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359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00" y="1038758"/>
            <a:ext cx="5008354" cy="4047581"/>
          </a:xfrm>
          <a:prstGeom prst="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09878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0;p24"/>
          <p:cNvSpPr txBox="1">
            <a:spLocks noGrp="1"/>
          </p:cNvSpPr>
          <p:nvPr>
            <p:ph type="title"/>
          </p:nvPr>
        </p:nvSpPr>
        <p:spPr>
          <a:xfrm>
            <a:off x="799781" y="283617"/>
            <a:ext cx="7817525" cy="703935"/>
          </a:xfrm>
          <a:prstGeom prst="rect">
            <a:avLst/>
          </a:prstGeom>
        </p:spPr>
        <p:txBody>
          <a:bodyPr spcFirstLastPara="1" wrap="square" lIns="75592" tIns="75592" rIns="75592" bIns="75592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dirty="0">
                <a:solidFill>
                  <a:schemeClr val="bg1"/>
                </a:solidFill>
              </a:rPr>
              <a:t>Referencias bibliográficas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501167" y="1388564"/>
            <a:ext cx="9284485" cy="2840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3510" indent="-283510">
              <a:buFont typeface="+mj-lt"/>
              <a:buAutoNum type="arabicPeriod"/>
            </a:pPr>
            <a:r>
              <a:rPr lang="es-PE" sz="1488" dirty="0"/>
              <a:t>Carroll, J. B. (1993). Human </a:t>
            </a:r>
            <a:r>
              <a:rPr lang="es-PE" sz="1488" dirty="0" err="1"/>
              <a:t>cognitive</a:t>
            </a:r>
            <a:r>
              <a:rPr lang="es-PE" sz="1488" dirty="0"/>
              <a:t> </a:t>
            </a:r>
            <a:r>
              <a:rPr lang="es-PE" sz="1488" dirty="0" err="1"/>
              <a:t>abilities</a:t>
            </a:r>
            <a:r>
              <a:rPr lang="es-PE" sz="1488" dirty="0"/>
              <a:t>: A </a:t>
            </a:r>
            <a:r>
              <a:rPr lang="es-PE" sz="1488" dirty="0" err="1"/>
              <a:t>survey</a:t>
            </a:r>
            <a:r>
              <a:rPr lang="es-PE" sz="1488" dirty="0"/>
              <a:t> of factor-</a:t>
            </a:r>
            <a:r>
              <a:rPr lang="es-PE" sz="1488" dirty="0" err="1"/>
              <a:t>analytic</a:t>
            </a:r>
            <a:r>
              <a:rPr lang="es-PE" sz="1488" dirty="0"/>
              <a:t> </a:t>
            </a:r>
            <a:r>
              <a:rPr lang="es-PE" sz="1488" dirty="0" err="1"/>
              <a:t>studies</a:t>
            </a:r>
            <a:r>
              <a:rPr lang="es-PE" sz="1488" dirty="0"/>
              <a:t>. Nueva York: Cambridge </a:t>
            </a:r>
            <a:r>
              <a:rPr lang="es-PE" sz="1488" dirty="0" err="1"/>
              <a:t>University</a:t>
            </a:r>
            <a:r>
              <a:rPr lang="es-PE" sz="1488" dirty="0"/>
              <a:t> </a:t>
            </a:r>
            <a:r>
              <a:rPr lang="es-PE" sz="1488" dirty="0" err="1"/>
              <a:t>Press</a:t>
            </a:r>
            <a:r>
              <a:rPr lang="es-PE" sz="1488" dirty="0"/>
              <a:t>.</a:t>
            </a:r>
          </a:p>
          <a:p>
            <a:pPr marL="283510" indent="-283510">
              <a:buFont typeface="+mj-lt"/>
              <a:buAutoNum type="arabicPeriod"/>
            </a:pPr>
            <a:endParaRPr lang="es-PE" sz="1488" dirty="0"/>
          </a:p>
          <a:p>
            <a:pPr marL="283510" indent="-283510">
              <a:buFont typeface="+mj-lt"/>
              <a:buAutoNum type="arabicPeriod"/>
            </a:pPr>
            <a:r>
              <a:rPr lang="es-PE" sz="1488" dirty="0" err="1"/>
              <a:t>Horn</a:t>
            </a:r>
            <a:r>
              <a:rPr lang="es-PE" sz="1488" dirty="0"/>
              <a:t>, J. &amp; </a:t>
            </a:r>
            <a:r>
              <a:rPr lang="es-PE" sz="1488" dirty="0" err="1"/>
              <a:t>Cattell</a:t>
            </a:r>
            <a:r>
              <a:rPr lang="es-PE" sz="1488" dirty="0"/>
              <a:t>, R. (1966). </a:t>
            </a:r>
            <a:r>
              <a:rPr lang="es-PE" sz="1488" dirty="0" err="1"/>
              <a:t>Refinement</a:t>
            </a:r>
            <a:r>
              <a:rPr lang="es-PE" sz="1488" dirty="0"/>
              <a:t> and test of </a:t>
            </a:r>
            <a:r>
              <a:rPr lang="es-PE" sz="1488" dirty="0" err="1"/>
              <a:t>the</a:t>
            </a:r>
            <a:r>
              <a:rPr lang="es-PE" sz="1488" dirty="0"/>
              <a:t> </a:t>
            </a:r>
            <a:r>
              <a:rPr lang="es-PE" sz="1488" dirty="0" err="1"/>
              <a:t>theory</a:t>
            </a:r>
            <a:r>
              <a:rPr lang="es-PE" sz="1488" dirty="0"/>
              <a:t> of fluid and </a:t>
            </a:r>
            <a:r>
              <a:rPr lang="es-PE" sz="1488" dirty="0" err="1"/>
              <a:t>crystallized</a:t>
            </a:r>
            <a:r>
              <a:rPr lang="es-PE" sz="1488" dirty="0"/>
              <a:t> general </a:t>
            </a:r>
            <a:r>
              <a:rPr lang="es-PE" sz="1488" dirty="0" err="1"/>
              <a:t>intelligences</a:t>
            </a:r>
            <a:r>
              <a:rPr lang="es-PE" sz="1488" dirty="0"/>
              <a:t>. </a:t>
            </a:r>
            <a:r>
              <a:rPr lang="es-PE" sz="1488" dirty="0" err="1"/>
              <a:t>Journal</a:t>
            </a:r>
            <a:r>
              <a:rPr lang="es-PE" sz="1488" dirty="0"/>
              <a:t> of </a:t>
            </a:r>
            <a:r>
              <a:rPr lang="es-PE" sz="1488" dirty="0" err="1"/>
              <a:t>Educational</a:t>
            </a:r>
            <a:r>
              <a:rPr lang="es-PE" sz="1488" dirty="0"/>
              <a:t> </a:t>
            </a:r>
            <a:r>
              <a:rPr lang="es-PE" sz="1488" dirty="0" err="1"/>
              <a:t>Psychology</a:t>
            </a:r>
            <a:r>
              <a:rPr lang="es-PE" sz="1488" dirty="0"/>
              <a:t>, 57: 253-70.</a:t>
            </a:r>
          </a:p>
          <a:p>
            <a:pPr marL="283510" indent="-283510">
              <a:buFont typeface="+mj-lt"/>
              <a:buAutoNum type="arabicPeriod"/>
            </a:pPr>
            <a:endParaRPr lang="es-PE" sz="1488" dirty="0"/>
          </a:p>
          <a:p>
            <a:pPr marL="283510" indent="-283510">
              <a:buFont typeface="+mj-lt"/>
              <a:buAutoNum type="arabicPeriod"/>
            </a:pPr>
            <a:r>
              <a:rPr lang="es-PE" sz="1488" dirty="0" err="1"/>
              <a:t>McGrew</a:t>
            </a:r>
            <a:r>
              <a:rPr lang="es-PE" sz="1488" dirty="0"/>
              <a:t>, K. (2012). </a:t>
            </a:r>
            <a:r>
              <a:rPr lang="es-PE" sz="1488" dirty="0" err="1"/>
              <a:t>Cognitive</a:t>
            </a:r>
            <a:r>
              <a:rPr lang="es-PE" sz="1488" dirty="0"/>
              <a:t> </a:t>
            </a:r>
            <a:r>
              <a:rPr lang="es-PE" sz="1488" dirty="0" err="1"/>
              <a:t>abilities</a:t>
            </a:r>
            <a:r>
              <a:rPr lang="es-PE" sz="1488" dirty="0"/>
              <a:t>. En D. P. </a:t>
            </a:r>
            <a:r>
              <a:rPr lang="es-PE" sz="1488" dirty="0" err="1"/>
              <a:t>Flanagan</a:t>
            </a:r>
            <a:r>
              <a:rPr lang="es-PE" sz="1488" dirty="0"/>
              <a:t> &amp; P. L. Harrison (Eds.), “</a:t>
            </a:r>
            <a:r>
              <a:rPr lang="es-PE" sz="1488" dirty="0" err="1"/>
              <a:t>Contemporary</a:t>
            </a:r>
            <a:r>
              <a:rPr lang="es-PE" sz="1488" dirty="0"/>
              <a:t> </a:t>
            </a:r>
            <a:r>
              <a:rPr lang="es-PE" sz="1488" dirty="0" err="1"/>
              <a:t>intellectual</a:t>
            </a:r>
            <a:r>
              <a:rPr lang="es-PE" sz="1488" dirty="0"/>
              <a:t> </a:t>
            </a:r>
            <a:r>
              <a:rPr lang="es-PE" sz="1488" dirty="0" err="1"/>
              <a:t>assessment</a:t>
            </a:r>
            <a:r>
              <a:rPr lang="es-PE" sz="1488" dirty="0"/>
              <a:t>: </a:t>
            </a:r>
            <a:r>
              <a:rPr lang="es-PE" sz="1488" dirty="0" err="1"/>
              <a:t>Theories</a:t>
            </a:r>
            <a:r>
              <a:rPr lang="es-PE" sz="1488" dirty="0"/>
              <a:t>, </a:t>
            </a:r>
            <a:r>
              <a:rPr lang="es-PE" sz="1488" dirty="0" err="1"/>
              <a:t>tests</a:t>
            </a:r>
            <a:r>
              <a:rPr lang="es-PE" sz="1488" dirty="0"/>
              <a:t>, and </a:t>
            </a:r>
            <a:r>
              <a:rPr lang="es-PE" sz="1488" dirty="0" err="1"/>
              <a:t>issues</a:t>
            </a:r>
            <a:r>
              <a:rPr lang="es-PE" sz="1488" dirty="0"/>
              <a:t>”. Nueva York: </a:t>
            </a:r>
            <a:r>
              <a:rPr lang="es-PE" sz="1488" dirty="0" err="1"/>
              <a:t>Guilford</a:t>
            </a:r>
            <a:r>
              <a:rPr lang="es-PE" sz="1488" dirty="0"/>
              <a:t> </a:t>
            </a:r>
            <a:r>
              <a:rPr lang="es-PE" sz="1488" dirty="0" err="1"/>
              <a:t>Press</a:t>
            </a:r>
            <a:r>
              <a:rPr lang="es-PE" sz="1488" dirty="0"/>
              <a:t>.</a:t>
            </a:r>
          </a:p>
          <a:p>
            <a:pPr marL="283510" indent="-283510">
              <a:buFont typeface="+mj-lt"/>
              <a:buAutoNum type="arabicPeriod"/>
            </a:pPr>
            <a:endParaRPr lang="es-PE" sz="1488" dirty="0"/>
          </a:p>
          <a:p>
            <a:pPr marL="283510" indent="-283510">
              <a:buFont typeface="+mj-lt"/>
              <a:buAutoNum type="arabicPeriod"/>
            </a:pPr>
            <a:r>
              <a:rPr lang="es-ES" sz="1488" dirty="0"/>
              <a:t>Libros de matemáticas de la Pre San Marcos.</a:t>
            </a:r>
          </a:p>
          <a:p>
            <a:pPr marL="283510" indent="-283510">
              <a:buFont typeface="+mj-lt"/>
              <a:buAutoNum type="arabicPeriod"/>
            </a:pPr>
            <a:endParaRPr lang="es-ES" sz="1488" dirty="0"/>
          </a:p>
          <a:p>
            <a:pPr marL="283510" indent="-283510">
              <a:buFont typeface="+mj-lt"/>
              <a:buAutoNum type="arabicPeriod"/>
            </a:pPr>
            <a:r>
              <a:rPr lang="es-ES" sz="1488" dirty="0"/>
              <a:t>Exámenes de admisión de la UNMSM.</a:t>
            </a:r>
            <a:endParaRPr lang="es-PE" sz="1488" dirty="0"/>
          </a:p>
        </p:txBody>
      </p:sp>
      <p:pic>
        <p:nvPicPr>
          <p:cNvPr id="6" name="Picture 10" descr="C:\Users\mmv\Pictures\Libro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66192" y="3781659"/>
            <a:ext cx="4019460" cy="108147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9852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360000" y="270000"/>
            <a:ext cx="9360000" cy="7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endParaRPr lang="es-PE" sz="2400" b="1" strike="noStrike" spc="-1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213696" y="1350000"/>
            <a:ext cx="9180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 fontScale="94000"/>
          </a:bodyPr>
          <a:lstStyle/>
          <a:p>
            <a:pPr algn="just">
              <a:lnSpc>
                <a:spcPct val="100000"/>
              </a:lnSpc>
            </a:pPr>
            <a:endParaRPr lang="es-PE" sz="4800" b="1" strike="noStrike" spc="-1" dirty="0">
              <a:solidFill>
                <a:srgbClr val="C00000"/>
              </a:solidFill>
              <a:latin typeface="Source Sans Pro Semibold"/>
            </a:endParaRPr>
          </a:p>
          <a:p>
            <a:pPr algn="just">
              <a:lnSpc>
                <a:spcPct val="100000"/>
              </a:lnSpc>
            </a:pPr>
            <a:endParaRPr lang="es-PE" sz="4800" b="1" spc="-1" dirty="0">
              <a:solidFill>
                <a:srgbClr val="C00000"/>
              </a:solidFill>
              <a:latin typeface="Source Sans Pro Semibold"/>
            </a:endParaRPr>
          </a:p>
          <a:p>
            <a:pPr algn="just">
              <a:lnSpc>
                <a:spcPct val="100000"/>
              </a:lnSpc>
            </a:pPr>
            <a:r>
              <a:rPr lang="es-PE" sz="4800" b="1" strike="noStrike" spc="-1" dirty="0">
                <a:solidFill>
                  <a:srgbClr val="C00000"/>
                </a:solidFill>
                <a:latin typeface="Source Sans Pro Semibold"/>
              </a:rPr>
              <a:t>¡Muchas 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745</TotalTime>
  <Words>1430</Words>
  <Application>Microsoft Office PowerPoint</Application>
  <PresentationFormat>Personalizado</PresentationFormat>
  <Paragraphs>186</Paragraphs>
  <Slides>34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45" baseType="lpstr">
      <vt:lpstr>Arial</vt:lpstr>
      <vt:lpstr>Calibri</vt:lpstr>
      <vt:lpstr>Calibri Light</vt:lpstr>
      <vt:lpstr>Source Sans Pro Black</vt:lpstr>
      <vt:lpstr>Source Sans Pro Light</vt:lpstr>
      <vt:lpstr>Source Sans Pro Semibold</vt:lpstr>
      <vt:lpstr>Times New Roman</vt:lpstr>
      <vt:lpstr>Wingdings</vt:lpstr>
      <vt:lpstr>Office Theme</vt:lpstr>
      <vt:lpstr>Office Theme</vt:lpstr>
      <vt:lpstr>Equation</vt:lpstr>
      <vt:lpstr>Presentación de PowerPoint</vt:lpstr>
      <vt:lpstr>Presentación de PowerPoint</vt:lpstr>
      <vt:lpstr>Acerca del contenido y de la habilidad que se mide con el ítem</vt:lpstr>
      <vt:lpstr> Acerca de la formulación del enunciado</vt:lpstr>
      <vt:lpstr> Consideraciones acerca de las claves </vt:lpstr>
      <vt:lpstr> Sobre las alternativas</vt:lpstr>
      <vt:lpstr> Acerca de la solución del ítem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ÍTEMS DE ARITMÉTICA</vt:lpstr>
      <vt:lpstr>Presentación de PowerPoint</vt:lpstr>
      <vt:lpstr>ÍTEMS DE ARITMÉTICA</vt:lpstr>
      <vt:lpstr>Presentación de PowerPoint</vt:lpstr>
      <vt:lpstr>ÍTEMS DE ARITMÉTICA</vt:lpstr>
      <vt:lpstr>Presentación de PowerPoint</vt:lpstr>
      <vt:lpstr>ÍTEMS DE TRIGONOMETRÍA</vt:lpstr>
      <vt:lpstr>Presentación de PowerPoint</vt:lpstr>
      <vt:lpstr>Referencias bibliográficas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Alizarin</dc:title>
  <dc:subject/>
  <dc:creator>RENATO</dc:creator>
  <dc:description/>
  <cp:lastModifiedBy>Renato</cp:lastModifiedBy>
  <cp:revision>35</cp:revision>
  <dcterms:created xsi:type="dcterms:W3CDTF">2021-11-10T09:02:18Z</dcterms:created>
  <dcterms:modified xsi:type="dcterms:W3CDTF">2026-02-20T15:48:13Z</dcterms:modified>
  <dc:language>es-PE</dc:language>
</cp:coreProperties>
</file>