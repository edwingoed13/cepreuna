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89" r:id="rId3"/>
  </p:sldMasterIdLst>
  <p:notesMasterIdLst>
    <p:notesMasterId r:id="rId70"/>
  </p:notesMasterIdLst>
  <p:sldIdLst>
    <p:sldId id="256" r:id="rId4"/>
    <p:sldId id="338" r:id="rId5"/>
    <p:sldId id="261" r:id="rId6"/>
    <p:sldId id="262" r:id="rId7"/>
    <p:sldId id="312" r:id="rId8"/>
    <p:sldId id="340" r:id="rId9"/>
    <p:sldId id="295" r:id="rId10"/>
    <p:sldId id="370" r:id="rId11"/>
    <p:sldId id="276" r:id="rId12"/>
    <p:sldId id="342" r:id="rId13"/>
    <p:sldId id="368" r:id="rId14"/>
    <p:sldId id="264" r:id="rId15"/>
    <p:sldId id="369" r:id="rId16"/>
    <p:sldId id="341" r:id="rId17"/>
    <p:sldId id="291" r:id="rId18"/>
    <p:sldId id="301" r:id="rId19"/>
    <p:sldId id="364" r:id="rId20"/>
    <p:sldId id="365" r:id="rId21"/>
    <p:sldId id="347" r:id="rId22"/>
    <p:sldId id="304" r:id="rId23"/>
    <p:sldId id="349" r:id="rId24"/>
    <p:sldId id="350" r:id="rId25"/>
    <p:sldId id="351" r:id="rId26"/>
    <p:sldId id="353" r:id="rId27"/>
    <p:sldId id="354" r:id="rId28"/>
    <p:sldId id="355" r:id="rId29"/>
    <p:sldId id="356" r:id="rId30"/>
    <p:sldId id="357" r:id="rId31"/>
    <p:sldId id="330" r:id="rId32"/>
    <p:sldId id="358" r:id="rId33"/>
    <p:sldId id="316" r:id="rId34"/>
    <p:sldId id="317" r:id="rId35"/>
    <p:sldId id="318" r:id="rId36"/>
    <p:sldId id="319" r:id="rId37"/>
    <p:sldId id="320" r:id="rId38"/>
    <p:sldId id="321" r:id="rId39"/>
    <p:sldId id="373" r:id="rId40"/>
    <p:sldId id="374" r:id="rId41"/>
    <p:sldId id="375" r:id="rId42"/>
    <p:sldId id="376" r:id="rId43"/>
    <p:sldId id="377" r:id="rId44"/>
    <p:sldId id="378" r:id="rId45"/>
    <p:sldId id="389" r:id="rId46"/>
    <p:sldId id="324" r:id="rId47"/>
    <p:sldId id="332" r:id="rId48"/>
    <p:sldId id="333" r:id="rId49"/>
    <p:sldId id="331" r:id="rId50"/>
    <p:sldId id="334" r:id="rId51"/>
    <p:sldId id="325" r:id="rId52"/>
    <p:sldId id="335" r:id="rId53"/>
    <p:sldId id="326" r:id="rId54"/>
    <p:sldId id="336" r:id="rId55"/>
    <p:sldId id="327" r:id="rId56"/>
    <p:sldId id="371" r:id="rId57"/>
    <p:sldId id="372" r:id="rId58"/>
    <p:sldId id="379" r:id="rId59"/>
    <p:sldId id="381" r:id="rId60"/>
    <p:sldId id="382" r:id="rId61"/>
    <p:sldId id="380" r:id="rId62"/>
    <p:sldId id="383" r:id="rId63"/>
    <p:sldId id="388" r:id="rId64"/>
    <p:sldId id="386" r:id="rId65"/>
    <p:sldId id="274" r:id="rId66"/>
    <p:sldId id="385" r:id="rId67"/>
    <p:sldId id="387" r:id="rId68"/>
    <p:sldId id="390" r:id="rId69"/>
  </p:sldIdLst>
  <p:sldSz cx="10080625" cy="5670550"/>
  <p:notesSz cx="7559675" cy="10691813"/>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6" d="100"/>
          <a:sy n="126" d="100"/>
        </p:scale>
        <p:origin x="82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20CED5-C8F7-40F2-8726-6D4C1D8C06F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s-PE"/>
        </a:p>
      </dgm:t>
    </dgm:pt>
    <dgm:pt modelId="{4015354F-0E29-4F07-816F-3ABE0E168C10}">
      <dgm:prSet/>
      <dgm:spPr/>
      <dgm:t>
        <a:bodyPr/>
        <a:lstStyle/>
        <a:p>
          <a:pPr>
            <a:lnSpc>
              <a:spcPct val="100000"/>
            </a:lnSpc>
          </a:pPr>
          <a:r>
            <a:rPr lang="es-ES" b="0" i="0" dirty="0">
              <a:latin typeface="Book Antiqua" panose="02040602050305030304" pitchFamily="18" charset="0"/>
            </a:rPr>
            <a:t>Supone comprender la situación que se debe afrontar y evaluar las posibilidades que se tiene para resolverla:</a:t>
          </a:r>
          <a:endParaRPr lang="es-PE" dirty="0">
            <a:latin typeface="Book Antiqua" panose="02040602050305030304" pitchFamily="18" charset="0"/>
          </a:endParaRPr>
        </a:p>
      </dgm:t>
    </dgm:pt>
    <dgm:pt modelId="{1737C08E-5E20-4C90-86D2-217270C0AC83}" type="parTrans" cxnId="{25F78D57-3472-4C9A-A174-2B8F5443CDA0}">
      <dgm:prSet/>
      <dgm:spPr/>
      <dgm:t>
        <a:bodyPr/>
        <a:lstStyle/>
        <a:p>
          <a:endParaRPr lang="es-PE"/>
        </a:p>
      </dgm:t>
    </dgm:pt>
    <dgm:pt modelId="{2B39495A-A57D-4AC1-86BA-DC3CCA24C429}" type="sibTrans" cxnId="{25F78D57-3472-4C9A-A174-2B8F5443CDA0}">
      <dgm:prSet/>
      <dgm:spPr/>
      <dgm:t>
        <a:bodyPr/>
        <a:lstStyle/>
        <a:p>
          <a:endParaRPr lang="es-PE"/>
        </a:p>
      </dgm:t>
    </dgm:pt>
    <dgm:pt modelId="{1708528B-F1E0-4B44-BAA1-2E0EE3FC7846}">
      <dgm:prSet/>
      <dgm:spPr/>
      <dgm:t>
        <a:bodyPr/>
        <a:lstStyle/>
        <a:p>
          <a:pPr>
            <a:lnSpc>
              <a:spcPct val="100000"/>
            </a:lnSpc>
          </a:pPr>
          <a:r>
            <a:rPr lang="es-ES" b="0" i="0" dirty="0">
              <a:latin typeface="Book Antiqua" panose="02040602050305030304" pitchFamily="18" charset="0"/>
            </a:rPr>
            <a:t>a) identificar los conocimientos y habilidades que uno posee o que están disponibles en el entorno </a:t>
          </a:r>
          <a:endParaRPr lang="es-PE" dirty="0">
            <a:latin typeface="Book Antiqua" panose="02040602050305030304" pitchFamily="18" charset="0"/>
          </a:endParaRPr>
        </a:p>
      </dgm:t>
    </dgm:pt>
    <dgm:pt modelId="{485EBA00-A0BD-4E70-B522-F83A360DAEDD}" type="parTrans" cxnId="{7EE4634C-CAB8-4293-BEC0-1E6C5CC69E2F}">
      <dgm:prSet/>
      <dgm:spPr/>
      <dgm:t>
        <a:bodyPr/>
        <a:lstStyle/>
        <a:p>
          <a:endParaRPr lang="es-PE"/>
        </a:p>
      </dgm:t>
    </dgm:pt>
    <dgm:pt modelId="{94C11DF5-D668-4FF0-AC60-154DE34F64A3}" type="sibTrans" cxnId="{7EE4634C-CAB8-4293-BEC0-1E6C5CC69E2F}">
      <dgm:prSet/>
      <dgm:spPr/>
      <dgm:t>
        <a:bodyPr/>
        <a:lstStyle/>
        <a:p>
          <a:endParaRPr lang="es-PE"/>
        </a:p>
      </dgm:t>
    </dgm:pt>
    <dgm:pt modelId="{EF9B9C66-6D63-45E2-8C53-BCD56FE9DF85}">
      <dgm:prSet/>
      <dgm:spPr/>
      <dgm:t>
        <a:bodyPr/>
        <a:lstStyle/>
        <a:p>
          <a:pPr>
            <a:lnSpc>
              <a:spcPct val="100000"/>
            </a:lnSpc>
          </a:pPr>
          <a:r>
            <a:rPr lang="es-ES" b="0" i="0" dirty="0">
              <a:latin typeface="Book Antiqua" panose="02040602050305030304" pitchFamily="18" charset="0"/>
            </a:rPr>
            <a:t>b) analizar las combinaciones más pertinentes a la situación y al propósito, para luego tomar decisiones</a:t>
          </a:r>
          <a:endParaRPr lang="es-PE" dirty="0">
            <a:latin typeface="Book Antiqua" panose="02040602050305030304" pitchFamily="18" charset="0"/>
          </a:endParaRPr>
        </a:p>
      </dgm:t>
    </dgm:pt>
    <dgm:pt modelId="{CE75CC9A-EAE5-4BD2-A9A0-4DF1BB8100FC}" type="parTrans" cxnId="{8DD1385E-7985-46DC-B2EC-C7BBA2D456C9}">
      <dgm:prSet/>
      <dgm:spPr/>
      <dgm:t>
        <a:bodyPr/>
        <a:lstStyle/>
        <a:p>
          <a:endParaRPr lang="es-PE"/>
        </a:p>
      </dgm:t>
    </dgm:pt>
    <dgm:pt modelId="{283A0575-1195-4320-8819-1C3336265F9E}" type="sibTrans" cxnId="{8DD1385E-7985-46DC-B2EC-C7BBA2D456C9}">
      <dgm:prSet/>
      <dgm:spPr/>
      <dgm:t>
        <a:bodyPr/>
        <a:lstStyle/>
        <a:p>
          <a:endParaRPr lang="es-PE"/>
        </a:p>
      </dgm:t>
    </dgm:pt>
    <dgm:pt modelId="{B835FB35-9139-4B08-8FCB-22CF6EB539AB}">
      <dgm:prSet/>
      <dgm:spPr/>
      <dgm:t>
        <a:bodyPr/>
        <a:lstStyle/>
        <a:p>
          <a:pPr>
            <a:lnSpc>
              <a:spcPct val="100000"/>
            </a:lnSpc>
          </a:pPr>
          <a:r>
            <a:rPr lang="es-ES" b="0" i="0" dirty="0">
              <a:latin typeface="Book Antiqua" panose="02040602050305030304" pitchFamily="18" charset="0"/>
            </a:rPr>
            <a:t>c) ejecutar o poner en acción la combinación seleccionada. </a:t>
          </a:r>
          <a:endParaRPr lang="es-PE" dirty="0">
            <a:latin typeface="Book Antiqua" panose="02040602050305030304" pitchFamily="18" charset="0"/>
          </a:endParaRPr>
        </a:p>
      </dgm:t>
    </dgm:pt>
    <dgm:pt modelId="{04DFB589-8894-4B68-8D5D-3AA80B6343B2}" type="parTrans" cxnId="{EE83F0AF-154F-42C2-9A06-19CDDDA8AB3F}">
      <dgm:prSet/>
      <dgm:spPr/>
      <dgm:t>
        <a:bodyPr/>
        <a:lstStyle/>
        <a:p>
          <a:endParaRPr lang="es-PE"/>
        </a:p>
      </dgm:t>
    </dgm:pt>
    <dgm:pt modelId="{A7D706DA-F28F-4DC4-8D74-CB8D82272553}" type="sibTrans" cxnId="{EE83F0AF-154F-42C2-9A06-19CDDDA8AB3F}">
      <dgm:prSet/>
      <dgm:spPr/>
      <dgm:t>
        <a:bodyPr/>
        <a:lstStyle/>
        <a:p>
          <a:endParaRPr lang="es-PE"/>
        </a:p>
      </dgm:t>
    </dgm:pt>
    <dgm:pt modelId="{5934938F-6DFC-4428-B132-78065283EAA7}" type="pres">
      <dgm:prSet presAssocID="{2D20CED5-C8F7-40F2-8726-6D4C1D8C06F8}" presName="root" presStyleCnt="0">
        <dgm:presLayoutVars>
          <dgm:dir/>
          <dgm:resizeHandles val="exact"/>
        </dgm:presLayoutVars>
      </dgm:prSet>
      <dgm:spPr/>
    </dgm:pt>
    <dgm:pt modelId="{1E59E155-D070-4D68-81FE-7BD949203119}" type="pres">
      <dgm:prSet presAssocID="{4015354F-0E29-4F07-816F-3ABE0E168C10}" presName="compNode" presStyleCnt="0"/>
      <dgm:spPr/>
    </dgm:pt>
    <dgm:pt modelId="{882EFB3F-9DB1-4717-BC65-E0F4ACAF79CA}" type="pres">
      <dgm:prSet presAssocID="{4015354F-0E29-4F07-816F-3ABE0E168C10}" presName="bgRect" presStyleLbl="bgShp" presStyleIdx="0" presStyleCnt="4"/>
      <dgm:spPr/>
    </dgm:pt>
    <dgm:pt modelId="{FEB428B0-4870-48A3-837F-E83F69462BD6}" type="pres">
      <dgm:prSet presAssocID="{4015354F-0E29-4F07-816F-3ABE0E168C1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D362707C-C489-452A-9D56-2447295D7FAD}" type="pres">
      <dgm:prSet presAssocID="{4015354F-0E29-4F07-816F-3ABE0E168C10}" presName="spaceRect" presStyleCnt="0"/>
      <dgm:spPr/>
    </dgm:pt>
    <dgm:pt modelId="{E080ACA8-0569-431B-B2B1-5CBF3FDC6EB6}" type="pres">
      <dgm:prSet presAssocID="{4015354F-0E29-4F07-816F-3ABE0E168C10}" presName="parTx" presStyleLbl="revTx" presStyleIdx="0" presStyleCnt="4">
        <dgm:presLayoutVars>
          <dgm:chMax val="0"/>
          <dgm:chPref val="0"/>
        </dgm:presLayoutVars>
      </dgm:prSet>
      <dgm:spPr/>
    </dgm:pt>
    <dgm:pt modelId="{45E74CA5-851F-409B-8D5F-69801EE04E4A}" type="pres">
      <dgm:prSet presAssocID="{2B39495A-A57D-4AC1-86BA-DC3CCA24C429}" presName="sibTrans" presStyleCnt="0"/>
      <dgm:spPr/>
    </dgm:pt>
    <dgm:pt modelId="{00D5C155-51AC-4BC9-BC5E-B5667A50336A}" type="pres">
      <dgm:prSet presAssocID="{1708528B-F1E0-4B44-BAA1-2E0EE3FC7846}" presName="compNode" presStyleCnt="0"/>
      <dgm:spPr/>
    </dgm:pt>
    <dgm:pt modelId="{3DE3029C-D7BB-43C1-805D-E163C0DD3282}" type="pres">
      <dgm:prSet presAssocID="{1708528B-F1E0-4B44-BAA1-2E0EE3FC7846}" presName="bgRect" presStyleLbl="bgShp" presStyleIdx="1" presStyleCnt="4"/>
      <dgm:spPr/>
    </dgm:pt>
    <dgm:pt modelId="{821F592B-71A2-496A-8567-1118DB1A28F8}" type="pres">
      <dgm:prSet presAssocID="{1708528B-F1E0-4B44-BAA1-2E0EE3FC784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ula de clases"/>
        </a:ext>
      </dgm:extLst>
    </dgm:pt>
    <dgm:pt modelId="{89FE1B1B-3104-4670-9042-490E3F1044AA}" type="pres">
      <dgm:prSet presAssocID="{1708528B-F1E0-4B44-BAA1-2E0EE3FC7846}" presName="spaceRect" presStyleCnt="0"/>
      <dgm:spPr/>
    </dgm:pt>
    <dgm:pt modelId="{C89C9F94-9569-4476-ACD2-AD253DC03D9B}" type="pres">
      <dgm:prSet presAssocID="{1708528B-F1E0-4B44-BAA1-2E0EE3FC7846}" presName="parTx" presStyleLbl="revTx" presStyleIdx="1" presStyleCnt="4">
        <dgm:presLayoutVars>
          <dgm:chMax val="0"/>
          <dgm:chPref val="0"/>
        </dgm:presLayoutVars>
      </dgm:prSet>
      <dgm:spPr/>
    </dgm:pt>
    <dgm:pt modelId="{CBE5D8C7-C743-4D91-8EC8-F3A27B914392}" type="pres">
      <dgm:prSet presAssocID="{94C11DF5-D668-4FF0-AC60-154DE34F64A3}" presName="sibTrans" presStyleCnt="0"/>
      <dgm:spPr/>
    </dgm:pt>
    <dgm:pt modelId="{370A5748-E214-4802-BBC7-F356E1383865}" type="pres">
      <dgm:prSet presAssocID="{EF9B9C66-6D63-45E2-8C53-BCD56FE9DF85}" presName="compNode" presStyleCnt="0"/>
      <dgm:spPr/>
    </dgm:pt>
    <dgm:pt modelId="{1332ECBE-E4DF-4855-A106-8153657CFDD3}" type="pres">
      <dgm:prSet presAssocID="{EF9B9C66-6D63-45E2-8C53-BCD56FE9DF85}" presName="bgRect" presStyleLbl="bgShp" presStyleIdx="2" presStyleCnt="4"/>
      <dgm:spPr/>
    </dgm:pt>
    <dgm:pt modelId="{8CA163AB-B7E2-46A9-957F-B45B8A841404}" type="pres">
      <dgm:prSet presAssocID="{EF9B9C66-6D63-45E2-8C53-BCD56FE9DF8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stadísticas"/>
        </a:ext>
      </dgm:extLst>
    </dgm:pt>
    <dgm:pt modelId="{E9853EE0-3D31-426A-8290-F6B5BD7A40FB}" type="pres">
      <dgm:prSet presAssocID="{EF9B9C66-6D63-45E2-8C53-BCD56FE9DF85}" presName="spaceRect" presStyleCnt="0"/>
      <dgm:spPr/>
    </dgm:pt>
    <dgm:pt modelId="{FC050696-3E90-4CDB-9258-EF95719C810D}" type="pres">
      <dgm:prSet presAssocID="{EF9B9C66-6D63-45E2-8C53-BCD56FE9DF85}" presName="parTx" presStyleLbl="revTx" presStyleIdx="2" presStyleCnt="4">
        <dgm:presLayoutVars>
          <dgm:chMax val="0"/>
          <dgm:chPref val="0"/>
        </dgm:presLayoutVars>
      </dgm:prSet>
      <dgm:spPr/>
    </dgm:pt>
    <dgm:pt modelId="{5171CB0E-0B01-479F-A753-876445D10E3E}" type="pres">
      <dgm:prSet presAssocID="{283A0575-1195-4320-8819-1C3336265F9E}" presName="sibTrans" presStyleCnt="0"/>
      <dgm:spPr/>
    </dgm:pt>
    <dgm:pt modelId="{69162303-CE20-47A8-B01B-1E612796795F}" type="pres">
      <dgm:prSet presAssocID="{B835FB35-9139-4B08-8FCB-22CF6EB539AB}" presName="compNode" presStyleCnt="0"/>
      <dgm:spPr/>
    </dgm:pt>
    <dgm:pt modelId="{ADEF916F-A852-44C6-8753-B7D764138D1A}" type="pres">
      <dgm:prSet presAssocID="{B835FB35-9139-4B08-8FCB-22CF6EB539AB}" presName="bgRect" presStyleLbl="bgShp" presStyleIdx="3" presStyleCnt="4"/>
      <dgm:spPr/>
    </dgm:pt>
    <dgm:pt modelId="{30D244F7-0237-4970-A7D4-4E269D1C7732}" type="pres">
      <dgm:prSet presAssocID="{B835FB35-9139-4B08-8FCB-22CF6EB539A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uaderno de estrategias"/>
        </a:ext>
      </dgm:extLst>
    </dgm:pt>
    <dgm:pt modelId="{290A74AA-5FB4-40EB-9045-3206559C1E6F}" type="pres">
      <dgm:prSet presAssocID="{B835FB35-9139-4B08-8FCB-22CF6EB539AB}" presName="spaceRect" presStyleCnt="0"/>
      <dgm:spPr/>
    </dgm:pt>
    <dgm:pt modelId="{DD759C3C-9F6B-4B37-BA9E-DA9FD75287DB}" type="pres">
      <dgm:prSet presAssocID="{B835FB35-9139-4B08-8FCB-22CF6EB539AB}" presName="parTx" presStyleLbl="revTx" presStyleIdx="3" presStyleCnt="4">
        <dgm:presLayoutVars>
          <dgm:chMax val="0"/>
          <dgm:chPref val="0"/>
        </dgm:presLayoutVars>
      </dgm:prSet>
      <dgm:spPr/>
    </dgm:pt>
  </dgm:ptLst>
  <dgm:cxnLst>
    <dgm:cxn modelId="{D1261117-D3C7-49F5-A1D9-7513B2FA7D52}" type="presOf" srcId="{B835FB35-9139-4B08-8FCB-22CF6EB539AB}" destId="{DD759C3C-9F6B-4B37-BA9E-DA9FD75287DB}" srcOrd="0" destOrd="0" presId="urn:microsoft.com/office/officeart/2018/2/layout/IconVerticalSolidList"/>
    <dgm:cxn modelId="{8DD1385E-7985-46DC-B2EC-C7BBA2D456C9}" srcId="{2D20CED5-C8F7-40F2-8726-6D4C1D8C06F8}" destId="{EF9B9C66-6D63-45E2-8C53-BCD56FE9DF85}" srcOrd="2" destOrd="0" parTransId="{CE75CC9A-EAE5-4BD2-A9A0-4DF1BB8100FC}" sibTransId="{283A0575-1195-4320-8819-1C3336265F9E}"/>
    <dgm:cxn modelId="{C270A15F-D887-42CF-BBEC-38C03132E008}" type="presOf" srcId="{2D20CED5-C8F7-40F2-8726-6D4C1D8C06F8}" destId="{5934938F-6DFC-4428-B132-78065283EAA7}" srcOrd="0" destOrd="0" presId="urn:microsoft.com/office/officeart/2018/2/layout/IconVerticalSolidList"/>
    <dgm:cxn modelId="{7EE4634C-CAB8-4293-BEC0-1E6C5CC69E2F}" srcId="{2D20CED5-C8F7-40F2-8726-6D4C1D8C06F8}" destId="{1708528B-F1E0-4B44-BAA1-2E0EE3FC7846}" srcOrd="1" destOrd="0" parTransId="{485EBA00-A0BD-4E70-B522-F83A360DAEDD}" sibTransId="{94C11DF5-D668-4FF0-AC60-154DE34F64A3}"/>
    <dgm:cxn modelId="{25F78D57-3472-4C9A-A174-2B8F5443CDA0}" srcId="{2D20CED5-C8F7-40F2-8726-6D4C1D8C06F8}" destId="{4015354F-0E29-4F07-816F-3ABE0E168C10}" srcOrd="0" destOrd="0" parTransId="{1737C08E-5E20-4C90-86D2-217270C0AC83}" sibTransId="{2B39495A-A57D-4AC1-86BA-DC3CCA24C429}"/>
    <dgm:cxn modelId="{EE83F0AF-154F-42C2-9A06-19CDDDA8AB3F}" srcId="{2D20CED5-C8F7-40F2-8726-6D4C1D8C06F8}" destId="{B835FB35-9139-4B08-8FCB-22CF6EB539AB}" srcOrd="3" destOrd="0" parTransId="{04DFB589-8894-4B68-8D5D-3AA80B6343B2}" sibTransId="{A7D706DA-F28F-4DC4-8D74-CB8D82272553}"/>
    <dgm:cxn modelId="{70632ECF-3F25-4BD6-A822-354F9CF2C75C}" type="presOf" srcId="{4015354F-0E29-4F07-816F-3ABE0E168C10}" destId="{E080ACA8-0569-431B-B2B1-5CBF3FDC6EB6}" srcOrd="0" destOrd="0" presId="urn:microsoft.com/office/officeart/2018/2/layout/IconVerticalSolidList"/>
    <dgm:cxn modelId="{14D75FE0-881F-4403-8A70-526FF5E60A16}" type="presOf" srcId="{1708528B-F1E0-4B44-BAA1-2E0EE3FC7846}" destId="{C89C9F94-9569-4476-ACD2-AD253DC03D9B}" srcOrd="0" destOrd="0" presId="urn:microsoft.com/office/officeart/2018/2/layout/IconVerticalSolidList"/>
    <dgm:cxn modelId="{10705CF8-F85E-41E4-B497-E2BB37BE18B9}" type="presOf" srcId="{EF9B9C66-6D63-45E2-8C53-BCD56FE9DF85}" destId="{FC050696-3E90-4CDB-9258-EF95719C810D}" srcOrd="0" destOrd="0" presId="urn:microsoft.com/office/officeart/2018/2/layout/IconVerticalSolidList"/>
    <dgm:cxn modelId="{28E68618-6BFD-487A-88DB-FB617A4D76C8}" type="presParOf" srcId="{5934938F-6DFC-4428-B132-78065283EAA7}" destId="{1E59E155-D070-4D68-81FE-7BD949203119}" srcOrd="0" destOrd="0" presId="urn:microsoft.com/office/officeart/2018/2/layout/IconVerticalSolidList"/>
    <dgm:cxn modelId="{3FA88DAA-4ED9-46FE-8A60-0D99C0933983}" type="presParOf" srcId="{1E59E155-D070-4D68-81FE-7BD949203119}" destId="{882EFB3F-9DB1-4717-BC65-E0F4ACAF79CA}" srcOrd="0" destOrd="0" presId="urn:microsoft.com/office/officeart/2018/2/layout/IconVerticalSolidList"/>
    <dgm:cxn modelId="{85A94954-4637-4E83-95A9-79519DF95A50}" type="presParOf" srcId="{1E59E155-D070-4D68-81FE-7BD949203119}" destId="{FEB428B0-4870-48A3-837F-E83F69462BD6}" srcOrd="1" destOrd="0" presId="urn:microsoft.com/office/officeart/2018/2/layout/IconVerticalSolidList"/>
    <dgm:cxn modelId="{D6C1B7D7-853E-46C4-8054-8EE876E5C7CA}" type="presParOf" srcId="{1E59E155-D070-4D68-81FE-7BD949203119}" destId="{D362707C-C489-452A-9D56-2447295D7FAD}" srcOrd="2" destOrd="0" presId="urn:microsoft.com/office/officeart/2018/2/layout/IconVerticalSolidList"/>
    <dgm:cxn modelId="{2E8DDAD8-6DFC-4732-8827-64B8FD4F190E}" type="presParOf" srcId="{1E59E155-D070-4D68-81FE-7BD949203119}" destId="{E080ACA8-0569-431B-B2B1-5CBF3FDC6EB6}" srcOrd="3" destOrd="0" presId="urn:microsoft.com/office/officeart/2018/2/layout/IconVerticalSolidList"/>
    <dgm:cxn modelId="{5906DF5D-147A-4034-B9A7-A24C30F0704E}" type="presParOf" srcId="{5934938F-6DFC-4428-B132-78065283EAA7}" destId="{45E74CA5-851F-409B-8D5F-69801EE04E4A}" srcOrd="1" destOrd="0" presId="urn:microsoft.com/office/officeart/2018/2/layout/IconVerticalSolidList"/>
    <dgm:cxn modelId="{3D0DC929-4BDF-4CD8-A1E1-1AC8BF2303B5}" type="presParOf" srcId="{5934938F-6DFC-4428-B132-78065283EAA7}" destId="{00D5C155-51AC-4BC9-BC5E-B5667A50336A}" srcOrd="2" destOrd="0" presId="urn:microsoft.com/office/officeart/2018/2/layout/IconVerticalSolidList"/>
    <dgm:cxn modelId="{41D6880C-A270-4730-AB38-33068B845A8F}" type="presParOf" srcId="{00D5C155-51AC-4BC9-BC5E-B5667A50336A}" destId="{3DE3029C-D7BB-43C1-805D-E163C0DD3282}" srcOrd="0" destOrd="0" presId="urn:microsoft.com/office/officeart/2018/2/layout/IconVerticalSolidList"/>
    <dgm:cxn modelId="{148A73CC-CB7F-4E53-8C0C-05A37393F223}" type="presParOf" srcId="{00D5C155-51AC-4BC9-BC5E-B5667A50336A}" destId="{821F592B-71A2-496A-8567-1118DB1A28F8}" srcOrd="1" destOrd="0" presId="urn:microsoft.com/office/officeart/2018/2/layout/IconVerticalSolidList"/>
    <dgm:cxn modelId="{3161C955-3326-4CBF-978C-BB595643B484}" type="presParOf" srcId="{00D5C155-51AC-4BC9-BC5E-B5667A50336A}" destId="{89FE1B1B-3104-4670-9042-490E3F1044AA}" srcOrd="2" destOrd="0" presId="urn:microsoft.com/office/officeart/2018/2/layout/IconVerticalSolidList"/>
    <dgm:cxn modelId="{904C965B-165E-4C07-96A8-6FFDA02F4BA9}" type="presParOf" srcId="{00D5C155-51AC-4BC9-BC5E-B5667A50336A}" destId="{C89C9F94-9569-4476-ACD2-AD253DC03D9B}" srcOrd="3" destOrd="0" presId="urn:microsoft.com/office/officeart/2018/2/layout/IconVerticalSolidList"/>
    <dgm:cxn modelId="{373B6DFE-EA12-49B6-B842-F81BE4464F13}" type="presParOf" srcId="{5934938F-6DFC-4428-B132-78065283EAA7}" destId="{CBE5D8C7-C743-4D91-8EC8-F3A27B914392}" srcOrd="3" destOrd="0" presId="urn:microsoft.com/office/officeart/2018/2/layout/IconVerticalSolidList"/>
    <dgm:cxn modelId="{D58EA88A-D573-47A5-92FB-5C1D7E8AA928}" type="presParOf" srcId="{5934938F-6DFC-4428-B132-78065283EAA7}" destId="{370A5748-E214-4802-BBC7-F356E1383865}" srcOrd="4" destOrd="0" presId="urn:microsoft.com/office/officeart/2018/2/layout/IconVerticalSolidList"/>
    <dgm:cxn modelId="{028C867C-8B48-42F1-BD3C-34A748855F86}" type="presParOf" srcId="{370A5748-E214-4802-BBC7-F356E1383865}" destId="{1332ECBE-E4DF-4855-A106-8153657CFDD3}" srcOrd="0" destOrd="0" presId="urn:microsoft.com/office/officeart/2018/2/layout/IconVerticalSolidList"/>
    <dgm:cxn modelId="{E423531F-7BFB-4CBE-BC87-68D07B77CF9C}" type="presParOf" srcId="{370A5748-E214-4802-BBC7-F356E1383865}" destId="{8CA163AB-B7E2-46A9-957F-B45B8A841404}" srcOrd="1" destOrd="0" presId="urn:microsoft.com/office/officeart/2018/2/layout/IconVerticalSolidList"/>
    <dgm:cxn modelId="{7762E179-BD4E-4A2D-8143-A0CDBD92C159}" type="presParOf" srcId="{370A5748-E214-4802-BBC7-F356E1383865}" destId="{E9853EE0-3D31-426A-8290-F6B5BD7A40FB}" srcOrd="2" destOrd="0" presId="urn:microsoft.com/office/officeart/2018/2/layout/IconVerticalSolidList"/>
    <dgm:cxn modelId="{869D8F97-9C74-4041-9A85-F930C67C77C5}" type="presParOf" srcId="{370A5748-E214-4802-BBC7-F356E1383865}" destId="{FC050696-3E90-4CDB-9258-EF95719C810D}" srcOrd="3" destOrd="0" presId="urn:microsoft.com/office/officeart/2018/2/layout/IconVerticalSolidList"/>
    <dgm:cxn modelId="{CA52178A-81DD-482E-87C9-60313C9D54E0}" type="presParOf" srcId="{5934938F-6DFC-4428-B132-78065283EAA7}" destId="{5171CB0E-0B01-479F-A753-876445D10E3E}" srcOrd="5" destOrd="0" presId="urn:microsoft.com/office/officeart/2018/2/layout/IconVerticalSolidList"/>
    <dgm:cxn modelId="{501C627D-6624-4A36-89FF-FCA1D5BEC7A3}" type="presParOf" srcId="{5934938F-6DFC-4428-B132-78065283EAA7}" destId="{69162303-CE20-47A8-B01B-1E612796795F}" srcOrd="6" destOrd="0" presId="urn:microsoft.com/office/officeart/2018/2/layout/IconVerticalSolidList"/>
    <dgm:cxn modelId="{28FD978E-CBA2-4481-B438-A27A2DF7EEC1}" type="presParOf" srcId="{69162303-CE20-47A8-B01B-1E612796795F}" destId="{ADEF916F-A852-44C6-8753-B7D764138D1A}" srcOrd="0" destOrd="0" presId="urn:microsoft.com/office/officeart/2018/2/layout/IconVerticalSolidList"/>
    <dgm:cxn modelId="{AA3F5218-6D27-49A1-940D-3903C0174E5F}" type="presParOf" srcId="{69162303-CE20-47A8-B01B-1E612796795F}" destId="{30D244F7-0237-4970-A7D4-4E269D1C7732}" srcOrd="1" destOrd="0" presId="urn:microsoft.com/office/officeart/2018/2/layout/IconVerticalSolidList"/>
    <dgm:cxn modelId="{F51B27D6-29F6-4E5A-A1DE-F5D6CA39480C}" type="presParOf" srcId="{69162303-CE20-47A8-B01B-1E612796795F}" destId="{290A74AA-5FB4-40EB-9045-3206559C1E6F}" srcOrd="2" destOrd="0" presId="urn:microsoft.com/office/officeart/2018/2/layout/IconVerticalSolidList"/>
    <dgm:cxn modelId="{A8C9BC53-D0FF-46B9-8708-41DC0F5CCD4A}" type="presParOf" srcId="{69162303-CE20-47A8-B01B-1E612796795F}" destId="{DD759C3C-9F6B-4B37-BA9E-DA9FD75287D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1A862B0-2240-4454-B8C6-224B56113166}" type="doc">
      <dgm:prSet loTypeId="urn:microsoft.com/office/officeart/2005/8/layout/pyramid2" loCatId="list" qsTypeId="urn:microsoft.com/office/officeart/2005/8/quickstyle/simple1" qsCatId="simple" csTypeId="urn:microsoft.com/office/officeart/2005/8/colors/colorful4" csCatId="colorful" phldr="1"/>
      <dgm:spPr/>
    </dgm:pt>
    <dgm:pt modelId="{87EBCCFD-7E38-45BB-B0B7-FADF07D0659B}">
      <dgm:prSet phldrT="[Texto]"/>
      <dgm:spPr>
        <a:ln>
          <a:solidFill>
            <a:schemeClr val="bg1">
              <a:lumMod val="75000"/>
            </a:schemeClr>
          </a:solidFill>
        </a:ln>
      </dgm:spPr>
      <dgm:t>
        <a:bodyPr/>
        <a:lstStyle/>
        <a:p>
          <a:r>
            <a:rPr lang="es-PE" b="1" dirty="0">
              <a:latin typeface="Book Antiqua" panose="02040602050305030304" pitchFamily="18" charset="0"/>
              <a:cs typeface="Arial" panose="020B0604020202020204" pitchFamily="34" charset="0"/>
            </a:rPr>
            <a:t>Ítems difíciles</a:t>
          </a:r>
          <a:endParaRPr lang="es-PE" dirty="0">
            <a:latin typeface="Book Antiqua" panose="02040602050305030304" pitchFamily="18" charset="0"/>
          </a:endParaRPr>
        </a:p>
      </dgm:t>
    </dgm:pt>
    <dgm:pt modelId="{EFD42B60-6D32-4B96-896D-86AC01059720}" type="parTrans" cxnId="{52A30264-D6ED-414A-9109-F64802939631}">
      <dgm:prSet/>
      <dgm:spPr/>
      <dgm:t>
        <a:bodyPr/>
        <a:lstStyle/>
        <a:p>
          <a:endParaRPr lang="es-PE"/>
        </a:p>
      </dgm:t>
    </dgm:pt>
    <dgm:pt modelId="{3351DD4A-1E00-4F3A-920F-E6C650569E69}" type="sibTrans" cxnId="{52A30264-D6ED-414A-9109-F64802939631}">
      <dgm:prSet/>
      <dgm:spPr/>
      <dgm:t>
        <a:bodyPr/>
        <a:lstStyle/>
        <a:p>
          <a:endParaRPr lang="es-PE"/>
        </a:p>
      </dgm:t>
    </dgm:pt>
    <dgm:pt modelId="{1E4F0B96-B986-439A-86D1-A68DB390DB39}">
      <dgm:prSet phldrT="[Texto]"/>
      <dgm:spPr>
        <a:ln>
          <a:solidFill>
            <a:schemeClr val="bg1">
              <a:lumMod val="75000"/>
            </a:schemeClr>
          </a:solidFill>
        </a:ln>
      </dgm:spPr>
      <dgm:t>
        <a:bodyPr/>
        <a:lstStyle/>
        <a:p>
          <a:r>
            <a:rPr lang="es-PE" b="1" dirty="0">
              <a:latin typeface="Book Antiqua" panose="02040602050305030304" pitchFamily="18" charset="0"/>
              <a:cs typeface="Arial" panose="020B0604020202020204" pitchFamily="34" charset="0"/>
            </a:rPr>
            <a:t>Ítems intermedios</a:t>
          </a:r>
          <a:endParaRPr lang="es-PE" dirty="0">
            <a:latin typeface="Book Antiqua" panose="02040602050305030304" pitchFamily="18" charset="0"/>
          </a:endParaRPr>
        </a:p>
      </dgm:t>
    </dgm:pt>
    <dgm:pt modelId="{E487B4B3-7693-49DF-B70E-1F56A3FB0956}" type="parTrans" cxnId="{C831EEFE-482D-4ED7-9BF3-1339336AC7F6}">
      <dgm:prSet/>
      <dgm:spPr/>
      <dgm:t>
        <a:bodyPr/>
        <a:lstStyle/>
        <a:p>
          <a:endParaRPr lang="es-PE"/>
        </a:p>
      </dgm:t>
    </dgm:pt>
    <dgm:pt modelId="{602A0B41-F2FF-4F9F-B8C0-F09754F56D6E}" type="sibTrans" cxnId="{C831EEFE-482D-4ED7-9BF3-1339336AC7F6}">
      <dgm:prSet/>
      <dgm:spPr/>
      <dgm:t>
        <a:bodyPr/>
        <a:lstStyle/>
        <a:p>
          <a:endParaRPr lang="es-PE"/>
        </a:p>
      </dgm:t>
    </dgm:pt>
    <dgm:pt modelId="{6C25285E-ACEE-41B5-A9AE-2E45BCAD0416}">
      <dgm:prSet phldrT="[Texto]"/>
      <dgm:spPr>
        <a:ln>
          <a:solidFill>
            <a:schemeClr val="bg1">
              <a:lumMod val="75000"/>
            </a:schemeClr>
          </a:solidFill>
        </a:ln>
      </dgm:spPr>
      <dgm:t>
        <a:bodyPr/>
        <a:lstStyle/>
        <a:p>
          <a:r>
            <a:rPr lang="es-PE" b="1" dirty="0">
              <a:latin typeface="Book Antiqua" panose="02040602050305030304" pitchFamily="18" charset="0"/>
              <a:cs typeface="Arial" panose="020B0604020202020204" pitchFamily="34" charset="0"/>
            </a:rPr>
            <a:t>Ítems fáciles</a:t>
          </a:r>
          <a:endParaRPr lang="es-PE" dirty="0">
            <a:latin typeface="Book Antiqua" panose="02040602050305030304" pitchFamily="18" charset="0"/>
          </a:endParaRPr>
        </a:p>
      </dgm:t>
    </dgm:pt>
    <dgm:pt modelId="{31F3346F-A9B0-4BA2-B02D-51C583D579C8}" type="parTrans" cxnId="{EE024601-D94D-41F6-BC73-DB81A84262BD}">
      <dgm:prSet/>
      <dgm:spPr/>
      <dgm:t>
        <a:bodyPr/>
        <a:lstStyle/>
        <a:p>
          <a:endParaRPr lang="es-PE"/>
        </a:p>
      </dgm:t>
    </dgm:pt>
    <dgm:pt modelId="{82932E6D-D655-4BE4-8DEE-BF6D425CBF00}" type="sibTrans" cxnId="{EE024601-D94D-41F6-BC73-DB81A84262BD}">
      <dgm:prSet/>
      <dgm:spPr/>
      <dgm:t>
        <a:bodyPr/>
        <a:lstStyle/>
        <a:p>
          <a:endParaRPr lang="es-PE"/>
        </a:p>
      </dgm:t>
    </dgm:pt>
    <dgm:pt modelId="{7AB6FDFC-B0BD-46BF-9AF2-A14E2FE07A11}" type="pres">
      <dgm:prSet presAssocID="{11A862B0-2240-4454-B8C6-224B56113166}" presName="compositeShape" presStyleCnt="0">
        <dgm:presLayoutVars>
          <dgm:dir/>
          <dgm:resizeHandles/>
        </dgm:presLayoutVars>
      </dgm:prSet>
      <dgm:spPr/>
    </dgm:pt>
    <dgm:pt modelId="{A43D9785-0105-4A90-94EA-382675F5D4B2}" type="pres">
      <dgm:prSet presAssocID="{11A862B0-2240-4454-B8C6-224B56113166}" presName="pyramid" presStyleLbl="node1" presStyleIdx="0" presStyleCnt="1" custLinFactNeighborX="-108"/>
      <dgm:spPr>
        <a:solidFill>
          <a:schemeClr val="accent5"/>
        </a:solidFill>
      </dgm:spPr>
    </dgm:pt>
    <dgm:pt modelId="{3185C807-C5EB-427E-B941-FE59BB164803}" type="pres">
      <dgm:prSet presAssocID="{11A862B0-2240-4454-B8C6-224B56113166}" presName="theList" presStyleCnt="0"/>
      <dgm:spPr/>
    </dgm:pt>
    <dgm:pt modelId="{0D4F232C-575E-491B-947D-CED08C6314A4}" type="pres">
      <dgm:prSet presAssocID="{87EBCCFD-7E38-45BB-B0B7-FADF07D0659B}" presName="aNode" presStyleLbl="fgAcc1" presStyleIdx="0" presStyleCnt="3">
        <dgm:presLayoutVars>
          <dgm:bulletEnabled val="1"/>
        </dgm:presLayoutVars>
      </dgm:prSet>
      <dgm:spPr/>
    </dgm:pt>
    <dgm:pt modelId="{7061535E-F150-4007-A1EB-39AACB1C8D6E}" type="pres">
      <dgm:prSet presAssocID="{87EBCCFD-7E38-45BB-B0B7-FADF07D0659B}" presName="aSpace" presStyleCnt="0"/>
      <dgm:spPr/>
    </dgm:pt>
    <dgm:pt modelId="{9ECD831F-6E5D-4647-ADF3-022031FF2727}" type="pres">
      <dgm:prSet presAssocID="{1E4F0B96-B986-439A-86D1-A68DB390DB39}" presName="aNode" presStyleLbl="fgAcc1" presStyleIdx="1" presStyleCnt="3">
        <dgm:presLayoutVars>
          <dgm:bulletEnabled val="1"/>
        </dgm:presLayoutVars>
      </dgm:prSet>
      <dgm:spPr/>
    </dgm:pt>
    <dgm:pt modelId="{06DEE8D0-8082-4EE1-AAD4-804C240FEEDC}" type="pres">
      <dgm:prSet presAssocID="{1E4F0B96-B986-439A-86D1-A68DB390DB39}" presName="aSpace" presStyleCnt="0"/>
      <dgm:spPr/>
    </dgm:pt>
    <dgm:pt modelId="{B2A453BA-5180-4FB9-AD70-D6D66B6C3AC3}" type="pres">
      <dgm:prSet presAssocID="{6C25285E-ACEE-41B5-A9AE-2E45BCAD0416}" presName="aNode" presStyleLbl="fgAcc1" presStyleIdx="2" presStyleCnt="3">
        <dgm:presLayoutVars>
          <dgm:bulletEnabled val="1"/>
        </dgm:presLayoutVars>
      </dgm:prSet>
      <dgm:spPr/>
    </dgm:pt>
    <dgm:pt modelId="{F621961E-1E94-4A55-8840-1328754F3C04}" type="pres">
      <dgm:prSet presAssocID="{6C25285E-ACEE-41B5-A9AE-2E45BCAD0416}" presName="aSpace" presStyleCnt="0"/>
      <dgm:spPr/>
    </dgm:pt>
  </dgm:ptLst>
  <dgm:cxnLst>
    <dgm:cxn modelId="{EE024601-D94D-41F6-BC73-DB81A84262BD}" srcId="{11A862B0-2240-4454-B8C6-224B56113166}" destId="{6C25285E-ACEE-41B5-A9AE-2E45BCAD0416}" srcOrd="2" destOrd="0" parTransId="{31F3346F-A9B0-4BA2-B02D-51C583D579C8}" sibTransId="{82932E6D-D655-4BE4-8DEE-BF6D425CBF00}"/>
    <dgm:cxn modelId="{2FE1D930-4172-4B2F-B854-1290F9E29BA5}" type="presOf" srcId="{1E4F0B96-B986-439A-86D1-A68DB390DB39}" destId="{9ECD831F-6E5D-4647-ADF3-022031FF2727}" srcOrd="0" destOrd="0" presId="urn:microsoft.com/office/officeart/2005/8/layout/pyramid2"/>
    <dgm:cxn modelId="{52A30264-D6ED-414A-9109-F64802939631}" srcId="{11A862B0-2240-4454-B8C6-224B56113166}" destId="{87EBCCFD-7E38-45BB-B0B7-FADF07D0659B}" srcOrd="0" destOrd="0" parTransId="{EFD42B60-6D32-4B96-896D-86AC01059720}" sibTransId="{3351DD4A-1E00-4F3A-920F-E6C650569E69}"/>
    <dgm:cxn modelId="{D2D18276-1F39-4323-A6D3-530F82AF7BFD}" type="presOf" srcId="{87EBCCFD-7E38-45BB-B0B7-FADF07D0659B}" destId="{0D4F232C-575E-491B-947D-CED08C6314A4}" srcOrd="0" destOrd="0" presId="urn:microsoft.com/office/officeart/2005/8/layout/pyramid2"/>
    <dgm:cxn modelId="{E5062E95-B969-4E60-B88E-4FA6099A02C5}" type="presOf" srcId="{11A862B0-2240-4454-B8C6-224B56113166}" destId="{7AB6FDFC-B0BD-46BF-9AF2-A14E2FE07A11}" srcOrd="0" destOrd="0" presId="urn:microsoft.com/office/officeart/2005/8/layout/pyramid2"/>
    <dgm:cxn modelId="{CB01FEF1-6593-4037-8A6D-A94F90101503}" type="presOf" srcId="{6C25285E-ACEE-41B5-A9AE-2E45BCAD0416}" destId="{B2A453BA-5180-4FB9-AD70-D6D66B6C3AC3}" srcOrd="0" destOrd="0" presId="urn:microsoft.com/office/officeart/2005/8/layout/pyramid2"/>
    <dgm:cxn modelId="{C831EEFE-482D-4ED7-9BF3-1339336AC7F6}" srcId="{11A862B0-2240-4454-B8C6-224B56113166}" destId="{1E4F0B96-B986-439A-86D1-A68DB390DB39}" srcOrd="1" destOrd="0" parTransId="{E487B4B3-7693-49DF-B70E-1F56A3FB0956}" sibTransId="{602A0B41-F2FF-4F9F-B8C0-F09754F56D6E}"/>
    <dgm:cxn modelId="{8BEC1866-1213-4773-8B5D-2556A383718B}" type="presParOf" srcId="{7AB6FDFC-B0BD-46BF-9AF2-A14E2FE07A11}" destId="{A43D9785-0105-4A90-94EA-382675F5D4B2}" srcOrd="0" destOrd="0" presId="urn:microsoft.com/office/officeart/2005/8/layout/pyramid2"/>
    <dgm:cxn modelId="{E84B377C-C35B-45F9-9337-CEB259FBA46A}" type="presParOf" srcId="{7AB6FDFC-B0BD-46BF-9AF2-A14E2FE07A11}" destId="{3185C807-C5EB-427E-B941-FE59BB164803}" srcOrd="1" destOrd="0" presId="urn:microsoft.com/office/officeart/2005/8/layout/pyramid2"/>
    <dgm:cxn modelId="{6A3353E8-9327-47C6-B1D9-757624646571}" type="presParOf" srcId="{3185C807-C5EB-427E-B941-FE59BB164803}" destId="{0D4F232C-575E-491B-947D-CED08C6314A4}" srcOrd="0" destOrd="0" presId="urn:microsoft.com/office/officeart/2005/8/layout/pyramid2"/>
    <dgm:cxn modelId="{22BE2FCF-4C78-420B-ABE6-FA3BE4B866D0}" type="presParOf" srcId="{3185C807-C5EB-427E-B941-FE59BB164803}" destId="{7061535E-F150-4007-A1EB-39AACB1C8D6E}" srcOrd="1" destOrd="0" presId="urn:microsoft.com/office/officeart/2005/8/layout/pyramid2"/>
    <dgm:cxn modelId="{949C684E-AA8D-44E7-88B9-D1E69DEF32D7}" type="presParOf" srcId="{3185C807-C5EB-427E-B941-FE59BB164803}" destId="{9ECD831F-6E5D-4647-ADF3-022031FF2727}" srcOrd="2" destOrd="0" presId="urn:microsoft.com/office/officeart/2005/8/layout/pyramid2"/>
    <dgm:cxn modelId="{C56D5986-72BB-4488-9908-C94F08619F47}" type="presParOf" srcId="{3185C807-C5EB-427E-B941-FE59BB164803}" destId="{06DEE8D0-8082-4EE1-AAD4-804C240FEEDC}" srcOrd="3" destOrd="0" presId="urn:microsoft.com/office/officeart/2005/8/layout/pyramid2"/>
    <dgm:cxn modelId="{6BC65F77-C0CE-4CE7-B579-09F84BD6066D}" type="presParOf" srcId="{3185C807-C5EB-427E-B941-FE59BB164803}" destId="{B2A453BA-5180-4FB9-AD70-D6D66B6C3AC3}" srcOrd="4" destOrd="0" presId="urn:microsoft.com/office/officeart/2005/8/layout/pyramid2"/>
    <dgm:cxn modelId="{82D6E747-90E9-4BAC-8E26-4E5A38D67F34}" type="presParOf" srcId="{3185C807-C5EB-427E-B941-FE59BB164803}" destId="{F621961E-1E94-4A55-8840-1328754F3C04}"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74E0597-EA7A-478D-BBA3-7D2BC85F42FA}"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s-ES"/>
        </a:p>
      </dgm:t>
    </dgm:pt>
    <dgm:pt modelId="{15ADDA32-BC39-466B-9812-B8233A35B9AB}">
      <dgm:prSet custT="1"/>
      <dgm:spPr/>
      <dgm:t>
        <a:bodyPr/>
        <a:lstStyle/>
        <a:p>
          <a:pPr rtl="0"/>
          <a:r>
            <a:rPr lang="es-MX" sz="2000" dirty="0">
              <a:latin typeface="Book Antiqua" panose="02040602050305030304" pitchFamily="18" charset="0"/>
            </a:rPr>
            <a:t>La graduación del nivel de dificultad, considerando los contenidos temáticos de las asignaturas, se encuentra en función del </a:t>
          </a:r>
          <a:r>
            <a:rPr lang="es-MX" sz="2000" dirty="0">
              <a:solidFill>
                <a:srgbClr val="C00000"/>
              </a:solidFill>
              <a:latin typeface="Book Antiqua" panose="02040602050305030304" pitchFamily="18" charset="0"/>
            </a:rPr>
            <a:t>grado de complejidad y/o cantidad de información y conocimientos</a:t>
          </a:r>
          <a:r>
            <a:rPr lang="es-MX" sz="2000" dirty="0">
              <a:latin typeface="Book Antiqua" panose="02040602050305030304" pitchFamily="18" charset="0"/>
            </a:rPr>
            <a:t> que el ítem exige que el estudiante disponga.  </a:t>
          </a:r>
          <a:endParaRPr lang="en-US" sz="2000" dirty="0">
            <a:latin typeface="Book Antiqua" panose="02040602050305030304" pitchFamily="18" charset="0"/>
          </a:endParaRPr>
        </a:p>
      </dgm:t>
    </dgm:pt>
    <dgm:pt modelId="{9D1A638C-673A-4958-9766-30DDF41AD744}" type="parTrans" cxnId="{DA8841F6-A5BD-4A38-81CC-7BDD6B86F288}">
      <dgm:prSet/>
      <dgm:spPr/>
      <dgm:t>
        <a:bodyPr/>
        <a:lstStyle/>
        <a:p>
          <a:endParaRPr lang="es-ES"/>
        </a:p>
      </dgm:t>
    </dgm:pt>
    <dgm:pt modelId="{10894E71-1BAA-411C-88A4-4426D1360FCF}" type="sibTrans" cxnId="{DA8841F6-A5BD-4A38-81CC-7BDD6B86F288}">
      <dgm:prSet/>
      <dgm:spPr/>
      <dgm:t>
        <a:bodyPr/>
        <a:lstStyle/>
        <a:p>
          <a:endParaRPr lang="es-ES"/>
        </a:p>
      </dgm:t>
    </dgm:pt>
    <dgm:pt modelId="{3A7A4904-C85D-4A61-8CE4-F01C1358079F}">
      <dgm:prSet/>
      <dgm:spPr/>
      <dgm:t>
        <a:bodyPr/>
        <a:lstStyle/>
        <a:p>
          <a:pPr rtl="0"/>
          <a:r>
            <a:rPr lang="es-MX" dirty="0">
              <a:latin typeface="Book Antiqua" panose="02040602050305030304" pitchFamily="18" charset="0"/>
            </a:rPr>
            <a:t>La información es insuficiente en el </a:t>
          </a:r>
          <a:r>
            <a:rPr lang="es-MX" i="1" dirty="0">
              <a:latin typeface="Book Antiqua" panose="02040602050305030304" pitchFamily="18" charset="0"/>
            </a:rPr>
            <a:t>enfoque por competencias</a:t>
          </a:r>
          <a:endParaRPr lang="en-US" i="1" dirty="0">
            <a:latin typeface="Book Antiqua" panose="02040602050305030304" pitchFamily="18" charset="0"/>
          </a:endParaRPr>
        </a:p>
      </dgm:t>
    </dgm:pt>
    <dgm:pt modelId="{0E591B0A-C791-4F93-9A01-03D47EF81549}" type="parTrans" cxnId="{C98A6281-FED1-42DB-9959-E033C1A2F066}">
      <dgm:prSet/>
      <dgm:spPr/>
      <dgm:t>
        <a:bodyPr/>
        <a:lstStyle/>
        <a:p>
          <a:endParaRPr lang="es-PE"/>
        </a:p>
      </dgm:t>
    </dgm:pt>
    <dgm:pt modelId="{16B07659-6308-425F-9BC2-424736B1F3DB}" type="sibTrans" cxnId="{C98A6281-FED1-42DB-9959-E033C1A2F066}">
      <dgm:prSet/>
      <dgm:spPr/>
      <dgm:t>
        <a:bodyPr/>
        <a:lstStyle/>
        <a:p>
          <a:endParaRPr lang="es-PE"/>
        </a:p>
      </dgm:t>
    </dgm:pt>
    <dgm:pt modelId="{928F3E17-A338-4893-99BB-4FCB01DE291A}" type="pres">
      <dgm:prSet presAssocID="{E74E0597-EA7A-478D-BBA3-7D2BC85F42FA}" presName="linear" presStyleCnt="0">
        <dgm:presLayoutVars>
          <dgm:animLvl val="lvl"/>
          <dgm:resizeHandles val="exact"/>
        </dgm:presLayoutVars>
      </dgm:prSet>
      <dgm:spPr/>
    </dgm:pt>
    <dgm:pt modelId="{8BAB182B-81D7-41DE-BCEB-8D9CFD419912}" type="pres">
      <dgm:prSet presAssocID="{15ADDA32-BC39-466B-9812-B8233A35B9AB}" presName="parentText" presStyleLbl="node1" presStyleIdx="0" presStyleCnt="2" custLinFactNeighborY="-69036">
        <dgm:presLayoutVars>
          <dgm:chMax val="0"/>
          <dgm:bulletEnabled val="1"/>
        </dgm:presLayoutVars>
      </dgm:prSet>
      <dgm:spPr/>
    </dgm:pt>
    <dgm:pt modelId="{6DD670AB-3FE9-4726-8F97-9200845DF421}" type="pres">
      <dgm:prSet presAssocID="{10894E71-1BAA-411C-88A4-4426D1360FCF}" presName="spacer" presStyleCnt="0"/>
      <dgm:spPr/>
    </dgm:pt>
    <dgm:pt modelId="{5DA3F57E-D482-4B3B-910D-6D66A90F869F}" type="pres">
      <dgm:prSet presAssocID="{3A7A4904-C85D-4A61-8CE4-F01C1358079F}" presName="parentText" presStyleLbl="node1" presStyleIdx="1" presStyleCnt="2" custScaleX="40745" custLinFactNeighborX="-29627" custLinFactNeighborY="-10957">
        <dgm:presLayoutVars>
          <dgm:chMax val="0"/>
          <dgm:bulletEnabled val="1"/>
        </dgm:presLayoutVars>
      </dgm:prSet>
      <dgm:spPr/>
    </dgm:pt>
  </dgm:ptLst>
  <dgm:cxnLst>
    <dgm:cxn modelId="{F6574B28-5B8B-4C2E-A034-114ED93C8BF7}" type="presOf" srcId="{E74E0597-EA7A-478D-BBA3-7D2BC85F42FA}" destId="{928F3E17-A338-4893-99BB-4FCB01DE291A}" srcOrd="0" destOrd="0" presId="urn:microsoft.com/office/officeart/2005/8/layout/vList2"/>
    <dgm:cxn modelId="{C98A6281-FED1-42DB-9959-E033C1A2F066}" srcId="{E74E0597-EA7A-478D-BBA3-7D2BC85F42FA}" destId="{3A7A4904-C85D-4A61-8CE4-F01C1358079F}" srcOrd="1" destOrd="0" parTransId="{0E591B0A-C791-4F93-9A01-03D47EF81549}" sibTransId="{16B07659-6308-425F-9BC2-424736B1F3DB}"/>
    <dgm:cxn modelId="{CABF3DEF-053B-4AFB-808F-3ED894661A55}" type="presOf" srcId="{3A7A4904-C85D-4A61-8CE4-F01C1358079F}" destId="{5DA3F57E-D482-4B3B-910D-6D66A90F869F}" srcOrd="0" destOrd="0" presId="urn:microsoft.com/office/officeart/2005/8/layout/vList2"/>
    <dgm:cxn modelId="{08AF5FF3-8636-4914-A3EA-50D6BEAAD30B}" type="presOf" srcId="{15ADDA32-BC39-466B-9812-B8233A35B9AB}" destId="{8BAB182B-81D7-41DE-BCEB-8D9CFD419912}" srcOrd="0" destOrd="0" presId="urn:microsoft.com/office/officeart/2005/8/layout/vList2"/>
    <dgm:cxn modelId="{DA8841F6-A5BD-4A38-81CC-7BDD6B86F288}" srcId="{E74E0597-EA7A-478D-BBA3-7D2BC85F42FA}" destId="{15ADDA32-BC39-466B-9812-B8233A35B9AB}" srcOrd="0" destOrd="0" parTransId="{9D1A638C-673A-4958-9766-30DDF41AD744}" sibTransId="{10894E71-1BAA-411C-88A4-4426D1360FCF}"/>
    <dgm:cxn modelId="{441D7885-7FCF-4331-884A-5322C27688AF}" type="presParOf" srcId="{928F3E17-A338-4893-99BB-4FCB01DE291A}" destId="{8BAB182B-81D7-41DE-BCEB-8D9CFD419912}" srcOrd="0" destOrd="0" presId="urn:microsoft.com/office/officeart/2005/8/layout/vList2"/>
    <dgm:cxn modelId="{FB6A1943-1032-463C-83E7-45E491357DF2}" type="presParOf" srcId="{928F3E17-A338-4893-99BB-4FCB01DE291A}" destId="{6DD670AB-3FE9-4726-8F97-9200845DF421}" srcOrd="1" destOrd="0" presId="urn:microsoft.com/office/officeart/2005/8/layout/vList2"/>
    <dgm:cxn modelId="{43ADF0AC-5D69-4B02-8E1F-2A763951982E}" type="presParOf" srcId="{928F3E17-A338-4893-99BB-4FCB01DE291A}" destId="{5DA3F57E-D482-4B3B-910D-6D66A90F869F}"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2EFB3F-9DB1-4717-BC65-E0F4ACAF79CA}">
      <dsp:nvSpPr>
        <dsp:cNvPr id="0" name=""/>
        <dsp:cNvSpPr/>
      </dsp:nvSpPr>
      <dsp:spPr>
        <a:xfrm>
          <a:off x="0" y="1456"/>
          <a:ext cx="9180000" cy="7383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B428B0-4870-48A3-837F-E83F69462BD6}">
      <dsp:nvSpPr>
        <dsp:cNvPr id="0" name=""/>
        <dsp:cNvSpPr/>
      </dsp:nvSpPr>
      <dsp:spPr>
        <a:xfrm>
          <a:off x="223346" y="167581"/>
          <a:ext cx="406083" cy="4060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miter/>
        </a:ln>
        <a:effectLst/>
      </dsp:spPr>
      <dsp:style>
        <a:lnRef idx="2">
          <a:scrgbClr r="0" g="0" b="0"/>
        </a:lnRef>
        <a:fillRef idx="1">
          <a:scrgbClr r="0" g="0" b="0"/>
        </a:fillRef>
        <a:effectRef idx="0">
          <a:scrgbClr r="0" g="0" b="0"/>
        </a:effectRef>
        <a:fontRef idx="minor">
          <a:schemeClr val="lt1"/>
        </a:fontRef>
      </dsp:style>
    </dsp:sp>
    <dsp:sp modelId="{E080ACA8-0569-431B-B2B1-5CBF3FDC6EB6}">
      <dsp:nvSpPr>
        <dsp:cNvPr id="0" name=""/>
        <dsp:cNvSpPr/>
      </dsp:nvSpPr>
      <dsp:spPr>
        <a:xfrm>
          <a:off x="852775" y="1456"/>
          <a:ext cx="8327224" cy="7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40" tIns="78140" rIns="78140" bIns="78140" numCol="1" spcCol="1270" anchor="ctr" anchorCtr="0">
          <a:noAutofit/>
        </a:bodyPr>
        <a:lstStyle/>
        <a:p>
          <a:pPr marL="0" lvl="0" indent="0" algn="l" defTabSz="800100">
            <a:lnSpc>
              <a:spcPct val="100000"/>
            </a:lnSpc>
            <a:spcBef>
              <a:spcPct val="0"/>
            </a:spcBef>
            <a:spcAft>
              <a:spcPct val="35000"/>
            </a:spcAft>
            <a:buNone/>
          </a:pPr>
          <a:r>
            <a:rPr lang="es-ES" sz="1800" b="0" i="0" kern="1200" dirty="0">
              <a:latin typeface="Book Antiqua" panose="02040602050305030304" pitchFamily="18" charset="0"/>
            </a:rPr>
            <a:t>Supone comprender la situación que se debe afrontar y evaluar las posibilidades que se tiene para resolverla:</a:t>
          </a:r>
          <a:endParaRPr lang="es-PE" sz="1800" kern="1200" dirty="0">
            <a:latin typeface="Book Antiqua" panose="02040602050305030304" pitchFamily="18" charset="0"/>
          </a:endParaRPr>
        </a:p>
      </dsp:txBody>
      <dsp:txXfrm>
        <a:off x="852775" y="1456"/>
        <a:ext cx="8327224" cy="738333"/>
      </dsp:txXfrm>
    </dsp:sp>
    <dsp:sp modelId="{3DE3029C-D7BB-43C1-805D-E163C0DD3282}">
      <dsp:nvSpPr>
        <dsp:cNvPr id="0" name=""/>
        <dsp:cNvSpPr/>
      </dsp:nvSpPr>
      <dsp:spPr>
        <a:xfrm>
          <a:off x="0" y="924374"/>
          <a:ext cx="9180000" cy="7383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1F592B-71A2-496A-8567-1118DB1A28F8}">
      <dsp:nvSpPr>
        <dsp:cNvPr id="0" name=""/>
        <dsp:cNvSpPr/>
      </dsp:nvSpPr>
      <dsp:spPr>
        <a:xfrm>
          <a:off x="223346" y="1090499"/>
          <a:ext cx="406083" cy="4060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miter/>
        </a:ln>
        <a:effectLst/>
      </dsp:spPr>
      <dsp:style>
        <a:lnRef idx="2">
          <a:scrgbClr r="0" g="0" b="0"/>
        </a:lnRef>
        <a:fillRef idx="1">
          <a:scrgbClr r="0" g="0" b="0"/>
        </a:fillRef>
        <a:effectRef idx="0">
          <a:scrgbClr r="0" g="0" b="0"/>
        </a:effectRef>
        <a:fontRef idx="minor">
          <a:schemeClr val="lt1"/>
        </a:fontRef>
      </dsp:style>
    </dsp:sp>
    <dsp:sp modelId="{C89C9F94-9569-4476-ACD2-AD253DC03D9B}">
      <dsp:nvSpPr>
        <dsp:cNvPr id="0" name=""/>
        <dsp:cNvSpPr/>
      </dsp:nvSpPr>
      <dsp:spPr>
        <a:xfrm>
          <a:off x="852775" y="924374"/>
          <a:ext cx="8327224" cy="7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40" tIns="78140" rIns="78140" bIns="78140" numCol="1" spcCol="1270" anchor="ctr" anchorCtr="0">
          <a:noAutofit/>
        </a:bodyPr>
        <a:lstStyle/>
        <a:p>
          <a:pPr marL="0" lvl="0" indent="0" algn="l" defTabSz="800100">
            <a:lnSpc>
              <a:spcPct val="100000"/>
            </a:lnSpc>
            <a:spcBef>
              <a:spcPct val="0"/>
            </a:spcBef>
            <a:spcAft>
              <a:spcPct val="35000"/>
            </a:spcAft>
            <a:buNone/>
          </a:pPr>
          <a:r>
            <a:rPr lang="es-ES" sz="1800" b="0" i="0" kern="1200" dirty="0">
              <a:latin typeface="Book Antiqua" panose="02040602050305030304" pitchFamily="18" charset="0"/>
            </a:rPr>
            <a:t>a) identificar los conocimientos y habilidades que uno posee o que están disponibles en el entorno </a:t>
          </a:r>
          <a:endParaRPr lang="es-PE" sz="1800" kern="1200" dirty="0">
            <a:latin typeface="Book Antiqua" panose="02040602050305030304" pitchFamily="18" charset="0"/>
          </a:endParaRPr>
        </a:p>
      </dsp:txBody>
      <dsp:txXfrm>
        <a:off x="852775" y="924374"/>
        <a:ext cx="8327224" cy="738333"/>
      </dsp:txXfrm>
    </dsp:sp>
    <dsp:sp modelId="{1332ECBE-E4DF-4855-A106-8153657CFDD3}">
      <dsp:nvSpPr>
        <dsp:cNvPr id="0" name=""/>
        <dsp:cNvSpPr/>
      </dsp:nvSpPr>
      <dsp:spPr>
        <a:xfrm>
          <a:off x="0" y="1847291"/>
          <a:ext cx="9180000" cy="7383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A163AB-B7E2-46A9-957F-B45B8A841404}">
      <dsp:nvSpPr>
        <dsp:cNvPr id="0" name=""/>
        <dsp:cNvSpPr/>
      </dsp:nvSpPr>
      <dsp:spPr>
        <a:xfrm>
          <a:off x="223346" y="2013416"/>
          <a:ext cx="406083" cy="40608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miter/>
        </a:ln>
        <a:effectLst/>
      </dsp:spPr>
      <dsp:style>
        <a:lnRef idx="2">
          <a:scrgbClr r="0" g="0" b="0"/>
        </a:lnRef>
        <a:fillRef idx="1">
          <a:scrgbClr r="0" g="0" b="0"/>
        </a:fillRef>
        <a:effectRef idx="0">
          <a:scrgbClr r="0" g="0" b="0"/>
        </a:effectRef>
        <a:fontRef idx="minor">
          <a:schemeClr val="lt1"/>
        </a:fontRef>
      </dsp:style>
    </dsp:sp>
    <dsp:sp modelId="{FC050696-3E90-4CDB-9258-EF95719C810D}">
      <dsp:nvSpPr>
        <dsp:cNvPr id="0" name=""/>
        <dsp:cNvSpPr/>
      </dsp:nvSpPr>
      <dsp:spPr>
        <a:xfrm>
          <a:off x="852775" y="1847291"/>
          <a:ext cx="8327224" cy="7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40" tIns="78140" rIns="78140" bIns="78140" numCol="1" spcCol="1270" anchor="ctr" anchorCtr="0">
          <a:noAutofit/>
        </a:bodyPr>
        <a:lstStyle/>
        <a:p>
          <a:pPr marL="0" lvl="0" indent="0" algn="l" defTabSz="800100">
            <a:lnSpc>
              <a:spcPct val="100000"/>
            </a:lnSpc>
            <a:spcBef>
              <a:spcPct val="0"/>
            </a:spcBef>
            <a:spcAft>
              <a:spcPct val="35000"/>
            </a:spcAft>
            <a:buNone/>
          </a:pPr>
          <a:r>
            <a:rPr lang="es-ES" sz="1800" b="0" i="0" kern="1200" dirty="0">
              <a:latin typeface="Book Antiqua" panose="02040602050305030304" pitchFamily="18" charset="0"/>
            </a:rPr>
            <a:t>b) analizar las combinaciones más pertinentes a la situación y al propósito, para luego tomar decisiones</a:t>
          </a:r>
          <a:endParaRPr lang="es-PE" sz="1800" kern="1200" dirty="0">
            <a:latin typeface="Book Antiqua" panose="02040602050305030304" pitchFamily="18" charset="0"/>
          </a:endParaRPr>
        </a:p>
      </dsp:txBody>
      <dsp:txXfrm>
        <a:off x="852775" y="1847291"/>
        <a:ext cx="8327224" cy="738333"/>
      </dsp:txXfrm>
    </dsp:sp>
    <dsp:sp modelId="{ADEF916F-A852-44C6-8753-B7D764138D1A}">
      <dsp:nvSpPr>
        <dsp:cNvPr id="0" name=""/>
        <dsp:cNvSpPr/>
      </dsp:nvSpPr>
      <dsp:spPr>
        <a:xfrm>
          <a:off x="0" y="2770209"/>
          <a:ext cx="9180000" cy="7383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D244F7-0237-4970-A7D4-4E269D1C7732}">
      <dsp:nvSpPr>
        <dsp:cNvPr id="0" name=""/>
        <dsp:cNvSpPr/>
      </dsp:nvSpPr>
      <dsp:spPr>
        <a:xfrm>
          <a:off x="223346" y="2936334"/>
          <a:ext cx="406083" cy="40608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miter/>
        </a:ln>
        <a:effectLst/>
      </dsp:spPr>
      <dsp:style>
        <a:lnRef idx="2">
          <a:scrgbClr r="0" g="0" b="0"/>
        </a:lnRef>
        <a:fillRef idx="1">
          <a:scrgbClr r="0" g="0" b="0"/>
        </a:fillRef>
        <a:effectRef idx="0">
          <a:scrgbClr r="0" g="0" b="0"/>
        </a:effectRef>
        <a:fontRef idx="minor">
          <a:schemeClr val="lt1"/>
        </a:fontRef>
      </dsp:style>
    </dsp:sp>
    <dsp:sp modelId="{DD759C3C-9F6B-4B37-BA9E-DA9FD75287DB}">
      <dsp:nvSpPr>
        <dsp:cNvPr id="0" name=""/>
        <dsp:cNvSpPr/>
      </dsp:nvSpPr>
      <dsp:spPr>
        <a:xfrm>
          <a:off x="852775" y="2770209"/>
          <a:ext cx="8327224" cy="7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40" tIns="78140" rIns="78140" bIns="78140" numCol="1" spcCol="1270" anchor="ctr" anchorCtr="0">
          <a:noAutofit/>
        </a:bodyPr>
        <a:lstStyle/>
        <a:p>
          <a:pPr marL="0" lvl="0" indent="0" algn="l" defTabSz="800100">
            <a:lnSpc>
              <a:spcPct val="100000"/>
            </a:lnSpc>
            <a:spcBef>
              <a:spcPct val="0"/>
            </a:spcBef>
            <a:spcAft>
              <a:spcPct val="35000"/>
            </a:spcAft>
            <a:buNone/>
          </a:pPr>
          <a:r>
            <a:rPr lang="es-ES" sz="1800" b="0" i="0" kern="1200" dirty="0">
              <a:latin typeface="Book Antiqua" panose="02040602050305030304" pitchFamily="18" charset="0"/>
            </a:rPr>
            <a:t>c) ejecutar o poner en acción la combinación seleccionada. </a:t>
          </a:r>
          <a:endParaRPr lang="es-PE" sz="1800" kern="1200" dirty="0">
            <a:latin typeface="Book Antiqua" panose="02040602050305030304" pitchFamily="18" charset="0"/>
          </a:endParaRPr>
        </a:p>
      </dsp:txBody>
      <dsp:txXfrm>
        <a:off x="852775" y="2770209"/>
        <a:ext cx="8327224" cy="7383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3D9785-0105-4A90-94EA-382675F5D4B2}">
      <dsp:nvSpPr>
        <dsp:cNvPr id="0" name=""/>
        <dsp:cNvSpPr/>
      </dsp:nvSpPr>
      <dsp:spPr>
        <a:xfrm>
          <a:off x="396453" y="0"/>
          <a:ext cx="3783437" cy="3783437"/>
        </a:xfrm>
        <a:prstGeom prst="triangle">
          <a:avLst/>
        </a:prstGeom>
        <a:solidFill>
          <a:schemeClr val="accent5"/>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sp>
    <dsp:sp modelId="{0D4F232C-575E-491B-947D-CED08C6314A4}">
      <dsp:nvSpPr>
        <dsp:cNvPr id="0" name=""/>
        <dsp:cNvSpPr/>
      </dsp:nvSpPr>
      <dsp:spPr>
        <a:xfrm>
          <a:off x="2292257" y="380375"/>
          <a:ext cx="2459234" cy="895610"/>
        </a:xfrm>
        <a:prstGeom prst="roundRect">
          <a:avLst/>
        </a:prstGeom>
        <a:solidFill>
          <a:schemeClr val="lt1">
            <a:alpha val="90000"/>
            <a:hueOff val="0"/>
            <a:satOff val="0"/>
            <a:lumOff val="0"/>
            <a:alphaOff val="0"/>
          </a:schemeClr>
        </a:solidFill>
        <a:ln w="25400" cap="flat" cmpd="sng" algn="ctr">
          <a:solidFill>
            <a:schemeClr val="bg1">
              <a:lumMod val="7500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PE" sz="2200" b="1" kern="1200" dirty="0">
              <a:latin typeface="Book Antiqua" panose="02040602050305030304" pitchFamily="18" charset="0"/>
              <a:cs typeface="Arial" panose="020B0604020202020204" pitchFamily="34" charset="0"/>
            </a:rPr>
            <a:t>Ítems difíciles</a:t>
          </a:r>
          <a:endParaRPr lang="es-PE" sz="2200" kern="1200" dirty="0">
            <a:latin typeface="Book Antiqua" panose="02040602050305030304" pitchFamily="18" charset="0"/>
          </a:endParaRPr>
        </a:p>
      </dsp:txBody>
      <dsp:txXfrm>
        <a:off x="2335977" y="424095"/>
        <a:ext cx="2371794" cy="808170"/>
      </dsp:txXfrm>
    </dsp:sp>
    <dsp:sp modelId="{9ECD831F-6E5D-4647-ADF3-022031FF2727}">
      <dsp:nvSpPr>
        <dsp:cNvPr id="0" name=""/>
        <dsp:cNvSpPr/>
      </dsp:nvSpPr>
      <dsp:spPr>
        <a:xfrm>
          <a:off x="2292257" y="1387937"/>
          <a:ext cx="2459234" cy="895610"/>
        </a:xfrm>
        <a:prstGeom prst="roundRect">
          <a:avLst/>
        </a:prstGeom>
        <a:solidFill>
          <a:schemeClr val="lt1">
            <a:alpha val="90000"/>
            <a:hueOff val="0"/>
            <a:satOff val="0"/>
            <a:lumOff val="0"/>
            <a:alphaOff val="0"/>
          </a:schemeClr>
        </a:solidFill>
        <a:ln w="25400" cap="flat" cmpd="sng" algn="ctr">
          <a:solidFill>
            <a:schemeClr val="bg1">
              <a:lumMod val="7500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PE" sz="2200" b="1" kern="1200" dirty="0">
              <a:latin typeface="Book Antiqua" panose="02040602050305030304" pitchFamily="18" charset="0"/>
              <a:cs typeface="Arial" panose="020B0604020202020204" pitchFamily="34" charset="0"/>
            </a:rPr>
            <a:t>Ítems intermedios</a:t>
          </a:r>
          <a:endParaRPr lang="es-PE" sz="2200" kern="1200" dirty="0">
            <a:latin typeface="Book Antiqua" panose="02040602050305030304" pitchFamily="18" charset="0"/>
          </a:endParaRPr>
        </a:p>
      </dsp:txBody>
      <dsp:txXfrm>
        <a:off x="2335977" y="1431657"/>
        <a:ext cx="2371794" cy="808170"/>
      </dsp:txXfrm>
    </dsp:sp>
    <dsp:sp modelId="{B2A453BA-5180-4FB9-AD70-D6D66B6C3AC3}">
      <dsp:nvSpPr>
        <dsp:cNvPr id="0" name=""/>
        <dsp:cNvSpPr/>
      </dsp:nvSpPr>
      <dsp:spPr>
        <a:xfrm>
          <a:off x="2292257" y="2395499"/>
          <a:ext cx="2459234" cy="895610"/>
        </a:xfrm>
        <a:prstGeom prst="roundRect">
          <a:avLst/>
        </a:prstGeom>
        <a:solidFill>
          <a:schemeClr val="lt1">
            <a:alpha val="90000"/>
            <a:hueOff val="0"/>
            <a:satOff val="0"/>
            <a:lumOff val="0"/>
            <a:alphaOff val="0"/>
          </a:schemeClr>
        </a:solidFill>
        <a:ln w="25400" cap="flat" cmpd="sng" algn="ctr">
          <a:solidFill>
            <a:schemeClr val="bg1">
              <a:lumMod val="7500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PE" sz="2200" b="1" kern="1200" dirty="0">
              <a:latin typeface="Book Antiqua" panose="02040602050305030304" pitchFamily="18" charset="0"/>
              <a:cs typeface="Arial" panose="020B0604020202020204" pitchFamily="34" charset="0"/>
            </a:rPr>
            <a:t>Ítems fáciles</a:t>
          </a:r>
          <a:endParaRPr lang="es-PE" sz="2200" kern="1200" dirty="0">
            <a:latin typeface="Book Antiqua" panose="02040602050305030304" pitchFamily="18" charset="0"/>
          </a:endParaRPr>
        </a:p>
      </dsp:txBody>
      <dsp:txXfrm>
        <a:off x="2335977" y="2439219"/>
        <a:ext cx="2371794" cy="8081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AB182B-81D7-41DE-BCEB-8D9CFD419912}">
      <dsp:nvSpPr>
        <dsp:cNvPr id="0" name=""/>
        <dsp:cNvSpPr/>
      </dsp:nvSpPr>
      <dsp:spPr>
        <a:xfrm>
          <a:off x="0" y="0"/>
          <a:ext cx="8694539" cy="1721435"/>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MX" sz="2000" kern="1200" dirty="0">
              <a:latin typeface="Book Antiqua" panose="02040602050305030304" pitchFamily="18" charset="0"/>
            </a:rPr>
            <a:t>La graduación del nivel de dificultad, considerando los contenidos temáticos de las asignaturas, se encuentra en función del </a:t>
          </a:r>
          <a:r>
            <a:rPr lang="es-MX" sz="2000" kern="1200" dirty="0">
              <a:solidFill>
                <a:srgbClr val="C00000"/>
              </a:solidFill>
              <a:latin typeface="Book Antiqua" panose="02040602050305030304" pitchFamily="18" charset="0"/>
            </a:rPr>
            <a:t>grado de complejidad y/o cantidad de información y conocimientos</a:t>
          </a:r>
          <a:r>
            <a:rPr lang="es-MX" sz="2000" kern="1200" dirty="0">
              <a:latin typeface="Book Antiqua" panose="02040602050305030304" pitchFamily="18" charset="0"/>
            </a:rPr>
            <a:t> que el ítem exige que el estudiante disponga.  </a:t>
          </a:r>
          <a:endParaRPr lang="en-US" sz="2000" kern="1200" dirty="0">
            <a:latin typeface="Book Antiqua" panose="02040602050305030304" pitchFamily="18" charset="0"/>
          </a:endParaRPr>
        </a:p>
      </dsp:txBody>
      <dsp:txXfrm>
        <a:off x="84034" y="84034"/>
        <a:ext cx="8526471" cy="1553367"/>
      </dsp:txXfrm>
    </dsp:sp>
    <dsp:sp modelId="{5DA3F57E-D482-4B3B-910D-6D66A90F869F}">
      <dsp:nvSpPr>
        <dsp:cNvPr id="0" name=""/>
        <dsp:cNvSpPr/>
      </dsp:nvSpPr>
      <dsp:spPr>
        <a:xfrm>
          <a:off x="43" y="1846119"/>
          <a:ext cx="3542589" cy="1721435"/>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MX" sz="2400" kern="1200" dirty="0">
              <a:latin typeface="Book Antiqua" panose="02040602050305030304" pitchFamily="18" charset="0"/>
            </a:rPr>
            <a:t>La información es insuficiente en el </a:t>
          </a:r>
          <a:r>
            <a:rPr lang="es-MX" sz="2400" i="1" kern="1200" dirty="0">
              <a:latin typeface="Book Antiqua" panose="02040602050305030304" pitchFamily="18" charset="0"/>
            </a:rPr>
            <a:t>enfoque por competencias</a:t>
          </a:r>
          <a:endParaRPr lang="en-US" sz="2400" i="1" kern="1200" dirty="0">
            <a:latin typeface="Book Antiqua" panose="02040602050305030304" pitchFamily="18" charset="0"/>
          </a:endParaRPr>
        </a:p>
      </dsp:txBody>
      <dsp:txXfrm>
        <a:off x="84077" y="1930153"/>
        <a:ext cx="3374521" cy="155336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D29764-55B6-43DF-9510-1259D01136DF}" type="datetimeFigureOut">
              <a:rPr lang="es-PE" smtClean="0"/>
              <a:t>20/02/2026</a:t>
            </a:fld>
            <a:endParaRPr lang="es-PE"/>
          </a:p>
        </p:txBody>
      </p:sp>
      <p:sp>
        <p:nvSpPr>
          <p:cNvPr id="4" name="Marcador de imagen de diapositiva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80FCABA7-4D92-47B1-92C3-1AC215AA1A53}" type="slidenum">
              <a:rPr lang="es-PE" smtClean="0"/>
              <a:t>‹Nº›</a:t>
            </a:fld>
            <a:endParaRPr lang="es-PE"/>
          </a:p>
        </p:txBody>
      </p:sp>
    </p:spTree>
    <p:extLst>
      <p:ext uri="{BB962C8B-B14F-4D97-AF65-F5344CB8AC3E}">
        <p14:creationId xmlns:p14="http://schemas.microsoft.com/office/powerpoint/2010/main" val="4212375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80FCABA7-4D92-47B1-92C3-1AC215AA1A53}" type="slidenum">
              <a:rPr lang="es-PE" smtClean="0"/>
              <a:t>3</a:t>
            </a:fld>
            <a:endParaRPr lang="es-PE"/>
          </a:p>
        </p:txBody>
      </p:sp>
    </p:spTree>
    <p:extLst>
      <p:ext uri="{BB962C8B-B14F-4D97-AF65-F5344CB8AC3E}">
        <p14:creationId xmlns:p14="http://schemas.microsoft.com/office/powerpoint/2010/main" val="2785181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defTabSz="929305">
              <a:defRPr/>
            </a:pPr>
            <a:r>
              <a:rPr lang="es-ES" dirty="0"/>
              <a:t>Mientras más específica y rebuscada fuera una pregunta, era considerada como de mayor dificultad. Estas preguntas no medían, por sí mismas, ninguna destreza cognitiva, sino más bien el grado de erudición o el nivel de retención de información de los estudiantes. </a:t>
            </a:r>
          </a:p>
          <a:p>
            <a:pPr defTabSz="929305">
              <a:defRPr/>
            </a:pPr>
            <a:r>
              <a:rPr lang="es-ES" dirty="0"/>
              <a:t>Dado que el examen está dirigido a estudiantes con una educación basada en el currículo nacional de educación básica, lo que incluye una cantidad limitada de temas y una orientación hacia el modelo de competencias, este criterio de erudición no puede ser empleado para graduar la dificultad de las preguntas. </a:t>
            </a:r>
          </a:p>
          <a:p>
            <a:pPr defTabSz="929305">
              <a:defRPr/>
            </a:pPr>
            <a:r>
              <a:rPr lang="es-MX" dirty="0"/>
              <a:t>La capacidad o habilidad cognitiva que se evaluaba bajo este esquema era, sobre todo, el uso de la memoria a largo plazo y su capacidad de recordar el conocimiento o el dato preciso durante el ejercicio en la prueba.  </a:t>
            </a:r>
          </a:p>
          <a:p>
            <a:pPr defTabSz="929305">
              <a:defRPr/>
            </a:pPr>
            <a:endParaRPr lang="en-US" dirty="0"/>
          </a:p>
          <a:p>
            <a:pPr defTabSz="929305">
              <a:defRPr/>
            </a:pPr>
            <a:endParaRPr lang="en-US" dirty="0"/>
          </a:p>
          <a:p>
            <a:endParaRPr lang="en-US" dirty="0"/>
          </a:p>
        </p:txBody>
      </p:sp>
      <p:sp>
        <p:nvSpPr>
          <p:cNvPr id="4" name="Marcador de número de diapositiva 3"/>
          <p:cNvSpPr>
            <a:spLocks noGrp="1"/>
          </p:cNvSpPr>
          <p:nvPr>
            <p:ph type="sldNum" sz="quarter" idx="10"/>
          </p:nvPr>
        </p:nvSpPr>
        <p:spPr/>
        <p:txBody>
          <a:bodyPr/>
          <a:lstStyle/>
          <a:p>
            <a:fld id="{80C19698-97CA-416C-9F1C-1C598C82E8F4}" type="slidenum">
              <a:rPr lang="en-US" smtClean="0"/>
              <a:t>10</a:t>
            </a:fld>
            <a:endParaRPr lang="en-US"/>
          </a:p>
        </p:txBody>
      </p:sp>
    </p:spTree>
    <p:extLst>
      <p:ext uri="{BB962C8B-B14F-4D97-AF65-F5344CB8AC3E}">
        <p14:creationId xmlns:p14="http://schemas.microsoft.com/office/powerpoint/2010/main" val="3624557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1" name="PlaceHolder 2"/>
          <p:cNvSpPr>
            <a:spLocks noGrp="1"/>
          </p:cNvSpPr>
          <p:nvPr>
            <p:ph type="subTitle"/>
          </p:nvPr>
        </p:nvSpPr>
        <p:spPr>
          <a:xfrm>
            <a:off x="360000" y="1350000"/>
            <a:ext cx="9180000" cy="351000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3" name="PlaceHolder 2"/>
          <p:cNvSpPr>
            <a:spLocks noGrp="1"/>
          </p:cNvSpPr>
          <p:nvPr>
            <p:ph type="body"/>
          </p:nvPr>
        </p:nvSpPr>
        <p:spPr>
          <a:xfrm>
            <a:off x="360000" y="1350000"/>
            <a:ext cx="918000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5"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16"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360000" y="270000"/>
            <a:ext cx="9360000" cy="333864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0"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1"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2"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4"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5"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6" name="PlaceHolder 4"/>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8"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9"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0" name="PlaceHolder 4"/>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2" name="PlaceHolder 2"/>
          <p:cNvSpPr>
            <a:spLocks noGrp="1"/>
          </p:cNvSpPr>
          <p:nvPr>
            <p:ph type="body"/>
          </p:nvPr>
        </p:nvSpPr>
        <p:spPr>
          <a:xfrm>
            <a:off x="360000" y="135000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3" name="PlaceHolder 3"/>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5"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6"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7"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8" name="PlaceHolder 5"/>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40" name="PlaceHolder 2"/>
          <p:cNvSpPr>
            <a:spLocks noGrp="1"/>
          </p:cNvSpPr>
          <p:nvPr>
            <p:ph type="body"/>
          </p:nvPr>
        </p:nvSpPr>
        <p:spPr>
          <a:xfrm>
            <a:off x="36000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1" name="PlaceHolder 3"/>
          <p:cNvSpPr>
            <a:spLocks noGrp="1"/>
          </p:cNvSpPr>
          <p:nvPr>
            <p:ph type="body"/>
          </p:nvPr>
        </p:nvSpPr>
        <p:spPr>
          <a:xfrm>
            <a:off x="346392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2" name="PlaceHolder 4"/>
          <p:cNvSpPr>
            <a:spLocks noGrp="1"/>
          </p:cNvSpPr>
          <p:nvPr>
            <p:ph type="body"/>
          </p:nvPr>
        </p:nvSpPr>
        <p:spPr>
          <a:xfrm>
            <a:off x="656748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3" name="PlaceHolder 5"/>
          <p:cNvSpPr>
            <a:spLocks noGrp="1"/>
          </p:cNvSpPr>
          <p:nvPr>
            <p:ph type="body"/>
          </p:nvPr>
        </p:nvSpPr>
        <p:spPr>
          <a:xfrm>
            <a:off x="36000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4" name="PlaceHolder 6"/>
          <p:cNvSpPr>
            <a:spLocks noGrp="1"/>
          </p:cNvSpPr>
          <p:nvPr>
            <p:ph type="body"/>
          </p:nvPr>
        </p:nvSpPr>
        <p:spPr>
          <a:xfrm>
            <a:off x="346392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5" name="PlaceHolder 7"/>
          <p:cNvSpPr>
            <a:spLocks noGrp="1"/>
          </p:cNvSpPr>
          <p:nvPr>
            <p:ph type="body"/>
          </p:nvPr>
        </p:nvSpPr>
        <p:spPr>
          <a:xfrm>
            <a:off x="656748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96"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98" b="0" i="0">
                <a:solidFill>
                  <a:srgbClr val="1C1C1C"/>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496550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2CFBA1-1AF1-4D30-BA94-01E0937082AF}"/>
              </a:ext>
            </a:extLst>
          </p:cNvPr>
          <p:cNvSpPr>
            <a:spLocks noGrp="1"/>
          </p:cNvSpPr>
          <p:nvPr>
            <p:ph type="title"/>
          </p:nvPr>
        </p:nvSpPr>
        <p:spPr>
          <a:xfrm>
            <a:off x="687793" y="1413700"/>
            <a:ext cx="8694539" cy="2358791"/>
          </a:xfrm>
        </p:spPr>
        <p:txBody>
          <a:bodyPr anchor="b"/>
          <a:lstStyle>
            <a:lvl1pPr>
              <a:defRPr sz="4961"/>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2DF1BBFE-BBFE-42C1-8C1A-9D95E083A5D5}"/>
              </a:ext>
            </a:extLst>
          </p:cNvPr>
          <p:cNvSpPr>
            <a:spLocks noGrp="1"/>
          </p:cNvSpPr>
          <p:nvPr>
            <p:ph type="body" idx="1"/>
          </p:nvPr>
        </p:nvSpPr>
        <p:spPr>
          <a:xfrm>
            <a:off x="687793" y="3794807"/>
            <a:ext cx="8694539" cy="1240432"/>
          </a:xfrm>
        </p:spPr>
        <p:txBody>
          <a:bodyPr/>
          <a:lstStyle>
            <a:lvl1pPr marL="0" indent="0">
              <a:buNone/>
              <a:defRPr sz="1984">
                <a:solidFill>
                  <a:schemeClr val="tx1">
                    <a:tint val="75000"/>
                  </a:schemeClr>
                </a:solidFill>
              </a:defRPr>
            </a:lvl1pPr>
            <a:lvl2pPr marL="378013" indent="0">
              <a:buNone/>
              <a:defRPr sz="1654">
                <a:solidFill>
                  <a:schemeClr val="tx1">
                    <a:tint val="75000"/>
                  </a:schemeClr>
                </a:solidFill>
              </a:defRPr>
            </a:lvl2pPr>
            <a:lvl3pPr marL="756026" indent="0">
              <a:buNone/>
              <a:defRPr sz="1488">
                <a:solidFill>
                  <a:schemeClr val="tx1">
                    <a:tint val="75000"/>
                  </a:schemeClr>
                </a:solidFill>
              </a:defRPr>
            </a:lvl3pPr>
            <a:lvl4pPr marL="1134039" indent="0">
              <a:buNone/>
              <a:defRPr sz="1323">
                <a:solidFill>
                  <a:schemeClr val="tx1">
                    <a:tint val="75000"/>
                  </a:schemeClr>
                </a:solidFill>
              </a:defRPr>
            </a:lvl4pPr>
            <a:lvl5pPr marL="1512052" indent="0">
              <a:buNone/>
              <a:defRPr sz="1323">
                <a:solidFill>
                  <a:schemeClr val="tx1">
                    <a:tint val="75000"/>
                  </a:schemeClr>
                </a:solidFill>
              </a:defRPr>
            </a:lvl5pPr>
            <a:lvl6pPr marL="1890065" indent="0">
              <a:buNone/>
              <a:defRPr sz="1323">
                <a:solidFill>
                  <a:schemeClr val="tx1">
                    <a:tint val="75000"/>
                  </a:schemeClr>
                </a:solidFill>
              </a:defRPr>
            </a:lvl6pPr>
            <a:lvl7pPr marL="2268078" indent="0">
              <a:buNone/>
              <a:defRPr sz="1323">
                <a:solidFill>
                  <a:schemeClr val="tx1">
                    <a:tint val="75000"/>
                  </a:schemeClr>
                </a:solidFill>
              </a:defRPr>
            </a:lvl7pPr>
            <a:lvl8pPr marL="2646091" indent="0">
              <a:buNone/>
              <a:defRPr sz="1323">
                <a:solidFill>
                  <a:schemeClr val="tx1">
                    <a:tint val="75000"/>
                  </a:schemeClr>
                </a:solidFill>
              </a:defRPr>
            </a:lvl8pPr>
            <a:lvl9pPr marL="3024104" indent="0">
              <a:buNone/>
              <a:defRPr sz="1323">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B46B41A-82A1-4A88-93CB-0DCB1F83B939}"/>
              </a:ext>
            </a:extLst>
          </p:cNvPr>
          <p:cNvSpPr>
            <a:spLocks noGrp="1"/>
          </p:cNvSpPr>
          <p:nvPr>
            <p:ph type="dt" sz="half" idx="10"/>
          </p:nvPr>
        </p:nvSpPr>
        <p:spPr/>
        <p:txBody>
          <a:bodyPr/>
          <a:lstStyle/>
          <a:p>
            <a:fld id="{95913EFE-DD89-4199-84EC-1A2BF4298B83}" type="datetimeFigureOut">
              <a:rPr lang="es-PE" smtClean="0"/>
              <a:t>20/02/2026</a:t>
            </a:fld>
            <a:endParaRPr lang="es-PE"/>
          </a:p>
        </p:txBody>
      </p:sp>
      <p:sp>
        <p:nvSpPr>
          <p:cNvPr id="5" name="Marcador de pie de página 4">
            <a:extLst>
              <a:ext uri="{FF2B5EF4-FFF2-40B4-BE49-F238E27FC236}">
                <a16:creationId xmlns:a16="http://schemas.microsoft.com/office/drawing/2014/main" id="{3D5BFE93-267E-4666-B8E6-7F6705317413}"/>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24B1F0C-9B71-4DDC-BB39-7A70AF794436}"/>
              </a:ext>
            </a:extLst>
          </p:cNvPr>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3834216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53" name="PlaceHolder 2"/>
          <p:cNvSpPr>
            <a:spLocks noGrp="1"/>
          </p:cNvSpPr>
          <p:nvPr>
            <p:ph type="subTitle"/>
          </p:nvPr>
        </p:nvSpPr>
        <p:spPr>
          <a:xfrm>
            <a:off x="360000" y="1350000"/>
            <a:ext cx="9180000" cy="351000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55" name="PlaceHolder 2"/>
          <p:cNvSpPr>
            <a:spLocks noGrp="1"/>
          </p:cNvSpPr>
          <p:nvPr>
            <p:ph type="body"/>
          </p:nvPr>
        </p:nvSpPr>
        <p:spPr>
          <a:xfrm>
            <a:off x="360000" y="1350000"/>
            <a:ext cx="918000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57"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58"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360000" y="270000"/>
            <a:ext cx="9360000" cy="333864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62"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63"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64"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66"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67"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68" name="PlaceHolder 4"/>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70"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1"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2" name="PlaceHolder 4"/>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74" name="PlaceHolder 2"/>
          <p:cNvSpPr>
            <a:spLocks noGrp="1"/>
          </p:cNvSpPr>
          <p:nvPr>
            <p:ph type="body"/>
          </p:nvPr>
        </p:nvSpPr>
        <p:spPr>
          <a:xfrm>
            <a:off x="360000" y="135000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5" name="PlaceHolder 3"/>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77"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8"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9"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0" name="PlaceHolder 5"/>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82" name="PlaceHolder 2"/>
          <p:cNvSpPr>
            <a:spLocks noGrp="1"/>
          </p:cNvSpPr>
          <p:nvPr>
            <p:ph type="body"/>
          </p:nvPr>
        </p:nvSpPr>
        <p:spPr>
          <a:xfrm>
            <a:off x="36000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3" name="PlaceHolder 3"/>
          <p:cNvSpPr>
            <a:spLocks noGrp="1"/>
          </p:cNvSpPr>
          <p:nvPr>
            <p:ph type="body"/>
          </p:nvPr>
        </p:nvSpPr>
        <p:spPr>
          <a:xfrm>
            <a:off x="346392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4" name="PlaceHolder 4"/>
          <p:cNvSpPr>
            <a:spLocks noGrp="1"/>
          </p:cNvSpPr>
          <p:nvPr>
            <p:ph type="body"/>
          </p:nvPr>
        </p:nvSpPr>
        <p:spPr>
          <a:xfrm>
            <a:off x="656748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5" name="PlaceHolder 5"/>
          <p:cNvSpPr>
            <a:spLocks noGrp="1"/>
          </p:cNvSpPr>
          <p:nvPr>
            <p:ph type="body"/>
          </p:nvPr>
        </p:nvSpPr>
        <p:spPr>
          <a:xfrm>
            <a:off x="36000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6" name="PlaceHolder 6"/>
          <p:cNvSpPr>
            <a:spLocks noGrp="1"/>
          </p:cNvSpPr>
          <p:nvPr>
            <p:ph type="body"/>
          </p:nvPr>
        </p:nvSpPr>
        <p:spPr>
          <a:xfrm>
            <a:off x="346392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7" name="PlaceHolder 7"/>
          <p:cNvSpPr>
            <a:spLocks noGrp="1"/>
          </p:cNvSpPr>
          <p:nvPr>
            <p:ph type="body"/>
          </p:nvPr>
        </p:nvSpPr>
        <p:spPr>
          <a:xfrm>
            <a:off x="656748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260078" y="928028"/>
            <a:ext cx="7560469" cy="1974191"/>
          </a:xfrm>
        </p:spPr>
        <p:txBody>
          <a:bodyPr anchor="b"/>
          <a:lstStyle>
            <a:lvl1pPr algn="ctr">
              <a:defRPr sz="496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260078" y="2978352"/>
            <a:ext cx="7560469" cy="1369070"/>
          </a:xfrm>
        </p:spPr>
        <p:txBody>
          <a:bodyPr/>
          <a:lstStyle>
            <a:lvl1pPr marL="0" indent="0" algn="ctr">
              <a:buNone/>
              <a:defRPr sz="1984"/>
            </a:lvl1pPr>
            <a:lvl2pPr marL="378013" indent="0" algn="ctr">
              <a:buNone/>
              <a:defRPr sz="1654"/>
            </a:lvl2pPr>
            <a:lvl3pPr marL="756026" indent="0" algn="ctr">
              <a:buNone/>
              <a:defRPr sz="1488"/>
            </a:lvl3pPr>
            <a:lvl4pPr marL="1134039" indent="0" algn="ctr">
              <a:buNone/>
              <a:defRPr sz="1323"/>
            </a:lvl4pPr>
            <a:lvl5pPr marL="1512052" indent="0" algn="ctr">
              <a:buNone/>
              <a:defRPr sz="1323"/>
            </a:lvl5pPr>
            <a:lvl6pPr marL="1890065" indent="0" algn="ctr">
              <a:buNone/>
              <a:defRPr sz="1323"/>
            </a:lvl6pPr>
            <a:lvl7pPr marL="2268078" indent="0" algn="ctr">
              <a:buNone/>
              <a:defRPr sz="1323"/>
            </a:lvl7pPr>
            <a:lvl8pPr marL="2646091" indent="0" algn="ctr">
              <a:buNone/>
              <a:defRPr sz="1323"/>
            </a:lvl8pPr>
            <a:lvl9pPr marL="3024104" indent="0" algn="ctr">
              <a:buNone/>
              <a:defRPr sz="1323"/>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95913EFE-DD89-4199-84EC-1A2BF4298B83}" type="datetimeFigureOut">
              <a:rPr lang="es-PE" smtClean="0"/>
              <a:t>20/02/2026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80B5DCBB-2774-4FBE-AD60-4B47EB5C5E69}" type="slidenum">
              <a:rPr lang="es-PE" smtClean="0"/>
              <a:t>‹Nº›</a:t>
            </a:fld>
            <a:endParaRPr lang="es-PE"/>
          </a:p>
        </p:txBody>
      </p:sp>
      <p:pic>
        <p:nvPicPr>
          <p:cNvPr id="7" name="Imagen 6">
            <a:extLst>
              <a:ext uri="{FF2B5EF4-FFF2-40B4-BE49-F238E27FC236}">
                <a16:creationId xmlns:a16="http://schemas.microsoft.com/office/drawing/2014/main" id="{5AF296A3-A31F-5552-C5A4-6D1A34AA40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9516" y="-77582"/>
            <a:ext cx="10210141" cy="5748132"/>
          </a:xfrm>
          <a:prstGeom prst="rect">
            <a:avLst/>
          </a:prstGeom>
        </p:spPr>
      </p:pic>
    </p:spTree>
    <p:extLst>
      <p:ext uri="{BB962C8B-B14F-4D97-AF65-F5344CB8AC3E}">
        <p14:creationId xmlns:p14="http://schemas.microsoft.com/office/powerpoint/2010/main" val="32469220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5913EFE-DD89-4199-84EC-1A2BF4298B83}" type="datetimeFigureOut">
              <a:rPr lang="es-PE" smtClean="0"/>
              <a:t>20/02/2026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6744870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7793" y="1413700"/>
            <a:ext cx="8694539" cy="2358791"/>
          </a:xfrm>
        </p:spPr>
        <p:txBody>
          <a:bodyPr anchor="b"/>
          <a:lstStyle>
            <a:lvl1pPr>
              <a:defRPr sz="496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7793" y="3794807"/>
            <a:ext cx="8694539" cy="1240432"/>
          </a:xfrm>
        </p:spPr>
        <p:txBody>
          <a:bodyPr/>
          <a:lstStyle>
            <a:lvl1pPr marL="0" indent="0">
              <a:buNone/>
              <a:defRPr sz="1984">
                <a:solidFill>
                  <a:schemeClr val="tx1">
                    <a:tint val="75000"/>
                  </a:schemeClr>
                </a:solidFill>
              </a:defRPr>
            </a:lvl1pPr>
            <a:lvl2pPr marL="378013" indent="0">
              <a:buNone/>
              <a:defRPr sz="1654">
                <a:solidFill>
                  <a:schemeClr val="tx1">
                    <a:tint val="75000"/>
                  </a:schemeClr>
                </a:solidFill>
              </a:defRPr>
            </a:lvl2pPr>
            <a:lvl3pPr marL="756026" indent="0">
              <a:buNone/>
              <a:defRPr sz="1488">
                <a:solidFill>
                  <a:schemeClr val="tx1">
                    <a:tint val="75000"/>
                  </a:schemeClr>
                </a:solidFill>
              </a:defRPr>
            </a:lvl3pPr>
            <a:lvl4pPr marL="1134039" indent="0">
              <a:buNone/>
              <a:defRPr sz="1323">
                <a:solidFill>
                  <a:schemeClr val="tx1">
                    <a:tint val="75000"/>
                  </a:schemeClr>
                </a:solidFill>
              </a:defRPr>
            </a:lvl4pPr>
            <a:lvl5pPr marL="1512052" indent="0">
              <a:buNone/>
              <a:defRPr sz="1323">
                <a:solidFill>
                  <a:schemeClr val="tx1">
                    <a:tint val="75000"/>
                  </a:schemeClr>
                </a:solidFill>
              </a:defRPr>
            </a:lvl5pPr>
            <a:lvl6pPr marL="1890065" indent="0">
              <a:buNone/>
              <a:defRPr sz="1323">
                <a:solidFill>
                  <a:schemeClr val="tx1">
                    <a:tint val="75000"/>
                  </a:schemeClr>
                </a:solidFill>
              </a:defRPr>
            </a:lvl6pPr>
            <a:lvl7pPr marL="2268078" indent="0">
              <a:buNone/>
              <a:defRPr sz="1323">
                <a:solidFill>
                  <a:schemeClr val="tx1">
                    <a:tint val="75000"/>
                  </a:schemeClr>
                </a:solidFill>
              </a:defRPr>
            </a:lvl7pPr>
            <a:lvl8pPr marL="2646091" indent="0">
              <a:buNone/>
              <a:defRPr sz="1323">
                <a:solidFill>
                  <a:schemeClr val="tx1">
                    <a:tint val="75000"/>
                  </a:schemeClr>
                </a:solidFill>
              </a:defRPr>
            </a:lvl8pPr>
            <a:lvl9pPr marL="3024104" indent="0">
              <a:buNone/>
              <a:defRPr sz="132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5913EFE-DD89-4199-84EC-1A2BF4298B83}" type="datetimeFigureOut">
              <a:rPr lang="es-PE" smtClean="0"/>
              <a:t>20/02/2026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19118215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93043" y="1509521"/>
            <a:ext cx="4284266" cy="359791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103316" y="1509521"/>
            <a:ext cx="4284266" cy="359791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5913EFE-DD89-4199-84EC-1A2BF4298B83}" type="datetimeFigureOut">
              <a:rPr lang="es-PE" smtClean="0"/>
              <a:t>20/02/2026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40421161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94356" y="301905"/>
            <a:ext cx="8694539" cy="1096044"/>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94357" y="1390073"/>
            <a:ext cx="4264576" cy="681253"/>
          </a:xfrm>
        </p:spPr>
        <p:txBody>
          <a:bodyPr anchor="b"/>
          <a:lstStyle>
            <a:lvl1pPr marL="0" indent="0">
              <a:buNone/>
              <a:defRPr sz="1984" b="1"/>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s-ES"/>
              <a:t>Haga clic para modificar los estilos de texto del patrón</a:t>
            </a:r>
          </a:p>
        </p:txBody>
      </p:sp>
      <p:sp>
        <p:nvSpPr>
          <p:cNvPr id="4" name="Content Placeholder 3"/>
          <p:cNvSpPr>
            <a:spLocks noGrp="1"/>
          </p:cNvSpPr>
          <p:nvPr>
            <p:ph sz="half" idx="2"/>
          </p:nvPr>
        </p:nvSpPr>
        <p:spPr>
          <a:xfrm>
            <a:off x="694357" y="2071326"/>
            <a:ext cx="4264576" cy="304660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103316" y="1390073"/>
            <a:ext cx="4285579" cy="681253"/>
          </a:xfrm>
        </p:spPr>
        <p:txBody>
          <a:bodyPr anchor="b"/>
          <a:lstStyle>
            <a:lvl1pPr marL="0" indent="0">
              <a:buNone/>
              <a:defRPr sz="1984" b="1"/>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s-ES"/>
              <a:t>Haga clic para modificar los estilos de texto del patrón</a:t>
            </a:r>
          </a:p>
        </p:txBody>
      </p:sp>
      <p:sp>
        <p:nvSpPr>
          <p:cNvPr id="6" name="Content Placeholder 5"/>
          <p:cNvSpPr>
            <a:spLocks noGrp="1"/>
          </p:cNvSpPr>
          <p:nvPr>
            <p:ph sz="quarter" idx="4"/>
          </p:nvPr>
        </p:nvSpPr>
        <p:spPr>
          <a:xfrm>
            <a:off x="5103316" y="2071326"/>
            <a:ext cx="4285579" cy="304660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5913EFE-DD89-4199-84EC-1A2BF4298B83}" type="datetimeFigureOut">
              <a:rPr lang="es-PE" smtClean="0"/>
              <a:t>20/02/2026</a:t>
            </a:fld>
            <a:endParaRPr lang="es-PE"/>
          </a:p>
        </p:txBody>
      </p:sp>
      <p:sp>
        <p:nvSpPr>
          <p:cNvPr id="8" name="Footer Placeholder 7"/>
          <p:cNvSpPr>
            <a:spLocks noGrp="1"/>
          </p:cNvSpPr>
          <p:nvPr>
            <p:ph type="ftr" sz="quarter" idx="11"/>
          </p:nvPr>
        </p:nvSpPr>
        <p:spPr/>
        <p:txBody>
          <a:bodyPr/>
          <a:lstStyle/>
          <a:p>
            <a:endParaRPr lang="es-PE"/>
          </a:p>
        </p:txBody>
      </p:sp>
      <p:sp>
        <p:nvSpPr>
          <p:cNvPr id="9" name="Slide Number Placeholder 8"/>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3178980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95913EFE-DD89-4199-84EC-1A2BF4298B83}" type="datetimeFigureOut">
              <a:rPr lang="es-PE" smtClean="0"/>
              <a:t>20/02/2026</a:t>
            </a:fld>
            <a:endParaRPr lang="es-PE"/>
          </a:p>
        </p:txBody>
      </p:sp>
      <p:sp>
        <p:nvSpPr>
          <p:cNvPr id="4" name="Footer Placeholder 3"/>
          <p:cNvSpPr>
            <a:spLocks noGrp="1"/>
          </p:cNvSpPr>
          <p:nvPr>
            <p:ph type="ftr" sz="quarter" idx="11"/>
          </p:nvPr>
        </p:nvSpPr>
        <p:spPr/>
        <p:txBody>
          <a:bodyPr/>
          <a:lstStyle/>
          <a:p>
            <a:endParaRPr lang="es-PE"/>
          </a:p>
        </p:txBody>
      </p:sp>
      <p:sp>
        <p:nvSpPr>
          <p:cNvPr id="5" name="Slide Number Placeholder 4"/>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22263729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913EFE-DD89-4199-84EC-1A2BF4298B83}" type="datetimeFigureOut">
              <a:rPr lang="es-PE" smtClean="0"/>
              <a:t>20/02/2026</a:t>
            </a:fld>
            <a:endParaRPr lang="es-PE"/>
          </a:p>
        </p:txBody>
      </p:sp>
      <p:sp>
        <p:nvSpPr>
          <p:cNvPr id="3" name="Footer Placeholder 2"/>
          <p:cNvSpPr>
            <a:spLocks noGrp="1"/>
          </p:cNvSpPr>
          <p:nvPr>
            <p:ph type="ftr" sz="quarter" idx="11"/>
          </p:nvPr>
        </p:nvSpPr>
        <p:spPr/>
        <p:txBody>
          <a:bodyPr/>
          <a:lstStyle/>
          <a:p>
            <a:endParaRPr lang="es-PE"/>
          </a:p>
        </p:txBody>
      </p:sp>
      <p:sp>
        <p:nvSpPr>
          <p:cNvPr id="4" name="Slide Number Placeholder 3"/>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2022615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94356" y="378037"/>
            <a:ext cx="3251264" cy="1323128"/>
          </a:xfrm>
        </p:spPr>
        <p:txBody>
          <a:bodyPr anchor="b"/>
          <a:lstStyle>
            <a:lvl1pPr>
              <a:defRPr sz="2646"/>
            </a:lvl1pPr>
          </a:lstStyle>
          <a:p>
            <a:r>
              <a:rPr lang="es-ES"/>
              <a:t>Haga clic para modificar el estilo de título del patrón</a:t>
            </a:r>
            <a:endParaRPr lang="en-US" dirty="0"/>
          </a:p>
        </p:txBody>
      </p:sp>
      <p:sp>
        <p:nvSpPr>
          <p:cNvPr id="3" name="Content Placeholder 2"/>
          <p:cNvSpPr>
            <a:spLocks noGrp="1"/>
          </p:cNvSpPr>
          <p:nvPr>
            <p:ph idx="1"/>
          </p:nvPr>
        </p:nvSpPr>
        <p:spPr>
          <a:xfrm>
            <a:off x="4285579" y="816455"/>
            <a:ext cx="5103316" cy="4029766"/>
          </a:xfrm>
        </p:spPr>
        <p:txBody>
          <a:bodyPr/>
          <a:lstStyle>
            <a:lvl1pPr>
              <a:defRPr sz="2646"/>
            </a:lvl1pPr>
            <a:lvl2pPr>
              <a:defRPr sz="2315"/>
            </a:lvl2pPr>
            <a:lvl3pPr>
              <a:defRPr sz="1984"/>
            </a:lvl3pPr>
            <a:lvl4pPr>
              <a:defRPr sz="1654"/>
            </a:lvl4pPr>
            <a:lvl5pPr>
              <a:defRPr sz="1654"/>
            </a:lvl5pPr>
            <a:lvl6pPr>
              <a:defRPr sz="1654"/>
            </a:lvl6pPr>
            <a:lvl7pPr>
              <a:defRPr sz="1654"/>
            </a:lvl7pPr>
            <a:lvl8pPr>
              <a:defRPr sz="1654"/>
            </a:lvl8pPr>
            <a:lvl9pPr>
              <a:defRPr sz="1654"/>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94356" y="1701165"/>
            <a:ext cx="3251264" cy="3151619"/>
          </a:xfrm>
        </p:spPr>
        <p:txBody>
          <a:bodyPr/>
          <a:lstStyle>
            <a:lvl1pPr marL="0" indent="0">
              <a:buNone/>
              <a:defRPr sz="1323"/>
            </a:lvl1pPr>
            <a:lvl2pPr marL="378013" indent="0">
              <a:buNone/>
              <a:defRPr sz="1158"/>
            </a:lvl2pPr>
            <a:lvl3pPr marL="756026" indent="0">
              <a:buNone/>
              <a:defRPr sz="992"/>
            </a:lvl3pPr>
            <a:lvl4pPr marL="1134039" indent="0">
              <a:buNone/>
              <a:defRPr sz="827"/>
            </a:lvl4pPr>
            <a:lvl5pPr marL="1512052" indent="0">
              <a:buNone/>
              <a:defRPr sz="827"/>
            </a:lvl5pPr>
            <a:lvl6pPr marL="1890065" indent="0">
              <a:buNone/>
              <a:defRPr sz="827"/>
            </a:lvl6pPr>
            <a:lvl7pPr marL="2268078" indent="0">
              <a:buNone/>
              <a:defRPr sz="827"/>
            </a:lvl7pPr>
            <a:lvl8pPr marL="2646091" indent="0">
              <a:buNone/>
              <a:defRPr sz="827"/>
            </a:lvl8pPr>
            <a:lvl9pPr marL="3024104" indent="0">
              <a:buNone/>
              <a:defRPr sz="827"/>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5913EFE-DD89-4199-84EC-1A2BF4298B83}" type="datetimeFigureOut">
              <a:rPr lang="es-PE" smtClean="0"/>
              <a:t>20/02/2026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1291693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94356" y="378037"/>
            <a:ext cx="3251264" cy="1323128"/>
          </a:xfrm>
        </p:spPr>
        <p:txBody>
          <a:bodyPr anchor="b"/>
          <a:lstStyle>
            <a:lvl1pPr>
              <a:defRPr sz="2646"/>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285579" y="816455"/>
            <a:ext cx="5103316" cy="4029766"/>
          </a:xfrm>
        </p:spPr>
        <p:txBody>
          <a:bodyPr anchor="t"/>
          <a:lstStyle>
            <a:lvl1pPr marL="0" indent="0">
              <a:buNone/>
              <a:defRPr sz="2646"/>
            </a:lvl1pPr>
            <a:lvl2pPr marL="378013" indent="0">
              <a:buNone/>
              <a:defRPr sz="2315"/>
            </a:lvl2pPr>
            <a:lvl3pPr marL="756026" indent="0">
              <a:buNone/>
              <a:defRPr sz="1984"/>
            </a:lvl3pPr>
            <a:lvl4pPr marL="1134039" indent="0">
              <a:buNone/>
              <a:defRPr sz="1654"/>
            </a:lvl4pPr>
            <a:lvl5pPr marL="1512052" indent="0">
              <a:buNone/>
              <a:defRPr sz="1654"/>
            </a:lvl5pPr>
            <a:lvl6pPr marL="1890065" indent="0">
              <a:buNone/>
              <a:defRPr sz="1654"/>
            </a:lvl6pPr>
            <a:lvl7pPr marL="2268078" indent="0">
              <a:buNone/>
              <a:defRPr sz="1654"/>
            </a:lvl7pPr>
            <a:lvl8pPr marL="2646091" indent="0">
              <a:buNone/>
              <a:defRPr sz="1654"/>
            </a:lvl8pPr>
            <a:lvl9pPr marL="3024104" indent="0">
              <a:buNone/>
              <a:defRPr sz="1654"/>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94356" y="1701165"/>
            <a:ext cx="3251264" cy="3151619"/>
          </a:xfrm>
        </p:spPr>
        <p:txBody>
          <a:bodyPr/>
          <a:lstStyle>
            <a:lvl1pPr marL="0" indent="0">
              <a:buNone/>
              <a:defRPr sz="1323"/>
            </a:lvl1pPr>
            <a:lvl2pPr marL="378013" indent="0">
              <a:buNone/>
              <a:defRPr sz="1158"/>
            </a:lvl2pPr>
            <a:lvl3pPr marL="756026" indent="0">
              <a:buNone/>
              <a:defRPr sz="992"/>
            </a:lvl3pPr>
            <a:lvl4pPr marL="1134039" indent="0">
              <a:buNone/>
              <a:defRPr sz="827"/>
            </a:lvl4pPr>
            <a:lvl5pPr marL="1512052" indent="0">
              <a:buNone/>
              <a:defRPr sz="827"/>
            </a:lvl5pPr>
            <a:lvl6pPr marL="1890065" indent="0">
              <a:buNone/>
              <a:defRPr sz="827"/>
            </a:lvl6pPr>
            <a:lvl7pPr marL="2268078" indent="0">
              <a:buNone/>
              <a:defRPr sz="827"/>
            </a:lvl7pPr>
            <a:lvl8pPr marL="2646091" indent="0">
              <a:buNone/>
              <a:defRPr sz="827"/>
            </a:lvl8pPr>
            <a:lvl9pPr marL="3024104" indent="0">
              <a:buNone/>
              <a:defRPr sz="827"/>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5913EFE-DD89-4199-84EC-1A2BF4298B83}" type="datetimeFigureOut">
              <a:rPr lang="es-PE" smtClean="0"/>
              <a:t>20/02/2026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33738087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5913EFE-DD89-4199-84EC-1A2BF4298B83}" type="datetimeFigureOut">
              <a:rPr lang="es-PE" smtClean="0"/>
              <a:t>20/02/2026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11178966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13947" y="301904"/>
            <a:ext cx="2173635" cy="4805529"/>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93043" y="301904"/>
            <a:ext cx="6394896" cy="480552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5913EFE-DD89-4199-84EC-1A2BF4298B83}" type="datetimeFigureOut">
              <a:rPr lang="es-PE" smtClean="0"/>
              <a:t>20/02/2026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3292203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CustomShape 1"/>
          <p:cNvSpPr/>
          <p:nvPr/>
        </p:nvSpPr>
        <p:spPr>
          <a:xfrm>
            <a:off x="0" y="180000"/>
            <a:ext cx="9720000" cy="900000"/>
          </a:xfrm>
          <a:prstGeom prst="rect">
            <a:avLst/>
          </a:prstGeom>
          <a:solidFill>
            <a:srgbClr val="C9211E"/>
          </a:solidFill>
          <a:ln w="18000">
            <a:noFill/>
          </a:ln>
        </p:spPr>
        <p:style>
          <a:lnRef idx="0">
            <a:scrgbClr r="0" g="0" b="0"/>
          </a:lnRef>
          <a:fillRef idx="0">
            <a:scrgbClr r="0" g="0" b="0"/>
          </a:fillRef>
          <a:effectRef idx="0">
            <a:scrgbClr r="0" g="0" b="0"/>
          </a:effectRef>
          <a:fontRef idx="minor"/>
        </p:style>
        <p:txBody>
          <a:bodyPr/>
          <a:lstStyle/>
          <a:p>
            <a:endParaRPr lang="es-PE"/>
          </a:p>
        </p:txBody>
      </p:sp>
      <p:sp>
        <p:nvSpPr>
          <p:cNvPr id="11" name="CustomShape 2"/>
          <p:cNvSpPr/>
          <p:nvPr/>
        </p:nvSpPr>
        <p:spPr>
          <a:xfrm>
            <a:off x="7560000" y="5130000"/>
            <a:ext cx="252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txBody>
          <a:bodyPr/>
          <a:lstStyle/>
          <a:p>
            <a:endParaRPr lang="es-PE"/>
          </a:p>
        </p:txBody>
      </p:sp>
      <p:sp>
        <p:nvSpPr>
          <p:cNvPr id="2" name="CustomShape 3"/>
          <p:cNvSpPr/>
          <p:nvPr/>
        </p:nvSpPr>
        <p:spPr>
          <a:xfrm>
            <a:off x="900000" y="5130000"/>
            <a:ext cx="6480000" cy="405000"/>
          </a:xfrm>
          <a:prstGeom prst="rect">
            <a:avLst/>
          </a:prstGeom>
          <a:solidFill>
            <a:srgbClr val="B2B2B2"/>
          </a:solidFill>
          <a:ln w="0">
            <a:solidFill>
              <a:srgbClr val="808080"/>
            </a:solidFill>
          </a:ln>
        </p:spPr>
        <p:style>
          <a:lnRef idx="0">
            <a:scrgbClr r="0" g="0" b="0"/>
          </a:lnRef>
          <a:fillRef idx="0">
            <a:scrgbClr r="0" g="0" b="0"/>
          </a:fillRef>
          <a:effectRef idx="0">
            <a:scrgbClr r="0" g="0" b="0"/>
          </a:effectRef>
          <a:fontRef idx="minor"/>
        </p:style>
        <p:txBody>
          <a:bodyPr/>
          <a:lstStyle/>
          <a:p>
            <a:endParaRPr lang="es-PE"/>
          </a:p>
        </p:txBody>
      </p:sp>
      <p:sp>
        <p:nvSpPr>
          <p:cNvPr id="3" name="CustomShape 4"/>
          <p:cNvSpPr/>
          <p:nvPr/>
        </p:nvSpPr>
        <p:spPr>
          <a:xfrm>
            <a:off x="180000" y="5130000"/>
            <a:ext cx="540000" cy="405000"/>
          </a:xfrm>
          <a:prstGeom prst="rect">
            <a:avLst/>
          </a:prstGeom>
          <a:noFill/>
          <a:ln w="72000">
            <a:noFill/>
          </a:ln>
        </p:spPr>
        <p:style>
          <a:lnRef idx="0">
            <a:scrgbClr r="0" g="0" b="0"/>
          </a:lnRef>
          <a:fillRef idx="0">
            <a:scrgbClr r="0" g="0" b="0"/>
          </a:fillRef>
          <a:effectRef idx="0">
            <a:scrgbClr r="0" g="0" b="0"/>
          </a:effectRef>
          <a:fontRef idx="minor"/>
        </p:style>
        <p:txBody>
          <a:bodyPr/>
          <a:lstStyle/>
          <a:p>
            <a:endParaRPr lang="es-PE"/>
          </a:p>
        </p:txBody>
      </p:sp>
      <p:sp>
        <p:nvSpPr>
          <p:cNvPr id="4" name="PlaceHolder 5"/>
          <p:cNvSpPr>
            <a:spLocks noGrp="1"/>
          </p:cNvSpPr>
          <p:nvPr>
            <p:ph type="title"/>
          </p:nvPr>
        </p:nvSpPr>
        <p:spPr>
          <a:xfrm>
            <a:off x="360000" y="270000"/>
            <a:ext cx="9360000" cy="720000"/>
          </a:xfrm>
          <a:prstGeom prst="rect">
            <a:avLst/>
          </a:prstGeom>
        </p:spPr>
        <p:txBody>
          <a:bodyPr lIns="0" tIns="0" rIns="0" bIns="0" anchor="b">
            <a:noAutofit/>
          </a:bodyPr>
          <a:lstStyle/>
          <a:p>
            <a:r>
              <a:rPr lang="es-PE" sz="2400" b="1" strike="noStrike" spc="-1">
                <a:solidFill>
                  <a:srgbClr val="FFFFFF"/>
                </a:solidFill>
                <a:latin typeface="Source Sans Pro Black"/>
              </a:rPr>
              <a:t>Pulse para editar el formato del texto de título</a:t>
            </a:r>
          </a:p>
        </p:txBody>
      </p:sp>
      <p:sp>
        <p:nvSpPr>
          <p:cNvPr id="5" name="PlaceHolder 6"/>
          <p:cNvSpPr>
            <a:spLocks noGrp="1"/>
          </p:cNvSpPr>
          <p:nvPr>
            <p:ph type="body"/>
          </p:nvPr>
        </p:nvSpPr>
        <p:spPr>
          <a:xfrm>
            <a:off x="360000" y="1350000"/>
            <a:ext cx="9180000" cy="3510000"/>
          </a:xfrm>
          <a:prstGeom prst="rect">
            <a:avLst/>
          </a:prstGeom>
        </p:spPr>
        <p:txBody>
          <a:bodyPr lIns="0" tIns="0" rIns="0" bIns="0">
            <a:normAutofit/>
          </a:bodyPr>
          <a:lstStyle/>
          <a:p>
            <a:pPr>
              <a:spcAft>
                <a:spcPts val="853"/>
              </a:spcAft>
            </a:pPr>
            <a:r>
              <a:rPr lang="es-PE" sz="1950" b="1" strike="noStrike" spc="-1">
                <a:solidFill>
                  <a:srgbClr val="1C1C1C"/>
                </a:solidFill>
                <a:latin typeface="Source Sans Pro Semibold"/>
              </a:rPr>
              <a:t>Pulse para editar el formato de texto del esquema</a:t>
            </a:r>
          </a:p>
          <a:p>
            <a:pPr marL="288000" lvl="1">
              <a:spcAft>
                <a:spcPts val="848"/>
              </a:spcAft>
            </a:pPr>
            <a:r>
              <a:rPr lang="es-PE" sz="1650" b="0" strike="noStrike" spc="-1">
                <a:solidFill>
                  <a:srgbClr val="1C1C1C"/>
                </a:solidFill>
                <a:latin typeface="Source Sans Pro Light"/>
              </a:rPr>
              <a:t>Segundo nivel del esquema</a:t>
            </a:r>
          </a:p>
          <a:p>
            <a:pPr marL="576000" lvl="2">
              <a:spcAft>
                <a:spcPts val="635"/>
              </a:spcAft>
            </a:pPr>
            <a:r>
              <a:rPr lang="es-PE" sz="1350" b="0" strike="noStrike" spc="-1">
                <a:solidFill>
                  <a:srgbClr val="1C1C1C"/>
                </a:solidFill>
                <a:latin typeface="Source Sans Pro Light"/>
              </a:rPr>
              <a:t>Tercer nivel del esquema</a:t>
            </a:r>
          </a:p>
          <a:p>
            <a:pPr marL="864000" lvl="3">
              <a:spcAft>
                <a:spcPts val="425"/>
              </a:spcAft>
            </a:pPr>
            <a:r>
              <a:rPr lang="es-PE" sz="1200" b="0" strike="noStrike" spc="-1">
                <a:solidFill>
                  <a:srgbClr val="1C1C1C"/>
                </a:solidFill>
                <a:latin typeface="Source Sans Pro Light"/>
              </a:rPr>
              <a:t>Cuarto nivel del esquema</a:t>
            </a:r>
          </a:p>
          <a:p>
            <a:pPr marL="1152000" lvl="4">
              <a:spcAft>
                <a:spcPts val="213"/>
              </a:spcAft>
            </a:pPr>
            <a:r>
              <a:rPr lang="es-PE" sz="1200" b="0" strike="noStrike" spc="-1">
                <a:solidFill>
                  <a:srgbClr val="1C1C1C"/>
                </a:solidFill>
                <a:latin typeface="Source Sans Pro Light"/>
              </a:rPr>
              <a:t>Quinto nivel del esquema</a:t>
            </a:r>
          </a:p>
          <a:p>
            <a:pPr marL="1440000" lvl="5">
              <a:spcAft>
                <a:spcPts val="213"/>
              </a:spcAft>
            </a:pPr>
            <a:r>
              <a:rPr lang="es-PE" sz="1200" b="0" strike="noStrike" spc="-1">
                <a:solidFill>
                  <a:srgbClr val="1C1C1C"/>
                </a:solidFill>
                <a:latin typeface="Source Sans Pro Light"/>
              </a:rPr>
              <a:t>Sexto nivel del esquema</a:t>
            </a:r>
          </a:p>
          <a:p>
            <a:pPr marL="1728000" lvl="6">
              <a:spcAft>
                <a:spcPts val="213"/>
              </a:spcAft>
            </a:pPr>
            <a:r>
              <a:rPr lang="es-PE" sz="1200" b="0" strike="noStrike" spc="-1">
                <a:solidFill>
                  <a:srgbClr val="1C1C1C"/>
                </a:solidFill>
                <a:latin typeface="Source Sans Pro Light"/>
              </a:rPr>
              <a:t>Séptimo nivel del esquema</a:t>
            </a:r>
          </a:p>
        </p:txBody>
      </p:sp>
      <p:sp>
        <p:nvSpPr>
          <p:cNvPr id="6" name="CustomShape 7"/>
          <p:cNvSpPr/>
          <p:nvPr/>
        </p:nvSpPr>
        <p:spPr>
          <a:xfrm>
            <a:off x="180000" y="5130000"/>
            <a:ext cx="54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txBody>
          <a:bodyPr/>
          <a:lstStyle/>
          <a:p>
            <a:endParaRPr lang="es-PE"/>
          </a:p>
        </p:txBody>
      </p:sp>
      <p:sp>
        <p:nvSpPr>
          <p:cNvPr id="7" name="PlaceHolder 8"/>
          <p:cNvSpPr>
            <a:spLocks noGrp="1"/>
          </p:cNvSpPr>
          <p:nvPr>
            <p:ph type="sldNum"/>
          </p:nvPr>
        </p:nvSpPr>
        <p:spPr>
          <a:xfrm>
            <a:off x="-180000" y="5130000"/>
            <a:ext cx="1260000" cy="405000"/>
          </a:xfrm>
          <a:prstGeom prst="rect">
            <a:avLst/>
          </a:prstGeom>
        </p:spPr>
        <p:txBody>
          <a:bodyPr lIns="0" tIns="0" rIns="0" bIns="0" anchor="ctr">
            <a:noAutofit/>
          </a:bodyPr>
          <a:lstStyle/>
          <a:p>
            <a:pPr algn="ctr"/>
            <a:fld id="{12CBBC77-FF04-4709-A253-AA514A11DE34}" type="slidenum">
              <a:rPr lang="es-PE" sz="1800" b="1" strike="noStrike" spc="-1">
                <a:solidFill>
                  <a:srgbClr val="FFFFFF"/>
                </a:solidFill>
                <a:latin typeface="Source Sans Pro Black"/>
              </a:rPr>
              <a:t>‹Nº›</a:t>
            </a:fld>
            <a:endParaRPr lang="es-PE" sz="1800" b="1" strike="noStrike" spc="-1">
              <a:solidFill>
                <a:srgbClr val="FFFFFF"/>
              </a:solidFill>
              <a:latin typeface="Source Sans Pro Black"/>
            </a:endParaRPr>
          </a:p>
        </p:txBody>
      </p:sp>
      <p:sp>
        <p:nvSpPr>
          <p:cNvPr id="8" name="PlaceHolder 9"/>
          <p:cNvSpPr>
            <a:spLocks noGrp="1"/>
          </p:cNvSpPr>
          <p:nvPr>
            <p:ph type="ftr"/>
          </p:nvPr>
        </p:nvSpPr>
        <p:spPr>
          <a:xfrm>
            <a:off x="900000" y="5130000"/>
            <a:ext cx="6480000" cy="405000"/>
          </a:xfrm>
          <a:prstGeom prst="rect">
            <a:avLst/>
          </a:prstGeom>
        </p:spPr>
        <p:txBody>
          <a:bodyPr lIns="0" tIns="0" rIns="0" bIns="0" anchor="ctr">
            <a:noAutofit/>
          </a:bodyPr>
          <a:lstStyle/>
          <a:p>
            <a:pPr algn="ctr"/>
            <a:r>
              <a:rPr lang="es-PE" sz="1800" b="1" strike="noStrike" spc="-1">
                <a:solidFill>
                  <a:srgbClr val="FFFFFF"/>
                </a:solidFill>
                <a:latin typeface="Source Sans Pro Black"/>
              </a:rPr>
              <a:t>&lt;pie de página&gt;</a:t>
            </a:r>
          </a:p>
        </p:txBody>
      </p:sp>
      <p:sp>
        <p:nvSpPr>
          <p:cNvPr id="9" name="PlaceHolder 10"/>
          <p:cNvSpPr>
            <a:spLocks noGrp="1"/>
          </p:cNvSpPr>
          <p:nvPr>
            <p:ph type="dt"/>
          </p:nvPr>
        </p:nvSpPr>
        <p:spPr>
          <a:xfrm>
            <a:off x="7560000" y="5130000"/>
            <a:ext cx="2340000" cy="391320"/>
          </a:xfrm>
          <a:prstGeom prst="rect">
            <a:avLst/>
          </a:prstGeom>
        </p:spPr>
        <p:txBody>
          <a:bodyPr lIns="0" tIns="0" rIns="0" bIns="0" anchor="ctr">
            <a:noAutofit/>
          </a:bodyPr>
          <a:lstStyle/>
          <a:p>
            <a:pPr algn="r"/>
            <a:r>
              <a:rPr lang="es-PE" sz="1800" b="1" strike="noStrike" spc="-1">
                <a:solidFill>
                  <a:srgbClr val="FFFFFF"/>
                </a:solidFill>
                <a:latin typeface="Source Sans Pro Black"/>
              </a:rPr>
              <a:t>&lt;fecha/hora&gt;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74" r:id="rId13"/>
    <p:sldLayoutId id="2147483701"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 name="CustomShape 1"/>
          <p:cNvSpPr/>
          <p:nvPr/>
        </p:nvSpPr>
        <p:spPr>
          <a:xfrm>
            <a:off x="0" y="1980000"/>
            <a:ext cx="9720000" cy="990000"/>
          </a:xfrm>
          <a:prstGeom prst="rect">
            <a:avLst/>
          </a:prstGeom>
          <a:solidFill>
            <a:srgbClr val="C9211E"/>
          </a:solidFill>
          <a:ln w="18000">
            <a:noFill/>
          </a:ln>
        </p:spPr>
        <p:style>
          <a:lnRef idx="0">
            <a:scrgbClr r="0" g="0" b="0"/>
          </a:lnRef>
          <a:fillRef idx="0">
            <a:scrgbClr r="0" g="0" b="0"/>
          </a:fillRef>
          <a:effectRef idx="0">
            <a:scrgbClr r="0" g="0" b="0"/>
          </a:effectRef>
          <a:fontRef idx="minor"/>
        </p:style>
        <p:txBody>
          <a:bodyPr/>
          <a:lstStyle/>
          <a:p>
            <a:endParaRPr lang="es-PE"/>
          </a:p>
        </p:txBody>
      </p:sp>
      <p:sp>
        <p:nvSpPr>
          <p:cNvPr id="47" name="PlaceHolder 2"/>
          <p:cNvSpPr>
            <a:spLocks noGrp="1"/>
          </p:cNvSpPr>
          <p:nvPr>
            <p:ph type="title"/>
          </p:nvPr>
        </p:nvSpPr>
        <p:spPr>
          <a:xfrm>
            <a:off x="360000" y="2160000"/>
            <a:ext cx="9180000" cy="720000"/>
          </a:xfrm>
          <a:prstGeom prst="rect">
            <a:avLst/>
          </a:prstGeom>
        </p:spPr>
        <p:txBody>
          <a:bodyPr lIns="0" tIns="0" rIns="0" bIns="0" anchor="b">
            <a:noAutofit/>
          </a:bodyPr>
          <a:lstStyle/>
          <a:p>
            <a:r>
              <a:rPr lang="es-PE" sz="2400" b="1" strike="noStrike" spc="-1">
                <a:solidFill>
                  <a:srgbClr val="FFFFFF"/>
                </a:solidFill>
                <a:latin typeface="Source Sans Pro Black"/>
              </a:rPr>
              <a:t>Pulse para editar el formato del texto de título</a:t>
            </a:r>
          </a:p>
        </p:txBody>
      </p:sp>
      <p:sp>
        <p:nvSpPr>
          <p:cNvPr id="48" name="PlaceHolder 3"/>
          <p:cNvSpPr>
            <a:spLocks noGrp="1"/>
          </p:cNvSpPr>
          <p:nvPr>
            <p:ph type="body"/>
          </p:nvPr>
        </p:nvSpPr>
        <p:spPr>
          <a:xfrm>
            <a:off x="540000" y="3150000"/>
            <a:ext cx="9000000" cy="1890000"/>
          </a:xfrm>
          <a:prstGeom prst="rect">
            <a:avLst/>
          </a:prstGeom>
        </p:spPr>
        <p:txBody>
          <a:bodyPr lIns="0" tIns="0" rIns="0" bIns="0">
            <a:normAutofit/>
          </a:bodyPr>
          <a:lstStyle/>
          <a:p>
            <a:pPr>
              <a:spcAft>
                <a:spcPts val="853"/>
              </a:spcAft>
            </a:pPr>
            <a:r>
              <a:rPr lang="es-PE" sz="1950" b="1" strike="noStrike" spc="-1">
                <a:solidFill>
                  <a:srgbClr val="1C1C1C"/>
                </a:solidFill>
                <a:latin typeface="Source Sans Pro Semibold"/>
              </a:rPr>
              <a:t>Pulse para editar el formato de texto del esquema</a:t>
            </a:r>
          </a:p>
          <a:p>
            <a:pPr marL="288000" lvl="1">
              <a:spcAft>
                <a:spcPts val="848"/>
              </a:spcAft>
            </a:pPr>
            <a:r>
              <a:rPr lang="es-PE" sz="1650" b="0" strike="noStrike" spc="-1">
                <a:solidFill>
                  <a:srgbClr val="1C1C1C"/>
                </a:solidFill>
                <a:latin typeface="Source Sans Pro Light"/>
              </a:rPr>
              <a:t>Segundo nivel del esquema</a:t>
            </a:r>
          </a:p>
          <a:p>
            <a:pPr marL="576000" lvl="2">
              <a:spcAft>
                <a:spcPts val="635"/>
              </a:spcAft>
            </a:pPr>
            <a:r>
              <a:rPr lang="es-PE" sz="1350" b="0" strike="noStrike" spc="-1">
                <a:solidFill>
                  <a:srgbClr val="1C1C1C"/>
                </a:solidFill>
                <a:latin typeface="Source Sans Pro Light"/>
              </a:rPr>
              <a:t>Tercer nivel del esquema</a:t>
            </a:r>
          </a:p>
          <a:p>
            <a:pPr marL="864000" lvl="3">
              <a:spcAft>
                <a:spcPts val="425"/>
              </a:spcAft>
            </a:pPr>
            <a:r>
              <a:rPr lang="es-PE" sz="1200" b="0" strike="noStrike" spc="-1">
                <a:solidFill>
                  <a:srgbClr val="1C1C1C"/>
                </a:solidFill>
                <a:latin typeface="Source Sans Pro Light"/>
              </a:rPr>
              <a:t>Cuarto nivel del esquema</a:t>
            </a:r>
          </a:p>
          <a:p>
            <a:pPr marL="1152000" lvl="4">
              <a:spcAft>
                <a:spcPts val="213"/>
              </a:spcAft>
            </a:pPr>
            <a:r>
              <a:rPr lang="es-PE" sz="1200" b="0" strike="noStrike" spc="-1">
                <a:solidFill>
                  <a:srgbClr val="1C1C1C"/>
                </a:solidFill>
                <a:latin typeface="Source Sans Pro Light"/>
              </a:rPr>
              <a:t>Quinto nivel del esquema</a:t>
            </a:r>
          </a:p>
          <a:p>
            <a:pPr marL="1440000" lvl="5">
              <a:spcAft>
                <a:spcPts val="213"/>
              </a:spcAft>
            </a:pPr>
            <a:r>
              <a:rPr lang="es-PE" sz="1200" b="0" strike="noStrike" spc="-1">
                <a:solidFill>
                  <a:srgbClr val="1C1C1C"/>
                </a:solidFill>
                <a:latin typeface="Source Sans Pro Light"/>
              </a:rPr>
              <a:t>Sexto nivel del esquema</a:t>
            </a:r>
          </a:p>
          <a:p>
            <a:pPr marL="1728000" lvl="6">
              <a:spcAft>
                <a:spcPts val="213"/>
              </a:spcAft>
            </a:pPr>
            <a:r>
              <a:rPr lang="es-PE" sz="1200" b="0" strike="noStrike" spc="-1">
                <a:solidFill>
                  <a:srgbClr val="1C1C1C"/>
                </a:solidFill>
                <a:latin typeface="Source Sans Pro Light"/>
              </a:rPr>
              <a:t>Séptimo nivel del esquema</a:t>
            </a:r>
          </a:p>
        </p:txBody>
      </p:sp>
      <p:sp>
        <p:nvSpPr>
          <p:cNvPr id="49" name="PlaceHolder 4"/>
          <p:cNvSpPr>
            <a:spLocks noGrp="1"/>
          </p:cNvSpPr>
          <p:nvPr>
            <p:ph type="dt"/>
          </p:nvPr>
        </p:nvSpPr>
        <p:spPr>
          <a:xfrm>
            <a:off x="7560000" y="5130000"/>
            <a:ext cx="2340000" cy="405000"/>
          </a:xfrm>
          <a:prstGeom prst="rect">
            <a:avLst/>
          </a:prstGeom>
        </p:spPr>
        <p:txBody>
          <a:bodyPr lIns="0" tIns="0" rIns="0" bIns="0" anchor="ctr">
            <a:noAutofit/>
          </a:bodyPr>
          <a:lstStyle/>
          <a:p>
            <a:r>
              <a:rPr lang="es-PE" sz="1800" b="1" strike="noStrike" spc="-1">
                <a:solidFill>
                  <a:srgbClr val="C9211E"/>
                </a:solidFill>
                <a:latin typeface="Source Sans Pro Black"/>
              </a:rPr>
              <a:t>&lt;fecha/hora&gt;</a:t>
            </a:r>
          </a:p>
        </p:txBody>
      </p:sp>
      <p:sp>
        <p:nvSpPr>
          <p:cNvPr id="50" name="PlaceHolder 5"/>
          <p:cNvSpPr>
            <a:spLocks noGrp="1"/>
          </p:cNvSpPr>
          <p:nvPr>
            <p:ph type="ftr"/>
          </p:nvPr>
        </p:nvSpPr>
        <p:spPr>
          <a:xfrm>
            <a:off x="1080000" y="5130000"/>
            <a:ext cx="3240000" cy="405000"/>
          </a:xfrm>
          <a:prstGeom prst="rect">
            <a:avLst/>
          </a:prstGeom>
        </p:spPr>
        <p:txBody>
          <a:bodyPr lIns="0" tIns="0" rIns="0" bIns="0" anchor="ctr">
            <a:noAutofit/>
          </a:bodyPr>
          <a:lstStyle/>
          <a:p>
            <a:pPr algn="ctr"/>
            <a:r>
              <a:rPr lang="es-PE" sz="1800" b="1" strike="noStrike" spc="-1">
                <a:solidFill>
                  <a:srgbClr val="C9211E"/>
                </a:solidFill>
                <a:latin typeface="Source Sans Pro Black"/>
              </a:rPr>
              <a:t>&lt;pie de página&gt;</a:t>
            </a:r>
          </a:p>
        </p:txBody>
      </p:sp>
      <p:sp>
        <p:nvSpPr>
          <p:cNvPr id="51" name="PlaceHolder 6"/>
          <p:cNvSpPr>
            <a:spLocks noGrp="1"/>
          </p:cNvSpPr>
          <p:nvPr>
            <p:ph type="sldNum"/>
          </p:nvPr>
        </p:nvSpPr>
        <p:spPr>
          <a:xfrm>
            <a:off x="180000" y="5130000"/>
            <a:ext cx="540000" cy="405000"/>
          </a:xfrm>
          <a:prstGeom prst="rect">
            <a:avLst/>
          </a:prstGeom>
        </p:spPr>
        <p:txBody>
          <a:bodyPr lIns="0" tIns="0" rIns="0" bIns="0">
            <a:noAutofit/>
          </a:bodyPr>
          <a:lstStyle/>
          <a:p>
            <a:pPr algn="r"/>
            <a:fld id="{9F59E93B-9041-4E2D-BBA0-3680AF12F1B5}" type="slidenum">
              <a:rPr lang="es-PE" sz="1800" b="1" strike="noStrike" spc="-1">
                <a:solidFill>
                  <a:srgbClr val="C9211E"/>
                </a:solidFill>
                <a:latin typeface="Source Sans Pro Black"/>
              </a:rPr>
              <a:t>‹Nº›</a:t>
            </a:fld>
            <a:endParaRPr lang="es-PE" sz="1800" b="1" strike="noStrike" spc="-1">
              <a:solidFill>
                <a:srgbClr val="C9211E"/>
              </a:solidFill>
              <a:latin typeface="Source Sans Pro Black"/>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3043" y="301905"/>
            <a:ext cx="8694539" cy="1096044"/>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93043" y="1509521"/>
            <a:ext cx="8694539" cy="3597912"/>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93043" y="5255760"/>
            <a:ext cx="2268141" cy="301904"/>
          </a:xfrm>
          <a:prstGeom prst="rect">
            <a:avLst/>
          </a:prstGeom>
        </p:spPr>
        <p:txBody>
          <a:bodyPr vert="horz" lIns="91440" tIns="45720" rIns="91440" bIns="45720" rtlCol="0" anchor="ctr"/>
          <a:lstStyle>
            <a:lvl1pPr algn="l">
              <a:defRPr sz="992">
                <a:solidFill>
                  <a:schemeClr val="tx1">
                    <a:tint val="75000"/>
                  </a:schemeClr>
                </a:solidFill>
              </a:defRPr>
            </a:lvl1pPr>
          </a:lstStyle>
          <a:p>
            <a:fld id="{95913EFE-DD89-4199-84EC-1A2BF4298B83}" type="datetimeFigureOut">
              <a:rPr lang="es-PE" smtClean="0"/>
              <a:t>20/02/2026</a:t>
            </a:fld>
            <a:endParaRPr lang="es-PE"/>
          </a:p>
        </p:txBody>
      </p:sp>
      <p:sp>
        <p:nvSpPr>
          <p:cNvPr id="5" name="Footer Placeholder 4"/>
          <p:cNvSpPr>
            <a:spLocks noGrp="1"/>
          </p:cNvSpPr>
          <p:nvPr>
            <p:ph type="ftr" sz="quarter" idx="3"/>
          </p:nvPr>
        </p:nvSpPr>
        <p:spPr>
          <a:xfrm>
            <a:off x="3339207" y="5255760"/>
            <a:ext cx="3402211" cy="301904"/>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s-PE"/>
          </a:p>
        </p:txBody>
      </p:sp>
      <p:sp>
        <p:nvSpPr>
          <p:cNvPr id="6" name="Slide Number Placeholder 5"/>
          <p:cNvSpPr>
            <a:spLocks noGrp="1"/>
          </p:cNvSpPr>
          <p:nvPr>
            <p:ph type="sldNum" sz="quarter" idx="4"/>
          </p:nvPr>
        </p:nvSpPr>
        <p:spPr>
          <a:xfrm>
            <a:off x="7119441" y="5255760"/>
            <a:ext cx="2268141" cy="301904"/>
          </a:xfrm>
          <a:prstGeom prst="rect">
            <a:avLst/>
          </a:prstGeom>
        </p:spPr>
        <p:txBody>
          <a:bodyPr vert="horz" lIns="91440" tIns="45720" rIns="91440" bIns="45720" rtlCol="0" anchor="ctr"/>
          <a:lstStyle>
            <a:lvl1pPr algn="r">
              <a:defRPr sz="992">
                <a:solidFill>
                  <a:schemeClr val="tx1">
                    <a:tint val="75000"/>
                  </a:schemeClr>
                </a:solidFill>
              </a:defRPr>
            </a:lvl1pPr>
          </a:lstStyle>
          <a:p>
            <a:fld id="{80B5DCBB-2774-4FBE-AD60-4B47EB5C5E69}" type="slidenum">
              <a:rPr lang="es-PE" smtClean="0"/>
              <a:t>‹Nº›</a:t>
            </a:fld>
            <a:endParaRPr lang="es-PE"/>
          </a:p>
        </p:txBody>
      </p:sp>
    </p:spTree>
    <p:extLst>
      <p:ext uri="{BB962C8B-B14F-4D97-AF65-F5344CB8AC3E}">
        <p14:creationId xmlns:p14="http://schemas.microsoft.com/office/powerpoint/2010/main" val="134534102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756026" rtl="0" eaLnBrk="1" latinLnBrk="0" hangingPunct="1">
        <a:lnSpc>
          <a:spcPct val="90000"/>
        </a:lnSpc>
        <a:spcBef>
          <a:spcPct val="0"/>
        </a:spcBef>
        <a:buNone/>
        <a:defRPr sz="3638" kern="1200">
          <a:solidFill>
            <a:schemeClr val="tx1"/>
          </a:solidFill>
          <a:latin typeface="+mj-lt"/>
          <a:ea typeface="+mj-ea"/>
          <a:cs typeface="+mj-cs"/>
        </a:defRPr>
      </a:lvl1pPr>
    </p:titleStyle>
    <p:bodyStyle>
      <a:lvl1pPr marL="189006" indent="-189006" algn="l" defTabSz="756026"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7019" indent="-189006" algn="l" defTabSz="756026"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5032" indent="-189006" algn="l" defTabSz="756026" rtl="0" eaLnBrk="1" latinLnBrk="0" hangingPunct="1">
        <a:lnSpc>
          <a:spcPct val="90000"/>
        </a:lnSpc>
        <a:spcBef>
          <a:spcPts val="413"/>
        </a:spcBef>
        <a:buFont typeface="Arial" panose="020B0604020202020204" pitchFamily="34" charset="0"/>
        <a:buChar char="•"/>
        <a:defRPr sz="1654" kern="1200">
          <a:solidFill>
            <a:schemeClr val="tx1"/>
          </a:solidFill>
          <a:latin typeface="+mn-lt"/>
          <a:ea typeface="+mn-ea"/>
          <a:cs typeface="+mn-cs"/>
        </a:defRPr>
      </a:lvl3pPr>
      <a:lvl4pPr marL="1323045"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1058"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9071"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7084"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5097"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3110"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6026" rtl="0" eaLnBrk="1" latinLnBrk="0" hangingPunct="1">
        <a:defRPr sz="1488" kern="1200">
          <a:solidFill>
            <a:schemeClr val="tx1"/>
          </a:solidFill>
          <a:latin typeface="+mn-lt"/>
          <a:ea typeface="+mn-ea"/>
          <a:cs typeface="+mn-cs"/>
        </a:defRPr>
      </a:lvl1pPr>
      <a:lvl2pPr marL="378013" algn="l" defTabSz="756026" rtl="0" eaLnBrk="1" latinLnBrk="0" hangingPunct="1">
        <a:defRPr sz="1488" kern="1200">
          <a:solidFill>
            <a:schemeClr val="tx1"/>
          </a:solidFill>
          <a:latin typeface="+mn-lt"/>
          <a:ea typeface="+mn-ea"/>
          <a:cs typeface="+mn-cs"/>
        </a:defRPr>
      </a:lvl2pPr>
      <a:lvl3pPr marL="756026" algn="l" defTabSz="756026" rtl="0" eaLnBrk="1" latinLnBrk="0" hangingPunct="1">
        <a:defRPr sz="1488" kern="1200">
          <a:solidFill>
            <a:schemeClr val="tx1"/>
          </a:solidFill>
          <a:latin typeface="+mn-lt"/>
          <a:ea typeface="+mn-ea"/>
          <a:cs typeface="+mn-cs"/>
        </a:defRPr>
      </a:lvl3pPr>
      <a:lvl4pPr marL="1134039" algn="l" defTabSz="756026" rtl="0" eaLnBrk="1" latinLnBrk="0" hangingPunct="1">
        <a:defRPr sz="1488" kern="1200">
          <a:solidFill>
            <a:schemeClr val="tx1"/>
          </a:solidFill>
          <a:latin typeface="+mn-lt"/>
          <a:ea typeface="+mn-ea"/>
          <a:cs typeface="+mn-cs"/>
        </a:defRPr>
      </a:lvl4pPr>
      <a:lvl5pPr marL="1512052" algn="l" defTabSz="756026" rtl="0" eaLnBrk="1" latinLnBrk="0" hangingPunct="1">
        <a:defRPr sz="1488" kern="1200">
          <a:solidFill>
            <a:schemeClr val="tx1"/>
          </a:solidFill>
          <a:latin typeface="+mn-lt"/>
          <a:ea typeface="+mn-ea"/>
          <a:cs typeface="+mn-cs"/>
        </a:defRPr>
      </a:lvl5pPr>
      <a:lvl6pPr marL="1890065" algn="l" defTabSz="756026" rtl="0" eaLnBrk="1" latinLnBrk="0" hangingPunct="1">
        <a:defRPr sz="1488" kern="1200">
          <a:solidFill>
            <a:schemeClr val="tx1"/>
          </a:solidFill>
          <a:latin typeface="+mn-lt"/>
          <a:ea typeface="+mn-ea"/>
          <a:cs typeface="+mn-cs"/>
        </a:defRPr>
      </a:lvl6pPr>
      <a:lvl7pPr marL="2268078" algn="l" defTabSz="756026" rtl="0" eaLnBrk="1" latinLnBrk="0" hangingPunct="1">
        <a:defRPr sz="1488" kern="1200">
          <a:solidFill>
            <a:schemeClr val="tx1"/>
          </a:solidFill>
          <a:latin typeface="+mn-lt"/>
          <a:ea typeface="+mn-ea"/>
          <a:cs typeface="+mn-cs"/>
        </a:defRPr>
      </a:lvl7pPr>
      <a:lvl8pPr marL="2646091" algn="l" defTabSz="756026" rtl="0" eaLnBrk="1" latinLnBrk="0" hangingPunct="1">
        <a:defRPr sz="1488" kern="1200">
          <a:solidFill>
            <a:schemeClr val="tx1"/>
          </a:solidFill>
          <a:latin typeface="+mn-lt"/>
          <a:ea typeface="+mn-ea"/>
          <a:cs typeface="+mn-cs"/>
        </a:defRPr>
      </a:lvl8pPr>
      <a:lvl9pPr marL="3024104" algn="l" defTabSz="756026"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0" y="2160000"/>
            <a:ext cx="9718158" cy="720000"/>
          </a:xfrm>
          <a:prstGeom prst="rect">
            <a:avLst/>
          </a:prstGeom>
          <a:noFill/>
          <a:ln w="0">
            <a:noFill/>
          </a:ln>
        </p:spPr>
        <p:txBody>
          <a:bodyPr lIns="0" tIns="0" rIns="0" bIns="0" anchor="ctr" anchorCtr="0">
            <a:noAutofit/>
          </a:bodyPr>
          <a:lstStyle/>
          <a:p>
            <a:pPr algn="ctr"/>
            <a:r>
              <a:rPr lang="es-ES" sz="2100" b="1" cap="small" dirty="0">
                <a:solidFill>
                  <a:schemeClr val="bg1"/>
                </a:solidFill>
                <a:latin typeface="Book Antiqua" panose="02040602050305030304" pitchFamily="18" charset="0"/>
              </a:rPr>
              <a:t>Fundamentos teóricos para la elaboración de ítems por competencias en el área de Comunicación</a:t>
            </a:r>
            <a:endParaRPr lang="es-PE" sz="2100" b="1" strike="noStrike" cap="small" spc="-1" dirty="0">
              <a:solidFill>
                <a:schemeClr val="bg1"/>
              </a:solidFill>
              <a:latin typeface="Book Antiqua" panose="02040602050305030304" pitchFamily="18" charset="0"/>
            </a:endParaRPr>
          </a:p>
        </p:txBody>
      </p:sp>
      <p:sp>
        <p:nvSpPr>
          <p:cNvPr id="89" name="TextShape 2"/>
          <p:cNvSpPr txBox="1"/>
          <p:nvPr/>
        </p:nvSpPr>
        <p:spPr>
          <a:xfrm>
            <a:off x="540312" y="3142049"/>
            <a:ext cx="9000000" cy="1890000"/>
          </a:xfrm>
          <a:prstGeom prst="rect">
            <a:avLst/>
          </a:prstGeom>
          <a:noFill/>
          <a:ln w="0">
            <a:noFill/>
          </a:ln>
        </p:spPr>
        <p:txBody>
          <a:bodyPr lIns="0" tIns="0" rIns="0" bIns="0">
            <a:noAutofit/>
          </a:bodyPr>
          <a:lstStyle/>
          <a:p>
            <a:pPr algn="ctr"/>
            <a:r>
              <a:rPr lang="es-PE" sz="2200" b="0" strike="noStrike" spc="-1" dirty="0" err="1">
                <a:solidFill>
                  <a:srgbClr val="1C1C1C"/>
                </a:solidFill>
                <a:latin typeface="Book Antiqua" panose="02040602050305030304" pitchFamily="18" charset="0"/>
              </a:rPr>
              <a:t>Guissela</a:t>
            </a:r>
            <a:r>
              <a:rPr lang="es-PE" sz="2200" b="0" strike="noStrike" spc="-1" dirty="0">
                <a:solidFill>
                  <a:srgbClr val="1C1C1C"/>
                </a:solidFill>
                <a:latin typeface="Book Antiqua" panose="02040602050305030304" pitchFamily="18" charset="0"/>
              </a:rPr>
              <a:t> Gonzales Fernández</a:t>
            </a:r>
          </a:p>
          <a:p>
            <a:pPr algn="ctr"/>
            <a:r>
              <a:rPr lang="es-PE" sz="2200" b="0" strike="noStrike" spc="-1" dirty="0">
                <a:solidFill>
                  <a:srgbClr val="1C1C1C"/>
                </a:solidFill>
                <a:latin typeface="Book Antiqua" panose="02040602050305030304" pitchFamily="18" charset="0"/>
              </a:rPr>
              <a:t>Docente monitora</a:t>
            </a:r>
          </a:p>
          <a:p>
            <a:pPr algn="ctr"/>
            <a:r>
              <a:rPr lang="es-PE" sz="2200" spc="-1" dirty="0">
                <a:solidFill>
                  <a:srgbClr val="1C1C1C"/>
                </a:solidFill>
                <a:latin typeface="Book Antiqua" panose="02040602050305030304" pitchFamily="18" charset="0"/>
              </a:rPr>
              <a:t>Viernes 20 de febrero de 2026</a:t>
            </a:r>
            <a:endParaRPr lang="es-PE" sz="2200" b="0" strike="noStrike" spc="-1" dirty="0">
              <a:solidFill>
                <a:srgbClr val="1C1C1C"/>
              </a:solidFill>
              <a:latin typeface="Book Antiqua" panose="0204060205030503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957F04-8579-496A-E5F2-BEA94C88DB9D}"/>
              </a:ext>
            </a:extLst>
          </p:cNvPr>
          <p:cNvSpPr>
            <a:spLocks noGrp="1"/>
          </p:cNvSpPr>
          <p:nvPr>
            <p:ph type="title"/>
          </p:nvPr>
        </p:nvSpPr>
        <p:spPr>
          <a:xfrm>
            <a:off x="360000" y="270000"/>
            <a:ext cx="9360000" cy="720000"/>
          </a:xfrm>
        </p:spPr>
        <p:txBody>
          <a:bodyPr anchor="b">
            <a:normAutofit/>
          </a:bodyPr>
          <a:lstStyle/>
          <a:p>
            <a:pPr algn="ctr"/>
            <a:r>
              <a:rPr lang="es-ES" sz="2800" b="1" dirty="0">
                <a:solidFill>
                  <a:schemeClr val="bg1"/>
                </a:solidFill>
                <a:latin typeface="Book Antiqua" panose="02040602050305030304" pitchFamily="18" charset="0"/>
              </a:rPr>
              <a:t>¿Qué es ser competente?</a:t>
            </a:r>
            <a:endParaRPr lang="es-PE" sz="2800" b="1" dirty="0">
              <a:solidFill>
                <a:schemeClr val="bg1"/>
              </a:solidFill>
              <a:latin typeface="Book Antiqua" panose="02040602050305030304" pitchFamily="18" charset="0"/>
            </a:endParaRPr>
          </a:p>
        </p:txBody>
      </p:sp>
      <p:graphicFrame>
        <p:nvGraphicFramePr>
          <p:cNvPr id="4" name="Marcador de contenido 3">
            <a:extLst>
              <a:ext uri="{FF2B5EF4-FFF2-40B4-BE49-F238E27FC236}">
                <a16:creationId xmlns:a16="http://schemas.microsoft.com/office/drawing/2014/main" id="{7AC435E0-9782-BA27-CF44-A2687EFFFA78}"/>
              </a:ext>
            </a:extLst>
          </p:cNvPr>
          <p:cNvGraphicFramePr>
            <a:graphicFrameLocks noGrp="1"/>
          </p:cNvGraphicFramePr>
          <p:nvPr>
            <p:ph idx="1"/>
            <p:extLst>
              <p:ext uri="{D42A27DB-BD31-4B8C-83A1-F6EECF244321}">
                <p14:modId xmlns:p14="http://schemas.microsoft.com/office/powerpoint/2010/main" val="4271177419"/>
              </p:ext>
            </p:extLst>
          </p:nvPr>
        </p:nvGraphicFramePr>
        <p:xfrm>
          <a:off x="360000" y="1350000"/>
          <a:ext cx="9180000" cy="35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1618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MX" sz="2800" b="1" strike="noStrike" spc="-1" dirty="0">
                <a:solidFill>
                  <a:srgbClr val="FFFFFF"/>
                </a:solidFill>
                <a:latin typeface="Book Antiqua" panose="02040602050305030304" pitchFamily="18" charset="0"/>
              </a:rPr>
              <a:t>¿Qué es un ítem por competencias?</a:t>
            </a:r>
            <a:endParaRPr lang="es-PE" sz="2800" b="1" strike="noStrike" spc="-1" dirty="0">
              <a:solidFill>
                <a:srgbClr val="FFFFFF"/>
              </a:solidFill>
              <a:latin typeface="Book Antiqua" panose="02040602050305030304" pitchFamily="18" charset="0"/>
            </a:endParaRPr>
          </a:p>
        </p:txBody>
      </p:sp>
      <p:sp>
        <p:nvSpPr>
          <p:cNvPr id="5" name="CuadroTexto 4">
            <a:extLst>
              <a:ext uri="{FF2B5EF4-FFF2-40B4-BE49-F238E27FC236}">
                <a16:creationId xmlns:a16="http://schemas.microsoft.com/office/drawing/2014/main" id="{9B38FC00-3AF1-C35A-818D-459ACABA0BB0}"/>
              </a:ext>
            </a:extLst>
          </p:cNvPr>
          <p:cNvSpPr txBox="1"/>
          <p:nvPr/>
        </p:nvSpPr>
        <p:spPr>
          <a:xfrm>
            <a:off x="359999" y="1879030"/>
            <a:ext cx="9359999" cy="1408078"/>
          </a:xfrm>
          <a:prstGeom prst="rect">
            <a:avLst/>
          </a:prstGeom>
          <a:noFill/>
        </p:spPr>
        <p:txBody>
          <a:bodyPr wrap="square">
            <a:spAutoFit/>
          </a:bodyPr>
          <a:lstStyle/>
          <a:p>
            <a:pPr marL="0" indent="0" algn="just">
              <a:buNone/>
            </a:pPr>
            <a:endParaRPr lang="es-PE" sz="1050" dirty="0">
              <a:latin typeface="Book Antiqua" panose="02040602050305030304" pitchFamily="18" charset="0"/>
              <a:cs typeface="Times New Roman" panose="02020603050405020304" pitchFamily="18" charset="0"/>
            </a:endParaRPr>
          </a:p>
          <a:p>
            <a:pPr marL="0" indent="0" algn="just">
              <a:buNone/>
            </a:pPr>
            <a:r>
              <a:rPr lang="es-PE" sz="2500" dirty="0">
                <a:latin typeface="Book Antiqua" panose="02040602050305030304" pitchFamily="18" charset="0"/>
                <a:cs typeface="Times New Roman" panose="02020603050405020304" pitchFamily="18" charset="0"/>
              </a:rPr>
              <a:t>Un ítem por competencias es una herramienta de evaluación que debe poner en funcionamiento una arista de la inteligencia, que vaya más allá de la mera recordación del dato.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tradicional</a:t>
            </a:r>
            <a:endParaRPr lang="es-PE" sz="2800" b="1" strike="noStrike" spc="-1" dirty="0">
              <a:solidFill>
                <a:srgbClr val="FFFFFF"/>
              </a:solidFill>
              <a:latin typeface="Book Antiqua" panose="02040602050305030304" pitchFamily="18" charset="0"/>
            </a:endParaRPr>
          </a:p>
        </p:txBody>
      </p:sp>
      <p:sp>
        <p:nvSpPr>
          <p:cNvPr id="101" name="TextShape 2"/>
          <p:cNvSpPr txBox="1"/>
          <p:nvPr/>
        </p:nvSpPr>
        <p:spPr>
          <a:xfrm>
            <a:off x="360000" y="1350000"/>
            <a:ext cx="9360000" cy="3510000"/>
          </a:xfrm>
          <a:prstGeom prst="rect">
            <a:avLst/>
          </a:prstGeom>
          <a:noFill/>
          <a:ln w="0">
            <a:noFill/>
          </a:ln>
        </p:spPr>
        <p:txBody>
          <a:bodyPr lIns="0" tIns="0" rIns="0" bIns="0">
            <a:normAutofit fontScale="98500"/>
          </a:bodyPr>
          <a:lstStyle/>
          <a:p>
            <a:pPr marL="0" indent="0" algn="ctr">
              <a:buNone/>
            </a:pPr>
            <a:endParaRPr lang="es-PE" sz="1400" b="1" dirty="0">
              <a:solidFill>
                <a:schemeClr val="tx2"/>
              </a:solidFill>
              <a:latin typeface="Book Antiqua" panose="02040602050305030304" pitchFamily="18" charset="0"/>
              <a:cs typeface="Times New Roman" panose="02020603050405020304" pitchFamily="18" charset="0"/>
            </a:endParaRPr>
          </a:p>
          <a:p>
            <a:pPr marL="0" indent="0" algn="just">
              <a:buNone/>
            </a:pPr>
            <a:r>
              <a:rPr lang="es-MX" sz="2100" dirty="0">
                <a:latin typeface="Book Antiqua" panose="02040602050305030304" pitchFamily="18" charset="0"/>
                <a:cs typeface="Times New Roman" panose="02020603050405020304" pitchFamily="18" charset="0"/>
              </a:rPr>
              <a:t>La acción de </a:t>
            </a:r>
            <a:r>
              <a:rPr lang="es-MX" sz="2100" i="1" dirty="0">
                <a:latin typeface="Book Antiqua" panose="02040602050305030304" pitchFamily="18" charset="0"/>
                <a:cs typeface="Times New Roman" panose="02020603050405020304" pitchFamily="18" charset="0"/>
              </a:rPr>
              <a:t>habeas corpus</a:t>
            </a:r>
            <a:r>
              <a:rPr lang="es-MX" sz="2100" dirty="0">
                <a:latin typeface="Book Antiqua" panose="02040602050305030304" pitchFamily="18" charset="0"/>
                <a:cs typeface="Times New Roman" panose="02020603050405020304" pitchFamily="18" charset="0"/>
              </a:rPr>
              <a:t> garantiza la libertad</a:t>
            </a:r>
          </a:p>
          <a:p>
            <a:pPr marL="0" indent="0" algn="just">
              <a:buNone/>
            </a:pPr>
            <a:endParaRPr lang="es-MX" sz="1400" dirty="0">
              <a:latin typeface="Book Antiqua" panose="02040602050305030304" pitchFamily="18" charset="0"/>
              <a:cs typeface="Times New Roman" panose="02020603050405020304" pitchFamily="18" charset="0"/>
            </a:endParaRPr>
          </a:p>
          <a:p>
            <a:pPr marL="0" indent="0" algn="just">
              <a:buNone/>
            </a:pPr>
            <a:r>
              <a:rPr lang="es-MX" sz="2100" dirty="0">
                <a:solidFill>
                  <a:schemeClr val="tx2"/>
                </a:solidFill>
                <a:latin typeface="Book Antiqua" panose="02040602050305030304" pitchFamily="18" charset="0"/>
                <a:cs typeface="Times New Roman" panose="02020603050405020304" pitchFamily="18" charset="0"/>
              </a:rPr>
              <a:t>A. personal del individuo.</a:t>
            </a:r>
          </a:p>
          <a:p>
            <a:pPr marL="0" indent="0" algn="just">
              <a:buNone/>
            </a:pPr>
            <a:r>
              <a:rPr lang="es-MX" sz="2100" dirty="0">
                <a:solidFill>
                  <a:schemeClr val="tx2"/>
                </a:solidFill>
                <a:latin typeface="Book Antiqua" panose="02040602050305030304" pitchFamily="18" charset="0"/>
                <a:cs typeface="Times New Roman" panose="02020603050405020304" pitchFamily="18" charset="0"/>
              </a:rPr>
              <a:t>B. de opinión pública.</a:t>
            </a:r>
          </a:p>
          <a:p>
            <a:pPr marL="0" indent="0" algn="just">
              <a:buNone/>
            </a:pPr>
            <a:r>
              <a:rPr lang="es-MX" sz="2100" dirty="0">
                <a:solidFill>
                  <a:schemeClr val="tx2"/>
                </a:solidFill>
                <a:latin typeface="Book Antiqua" panose="02040602050305030304" pitchFamily="18" charset="0"/>
                <a:cs typeface="Times New Roman" panose="02020603050405020304" pitchFamily="18" charset="0"/>
              </a:rPr>
              <a:t>C. de publicación.</a:t>
            </a:r>
          </a:p>
          <a:p>
            <a:pPr marL="0" indent="0" algn="just">
              <a:buNone/>
            </a:pPr>
            <a:r>
              <a:rPr lang="es-MX" sz="2100" dirty="0">
                <a:solidFill>
                  <a:schemeClr val="tx2"/>
                </a:solidFill>
                <a:latin typeface="Book Antiqua" panose="02040602050305030304" pitchFamily="18" charset="0"/>
                <a:cs typeface="Times New Roman" panose="02020603050405020304" pitchFamily="18" charset="0"/>
              </a:rPr>
              <a:t>D. personal de informarse.</a:t>
            </a:r>
          </a:p>
          <a:p>
            <a:pPr marL="0" indent="0" algn="just">
              <a:buNone/>
            </a:pPr>
            <a:r>
              <a:rPr lang="es-MX" sz="2100" dirty="0">
                <a:solidFill>
                  <a:schemeClr val="tx2"/>
                </a:solidFill>
                <a:latin typeface="Book Antiqua" panose="02040602050305030304" pitchFamily="18" charset="0"/>
                <a:cs typeface="Times New Roman" panose="02020603050405020304" pitchFamily="18" charset="0"/>
              </a:rPr>
              <a:t>E. de participar en mítines.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PE" sz="2800" b="1" strike="noStrike" spc="-1" dirty="0">
                <a:solidFill>
                  <a:srgbClr val="FFFFFF"/>
                </a:solidFill>
                <a:latin typeface="Book Antiqua" panose="02040602050305030304" pitchFamily="18" charset="0"/>
              </a:rPr>
              <a:t>El mismo ítem con enfoque por competencias</a:t>
            </a:r>
          </a:p>
        </p:txBody>
      </p:sp>
      <p:sp>
        <p:nvSpPr>
          <p:cNvPr id="101" name="TextShape 2"/>
          <p:cNvSpPr txBox="1"/>
          <p:nvPr/>
        </p:nvSpPr>
        <p:spPr>
          <a:xfrm>
            <a:off x="360000" y="1350000"/>
            <a:ext cx="9360000" cy="3510000"/>
          </a:xfrm>
          <a:prstGeom prst="rect">
            <a:avLst/>
          </a:prstGeom>
          <a:noFill/>
          <a:ln w="0">
            <a:noFill/>
          </a:ln>
        </p:spPr>
        <p:txBody>
          <a:bodyPr lIns="0" tIns="0" rIns="0" bIns="0">
            <a:normAutofit fontScale="98500"/>
          </a:bodyPr>
          <a:lstStyle/>
          <a:p>
            <a:pPr marL="0" indent="0" algn="ctr">
              <a:buNone/>
            </a:pPr>
            <a:endParaRPr lang="es-PE" sz="1400" b="1" dirty="0">
              <a:solidFill>
                <a:schemeClr val="tx2"/>
              </a:solidFill>
              <a:latin typeface="Book Antiqua" panose="02040602050305030304" pitchFamily="18" charset="0"/>
              <a:cs typeface="Times New Roman" panose="02020603050405020304" pitchFamily="18" charset="0"/>
            </a:endParaRPr>
          </a:p>
          <a:p>
            <a:r>
              <a:rPr lang="es-MX" sz="2100" dirty="0">
                <a:latin typeface="Book Antiqua" panose="02040602050305030304" pitchFamily="18" charset="0"/>
                <a:cs typeface="Times New Roman" panose="02020603050405020304" pitchFamily="18" charset="0"/>
              </a:rPr>
              <a:t>Dos muchachos conversaban tranquilos en la banca de un parque. Luego de unos minutos, el serenazgo del distrito les pidió que, por favor, se retiraran, pero ambos jóvenes se negaron, alegando que no hicieron nada ilícito. Al rato, un escuadrón de emergencia apareció y, sin explicaciones, los arrestó y los condujo a la comisaría. Pasaron tres días y nadie formuló cargos en contra de los detenidos. En este caso, ¿a qué medida legal deben recurrir sus familiares?</a:t>
            </a:r>
          </a:p>
          <a:p>
            <a:pPr algn="just"/>
            <a:endParaRPr lang="es-MX" sz="2100" dirty="0">
              <a:latin typeface="Book Antiqua" panose="02040602050305030304" pitchFamily="18" charset="0"/>
              <a:cs typeface="Times New Roman" panose="02020603050405020304" pitchFamily="18" charset="0"/>
            </a:endParaRPr>
          </a:p>
        </p:txBody>
      </p:sp>
      <p:sp>
        <p:nvSpPr>
          <p:cNvPr id="2" name="CuadroTexto 1">
            <a:extLst>
              <a:ext uri="{FF2B5EF4-FFF2-40B4-BE49-F238E27FC236}">
                <a16:creationId xmlns:a16="http://schemas.microsoft.com/office/drawing/2014/main" id="{06C4DAED-F1D3-2BE7-47BB-FE4792B120C5}"/>
              </a:ext>
            </a:extLst>
          </p:cNvPr>
          <p:cNvSpPr txBox="1"/>
          <p:nvPr/>
        </p:nvSpPr>
        <p:spPr>
          <a:xfrm>
            <a:off x="359999" y="4079632"/>
            <a:ext cx="9360000" cy="738664"/>
          </a:xfrm>
          <a:prstGeom prst="rect">
            <a:avLst/>
          </a:prstGeom>
          <a:noFill/>
        </p:spPr>
        <p:txBody>
          <a:bodyPr wrap="square" rtlCol="0">
            <a:spAutoFit/>
          </a:bodyPr>
          <a:lstStyle/>
          <a:p>
            <a:pPr marL="0" indent="0" algn="just">
              <a:buNone/>
            </a:pPr>
            <a:r>
              <a:rPr lang="es-MX" sz="2100" dirty="0">
                <a:solidFill>
                  <a:schemeClr val="tx2"/>
                </a:solidFill>
                <a:latin typeface="Book Antiqua" panose="02040602050305030304" pitchFamily="18" charset="0"/>
                <a:cs typeface="Times New Roman" panose="02020603050405020304" pitchFamily="18" charset="0"/>
              </a:rPr>
              <a:t>A. Acción de </a:t>
            </a:r>
            <a:r>
              <a:rPr lang="es-MX" sz="2100" i="1" dirty="0">
                <a:solidFill>
                  <a:schemeClr val="tx2"/>
                </a:solidFill>
                <a:latin typeface="Book Antiqua" panose="02040602050305030304" pitchFamily="18" charset="0"/>
                <a:cs typeface="Times New Roman" panose="02020603050405020304" pitchFamily="18" charset="0"/>
              </a:rPr>
              <a:t>habeas corpus    C</a:t>
            </a:r>
            <a:r>
              <a:rPr lang="es-MX" sz="2100" dirty="0">
                <a:solidFill>
                  <a:schemeClr val="tx2"/>
                </a:solidFill>
                <a:latin typeface="Book Antiqua" panose="02040602050305030304" pitchFamily="18" charset="0"/>
                <a:cs typeface="Times New Roman" panose="02020603050405020304" pitchFamily="18" charset="0"/>
              </a:rPr>
              <a:t>. Acción de </a:t>
            </a:r>
            <a:r>
              <a:rPr lang="es-MX" sz="2100" i="1" dirty="0">
                <a:solidFill>
                  <a:schemeClr val="tx2"/>
                </a:solidFill>
                <a:latin typeface="Book Antiqua" panose="02040602050305030304" pitchFamily="18" charset="0"/>
                <a:cs typeface="Times New Roman" panose="02020603050405020304" pitchFamily="18" charset="0"/>
              </a:rPr>
              <a:t>habeas</a:t>
            </a:r>
            <a:r>
              <a:rPr lang="es-MX" sz="2100" dirty="0">
                <a:solidFill>
                  <a:schemeClr val="tx2"/>
                </a:solidFill>
                <a:latin typeface="Book Antiqua" panose="02040602050305030304" pitchFamily="18" charset="0"/>
                <a:cs typeface="Times New Roman" panose="02020603050405020304" pitchFamily="18" charset="0"/>
              </a:rPr>
              <a:t> </a:t>
            </a:r>
            <a:r>
              <a:rPr lang="es-MX" sz="2100" i="1" dirty="0">
                <a:solidFill>
                  <a:schemeClr val="tx2"/>
                </a:solidFill>
                <a:latin typeface="Book Antiqua" panose="02040602050305030304" pitchFamily="18" charset="0"/>
                <a:cs typeface="Times New Roman" panose="02020603050405020304" pitchFamily="18" charset="0"/>
              </a:rPr>
              <a:t>data</a:t>
            </a:r>
            <a:r>
              <a:rPr lang="es-MX" sz="2100" dirty="0">
                <a:solidFill>
                  <a:schemeClr val="tx2"/>
                </a:solidFill>
                <a:latin typeface="Book Antiqua" panose="02040602050305030304" pitchFamily="18" charset="0"/>
                <a:cs typeface="Times New Roman" panose="02020603050405020304" pitchFamily="18" charset="0"/>
              </a:rPr>
              <a:t>    E. Acción de amparo</a:t>
            </a:r>
          </a:p>
          <a:p>
            <a:pPr marL="0" indent="0" algn="just">
              <a:buNone/>
            </a:pPr>
            <a:r>
              <a:rPr lang="es-MX" sz="2100" dirty="0">
                <a:solidFill>
                  <a:schemeClr val="tx2"/>
                </a:solidFill>
                <a:latin typeface="Book Antiqua" panose="02040602050305030304" pitchFamily="18" charset="0"/>
                <a:cs typeface="Times New Roman" panose="02020603050405020304" pitchFamily="18" charset="0"/>
              </a:rPr>
              <a:t>B. Acción popular                  D. Acción de cumplimiento</a:t>
            </a:r>
          </a:p>
        </p:txBody>
      </p:sp>
    </p:spTree>
    <p:extLst>
      <p:ext uri="{BB962C8B-B14F-4D97-AF65-F5344CB8AC3E}">
        <p14:creationId xmlns:p14="http://schemas.microsoft.com/office/powerpoint/2010/main" val="2881243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MX" sz="2646" b="1" dirty="0">
                <a:solidFill>
                  <a:schemeClr val="bg1"/>
                </a:solidFill>
                <a:latin typeface="Book Antiqua" panose="02040602050305030304" pitchFamily="18" charset="0"/>
              </a:rPr>
              <a:t>¿Cómo </a:t>
            </a:r>
            <a:r>
              <a:rPr lang="es-MX" sz="2646" b="1" u="sng" dirty="0">
                <a:solidFill>
                  <a:schemeClr val="bg1"/>
                </a:solidFill>
                <a:latin typeface="Book Antiqua" panose="02040602050305030304" pitchFamily="18" charset="0"/>
              </a:rPr>
              <a:t>no</a:t>
            </a:r>
            <a:r>
              <a:rPr lang="es-MX" sz="2646" b="1" dirty="0">
                <a:solidFill>
                  <a:schemeClr val="bg1"/>
                </a:solidFill>
                <a:latin typeface="Book Antiqua" panose="02040602050305030304" pitchFamily="18" charset="0"/>
              </a:rPr>
              <a:t> se debe hacer un ítem según el modelo por competencias?</a:t>
            </a:r>
            <a:endParaRPr lang="en-US" sz="2646" b="1" dirty="0">
              <a:solidFill>
                <a:schemeClr val="bg1"/>
              </a:solidFill>
              <a:latin typeface="Book Antiqua" panose="02040602050305030304" pitchFamily="18" charset="0"/>
            </a:endParaRPr>
          </a:p>
        </p:txBody>
      </p:sp>
      <p:sp>
        <p:nvSpPr>
          <p:cNvPr id="3" name="Marcador de contenido 2"/>
          <p:cNvSpPr>
            <a:spLocks noGrp="1"/>
          </p:cNvSpPr>
          <p:nvPr>
            <p:ph idx="1"/>
          </p:nvPr>
        </p:nvSpPr>
        <p:spPr/>
        <p:txBody>
          <a:bodyPr>
            <a:normAutofit lnSpcReduction="10000"/>
          </a:bodyPr>
          <a:lstStyle/>
          <a:p>
            <a:r>
              <a:rPr lang="es-MX" sz="2000" dirty="0">
                <a:latin typeface="Book Antiqua" panose="02040602050305030304" pitchFamily="18" charset="0"/>
              </a:rPr>
              <a:t>Para que el ítem mida adecuadamente el nivel de destrezas cognitivas, conviene ampliar el abanico de formulación de preguntas, lo que implica abandonar el clásico modelo de oración incompleta. </a:t>
            </a:r>
          </a:p>
          <a:p>
            <a:pPr marL="0" indent="0">
              <a:buNone/>
            </a:pPr>
            <a:endParaRPr lang="es-MX" sz="2000" dirty="0">
              <a:latin typeface="Book Antiqua" panose="02040602050305030304" pitchFamily="18" charset="0"/>
            </a:endParaRPr>
          </a:p>
          <a:p>
            <a:endParaRPr lang="es-MX" sz="2000" dirty="0">
              <a:latin typeface="Book Antiqua" panose="02040602050305030304" pitchFamily="18" charset="0"/>
            </a:endParaRPr>
          </a:p>
          <a:p>
            <a:endParaRPr lang="es-MX" sz="2000" dirty="0">
              <a:latin typeface="Book Antiqua" panose="02040602050305030304" pitchFamily="18" charset="0"/>
            </a:endParaRPr>
          </a:p>
          <a:p>
            <a:r>
              <a:rPr lang="es-MX" sz="2000" dirty="0">
                <a:latin typeface="Book Antiqua" panose="02040602050305030304" pitchFamily="18" charset="0"/>
              </a:rPr>
              <a:t>Aunque este ítem puede ser </a:t>
            </a:r>
            <a:r>
              <a:rPr lang="es-MX" sz="2000" b="1" dirty="0">
                <a:latin typeface="Book Antiqua" panose="02040602050305030304" pitchFamily="18" charset="0"/>
              </a:rPr>
              <a:t>formalmente correcto</a:t>
            </a:r>
            <a:r>
              <a:rPr lang="es-MX" sz="2000" dirty="0">
                <a:latin typeface="Book Antiqua" panose="02040602050305030304" pitchFamily="18" charset="0"/>
              </a:rPr>
              <a:t> (debido a su carácter puntual y exacto), </a:t>
            </a:r>
            <a:r>
              <a:rPr lang="es-MX" sz="2000" b="1" dirty="0">
                <a:latin typeface="Book Antiqua" panose="02040602050305030304" pitchFamily="18" charset="0"/>
              </a:rPr>
              <a:t>no es una buena herramienta </a:t>
            </a:r>
            <a:r>
              <a:rPr lang="es-MX" sz="2000" dirty="0">
                <a:latin typeface="Book Antiqua" panose="02040602050305030304" pitchFamily="18" charset="0"/>
              </a:rPr>
              <a:t>para la </a:t>
            </a:r>
            <a:r>
              <a:rPr lang="es-MX" sz="2000" b="1" dirty="0">
                <a:latin typeface="Book Antiqua" panose="02040602050305030304" pitchFamily="18" charset="0"/>
              </a:rPr>
              <a:t>evaluación de las competencias</a:t>
            </a:r>
            <a:r>
              <a:rPr lang="es-MX" sz="2000" dirty="0">
                <a:latin typeface="Book Antiqua" panose="02040602050305030304" pitchFamily="18" charset="0"/>
              </a:rPr>
              <a:t>, en la medida en que evalúa solamente retención de información. </a:t>
            </a:r>
          </a:p>
          <a:p>
            <a:r>
              <a:rPr lang="es-MX" sz="2000" dirty="0">
                <a:latin typeface="Book Antiqua" panose="02040602050305030304" pitchFamily="18" charset="0"/>
              </a:rPr>
              <a:t>La adecuada respuesta de este ítem no permite inferir que el postulante haya aplicado su maquinaria mental de destrezas cognitivas. </a:t>
            </a:r>
          </a:p>
          <a:p>
            <a:endParaRPr lang="en-US" dirty="0"/>
          </a:p>
        </p:txBody>
      </p:sp>
      <p:sp>
        <p:nvSpPr>
          <p:cNvPr id="5" name="Rectángulo 4"/>
          <p:cNvSpPr/>
          <p:nvPr/>
        </p:nvSpPr>
        <p:spPr>
          <a:xfrm>
            <a:off x="1397550" y="2223121"/>
            <a:ext cx="7284900" cy="97464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88" dirty="0">
                <a:solidFill>
                  <a:schemeClr val="tx1"/>
                </a:solidFill>
              </a:rPr>
              <a:t>La </a:t>
            </a:r>
            <a:r>
              <a:rPr lang="es-MX" sz="1488" i="1" dirty="0">
                <a:solidFill>
                  <a:schemeClr val="tx1"/>
                </a:solidFill>
              </a:rPr>
              <a:t>Odisea </a:t>
            </a:r>
            <a:r>
              <a:rPr lang="es-MX" sz="1488" dirty="0">
                <a:solidFill>
                  <a:schemeClr val="tx1"/>
                </a:solidFill>
              </a:rPr>
              <a:t>es una obra que se atribuye a</a:t>
            </a:r>
          </a:p>
          <a:p>
            <a:endParaRPr lang="es-MX" sz="1488" dirty="0">
              <a:solidFill>
                <a:schemeClr val="tx1"/>
              </a:solidFill>
            </a:endParaRPr>
          </a:p>
          <a:p>
            <a:pPr marL="283510" indent="-283510">
              <a:buAutoNum type="alphaUcParenR"/>
            </a:pPr>
            <a:r>
              <a:rPr lang="es-MX" sz="1488" dirty="0">
                <a:solidFill>
                  <a:schemeClr val="tx1"/>
                </a:solidFill>
              </a:rPr>
              <a:t>Eurípides.       B) Homero.*      C) Esquilo.       D) Tucídides.</a:t>
            </a:r>
          </a:p>
          <a:p>
            <a:pPr marL="283510" indent="-283510">
              <a:buAutoNum type="alphaUcParenR"/>
            </a:pPr>
            <a:r>
              <a:rPr lang="es-MX" sz="1488" dirty="0"/>
              <a:t> </a:t>
            </a:r>
          </a:p>
        </p:txBody>
      </p:sp>
    </p:spTree>
    <p:extLst>
      <p:ext uri="{BB962C8B-B14F-4D97-AF65-F5344CB8AC3E}">
        <p14:creationId xmlns:p14="http://schemas.microsoft.com/office/powerpoint/2010/main" val="1406250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MX" sz="2646" b="1" dirty="0">
                <a:solidFill>
                  <a:schemeClr val="bg1"/>
                </a:solidFill>
                <a:latin typeface="Book Antiqua" panose="02040602050305030304" pitchFamily="18" charset="0"/>
              </a:rPr>
              <a:t>Sobre el enunciado (Contexto y/o </a:t>
            </a:r>
            <a:r>
              <a:rPr lang="es-MX" sz="2646" b="1" dirty="0" err="1">
                <a:solidFill>
                  <a:schemeClr val="bg1"/>
                </a:solidFill>
                <a:latin typeface="Book Antiqua" panose="02040602050305030304" pitchFamily="18" charset="0"/>
              </a:rPr>
              <a:t>Cotexto</a:t>
            </a:r>
            <a:r>
              <a:rPr lang="es-MX" sz="2646" b="1" dirty="0">
                <a:solidFill>
                  <a:schemeClr val="bg1"/>
                </a:solidFill>
                <a:latin typeface="Book Antiqua" panose="02040602050305030304" pitchFamily="18" charset="0"/>
              </a:rPr>
              <a:t>)</a:t>
            </a:r>
            <a:endParaRPr lang="en-US" sz="2646" b="1" dirty="0">
              <a:solidFill>
                <a:schemeClr val="bg1"/>
              </a:solidFill>
              <a:latin typeface="Book Antiqua" panose="02040602050305030304" pitchFamily="18" charset="0"/>
            </a:endParaRPr>
          </a:p>
        </p:txBody>
      </p:sp>
      <p:sp>
        <p:nvSpPr>
          <p:cNvPr id="3" name="Marcador de contenido 2"/>
          <p:cNvSpPr>
            <a:spLocks noGrp="1"/>
          </p:cNvSpPr>
          <p:nvPr>
            <p:ph idx="1"/>
          </p:nvPr>
        </p:nvSpPr>
        <p:spPr>
          <a:xfrm>
            <a:off x="693043" y="1397999"/>
            <a:ext cx="8694539" cy="2822564"/>
          </a:xfrm>
        </p:spPr>
        <p:txBody>
          <a:bodyPr>
            <a:normAutofit lnSpcReduction="10000"/>
          </a:bodyPr>
          <a:lstStyle/>
          <a:p>
            <a:r>
              <a:rPr lang="es-MX" sz="1800" dirty="0">
                <a:latin typeface="Book Antiqua" panose="02040602050305030304" pitchFamily="18" charset="0"/>
              </a:rPr>
              <a:t>El </a:t>
            </a:r>
            <a:r>
              <a:rPr lang="es-MX" sz="1800" b="1" dirty="0">
                <a:latin typeface="Book Antiqua" panose="02040602050305030304" pitchFamily="18" charset="0"/>
              </a:rPr>
              <a:t>enunciado del ítem </a:t>
            </a:r>
            <a:r>
              <a:rPr lang="es-MX" sz="1800" dirty="0">
                <a:latin typeface="Book Antiqua" panose="02040602050305030304" pitchFamily="18" charset="0"/>
              </a:rPr>
              <a:t>no debe quedarse en la abstracción, sino más bien debe consignar aspectos ligados con la </a:t>
            </a:r>
            <a:r>
              <a:rPr lang="es-MX" sz="1800" b="1" dirty="0">
                <a:latin typeface="Book Antiqua" panose="02040602050305030304" pitchFamily="18" charset="0"/>
              </a:rPr>
              <a:t>contextualización o cotextualización </a:t>
            </a:r>
            <a:r>
              <a:rPr lang="es-MX" sz="1800" dirty="0">
                <a:latin typeface="Book Antiqua" panose="02040602050305030304" pitchFamily="18" charset="0"/>
              </a:rPr>
              <a:t>del problema que se va a abordar. </a:t>
            </a:r>
          </a:p>
          <a:p>
            <a:r>
              <a:rPr lang="es-MX" sz="1800" dirty="0">
                <a:latin typeface="Book Antiqua" panose="02040602050305030304" pitchFamily="18" charset="0"/>
              </a:rPr>
              <a:t>Por </a:t>
            </a:r>
            <a:r>
              <a:rPr lang="es-MX" sz="1800" b="1" dirty="0">
                <a:solidFill>
                  <a:srgbClr val="FF0000"/>
                </a:solidFill>
                <a:latin typeface="Book Antiqua" panose="02040602050305030304" pitchFamily="18" charset="0"/>
              </a:rPr>
              <a:t>contexto</a:t>
            </a:r>
            <a:r>
              <a:rPr lang="es-MX" sz="1800" dirty="0">
                <a:latin typeface="Book Antiqua" panose="02040602050305030304" pitchFamily="18" charset="0"/>
              </a:rPr>
              <a:t> se debe comprender una situación problemática que </a:t>
            </a:r>
            <a:r>
              <a:rPr lang="es-MX" sz="1800" b="1" dirty="0">
                <a:latin typeface="Book Antiqua" panose="02040602050305030304" pitchFamily="18" charset="0"/>
              </a:rPr>
              <a:t>se sitúa en la realidad.</a:t>
            </a:r>
            <a:endParaRPr lang="es-MX" sz="1800" dirty="0">
              <a:latin typeface="Book Antiqua" panose="02040602050305030304" pitchFamily="18" charset="0"/>
            </a:endParaRPr>
          </a:p>
          <a:p>
            <a:r>
              <a:rPr lang="es-MX" sz="1800" b="1" dirty="0">
                <a:latin typeface="Book Antiqua" panose="02040602050305030304" pitchFamily="18" charset="0"/>
              </a:rPr>
              <a:t>Por </a:t>
            </a:r>
            <a:r>
              <a:rPr lang="es-MX" sz="1800" b="1" dirty="0">
                <a:solidFill>
                  <a:srgbClr val="FF0000"/>
                </a:solidFill>
                <a:latin typeface="Book Antiqua" panose="02040602050305030304" pitchFamily="18" charset="0"/>
              </a:rPr>
              <a:t>cotexto</a:t>
            </a:r>
            <a:r>
              <a:rPr lang="es-MX" sz="1800" dirty="0">
                <a:solidFill>
                  <a:srgbClr val="FF0000"/>
                </a:solidFill>
                <a:latin typeface="Book Antiqua" panose="02040602050305030304" pitchFamily="18" charset="0"/>
              </a:rPr>
              <a:t>,</a:t>
            </a:r>
            <a:r>
              <a:rPr lang="es-MX" sz="1800" dirty="0">
                <a:latin typeface="Book Antiqua" panose="02040602050305030304" pitchFamily="18" charset="0"/>
              </a:rPr>
              <a:t> en cambio, nos referimos al conjunto de elementos propios de un </a:t>
            </a:r>
            <a:r>
              <a:rPr lang="es-MX" sz="1800" b="1" dirty="0">
                <a:latin typeface="Book Antiqua" panose="02040602050305030304" pitchFamily="18" charset="0"/>
              </a:rPr>
              <a:t>área determinada </a:t>
            </a:r>
            <a:r>
              <a:rPr lang="es-MX" sz="1800" dirty="0">
                <a:latin typeface="Book Antiqua" panose="02040602050305030304" pitchFamily="18" charset="0"/>
              </a:rPr>
              <a:t>de conocimiento, que se emplea con la finalidad de situar una pregunta o situación problemática determinada.</a:t>
            </a:r>
          </a:p>
          <a:p>
            <a:r>
              <a:rPr lang="es-MX" sz="1800" dirty="0">
                <a:latin typeface="Book Antiqua" panose="02040602050305030304" pitchFamily="18" charset="0"/>
              </a:rPr>
              <a:t>El cotexto es </a:t>
            </a:r>
            <a:r>
              <a:rPr lang="es-MX" sz="1800" b="1" dirty="0">
                <a:latin typeface="Book Antiqua" panose="02040602050305030304" pitchFamily="18" charset="0"/>
              </a:rPr>
              <a:t>ese conjunto de elementos significantes </a:t>
            </a:r>
            <a:r>
              <a:rPr lang="es-MX" sz="1800" dirty="0">
                <a:latin typeface="Book Antiqua" panose="02040602050305030304" pitchFamily="18" charset="0"/>
              </a:rPr>
              <a:t>que acompaña a la pregunta formulada o al problema planteado, que no solo alude a enunciados lingüísticos, sino también considera gráficos, imágenes.</a:t>
            </a:r>
            <a:endParaRPr lang="en-US" sz="1800" dirty="0">
              <a:latin typeface="Book Antiqua" panose="02040602050305030304" pitchFamily="18" charset="0"/>
            </a:endParaRPr>
          </a:p>
        </p:txBody>
      </p:sp>
      <p:sp>
        <p:nvSpPr>
          <p:cNvPr id="4" name="Rectángulo 3"/>
          <p:cNvSpPr/>
          <p:nvPr/>
        </p:nvSpPr>
        <p:spPr>
          <a:xfrm>
            <a:off x="1303020" y="4360059"/>
            <a:ext cx="8084562" cy="5370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88" dirty="0">
                <a:solidFill>
                  <a:schemeClr val="tx1"/>
                </a:solidFill>
              </a:rPr>
              <a:t>CONTEXTO (y/o COTEXTO) + INFORMACIÓN = </a:t>
            </a:r>
            <a:r>
              <a:rPr lang="es-MX" sz="1488" b="1" dirty="0">
                <a:solidFill>
                  <a:schemeClr val="tx1"/>
                </a:solidFill>
              </a:rPr>
              <a:t>PREGUNTA DESTREZAS COGNITIVAS</a:t>
            </a:r>
          </a:p>
        </p:txBody>
      </p:sp>
    </p:spTree>
    <p:extLst>
      <p:ext uri="{BB962C8B-B14F-4D97-AF65-F5344CB8AC3E}">
        <p14:creationId xmlns:p14="http://schemas.microsoft.com/office/powerpoint/2010/main" val="1295736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EC34C-716F-C198-38B1-8605665EF0E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63649B3-4C8C-C95F-0B1E-AEFDFE77FE34}"/>
              </a:ext>
            </a:extLst>
          </p:cNvPr>
          <p:cNvSpPr txBox="1"/>
          <p:nvPr/>
        </p:nvSpPr>
        <p:spPr>
          <a:xfrm>
            <a:off x="683812" y="1553927"/>
            <a:ext cx="5133892" cy="1200329"/>
          </a:xfrm>
          <a:prstGeom prst="rect">
            <a:avLst/>
          </a:prstGeom>
          <a:noFill/>
        </p:spPr>
        <p:txBody>
          <a:bodyPr wrap="square">
            <a:spAutoFit/>
          </a:bodyPr>
          <a:lstStyle/>
          <a:p>
            <a:r>
              <a:rPr lang="es-PE" dirty="0">
                <a:effectLst/>
                <a:latin typeface="Book Antiqua" panose="02040602050305030304" pitchFamily="18" charset="0"/>
                <a:ea typeface="Calibri" panose="020F0502020204030204" pitchFamily="34" charset="0"/>
                <a:cs typeface="Times New Roman" panose="02020603050405020304" pitchFamily="18" charset="0"/>
              </a:rPr>
              <a:t>En el siguiente grabado de Gustavo Doré </a:t>
            </a:r>
            <a:r>
              <a:rPr lang="es-ES" dirty="0">
                <a:latin typeface="Book Antiqua" panose="02040602050305030304" pitchFamily="18" charset="0"/>
              </a:rPr>
              <a:t>se representa al poeta medieval Dante Alighieri al iniciar el canto I de la </a:t>
            </a:r>
            <a:r>
              <a:rPr lang="es-ES" i="1" dirty="0">
                <a:latin typeface="Book Antiqua" panose="02040602050305030304" pitchFamily="18" charset="0"/>
              </a:rPr>
              <a:t>Divina Comedia</a:t>
            </a:r>
            <a:r>
              <a:rPr lang="es-ES" dirty="0">
                <a:latin typeface="Book Antiqua" panose="02040602050305030304" pitchFamily="18" charset="0"/>
              </a:rPr>
              <a:t>. Indique a qué espacio alude y cuál es su simbología</a:t>
            </a:r>
            <a:r>
              <a:rPr lang="es-PE" dirty="0">
                <a:effectLst/>
                <a:latin typeface="Book Antiqua" panose="02040602050305030304" pitchFamily="18" charset="0"/>
                <a:ea typeface="Calibri" panose="020F0502020204030204" pitchFamily="34" charset="0"/>
                <a:cs typeface="Times New Roman" panose="02020603050405020304" pitchFamily="18" charset="0"/>
              </a:rPr>
              <a:t>. </a:t>
            </a:r>
          </a:p>
        </p:txBody>
      </p:sp>
      <p:sp>
        <p:nvSpPr>
          <p:cNvPr id="4" name="CuadroTexto 3">
            <a:extLst>
              <a:ext uri="{FF2B5EF4-FFF2-40B4-BE49-F238E27FC236}">
                <a16:creationId xmlns:a16="http://schemas.microsoft.com/office/drawing/2014/main" id="{3596171D-A964-5DE0-A93B-4C0A9EEA24F2}"/>
              </a:ext>
            </a:extLst>
          </p:cNvPr>
          <p:cNvSpPr txBox="1"/>
          <p:nvPr/>
        </p:nvSpPr>
        <p:spPr>
          <a:xfrm>
            <a:off x="218504" y="3791747"/>
            <a:ext cx="9501808" cy="1600438"/>
          </a:xfrm>
          <a:prstGeom prst="rect">
            <a:avLst/>
          </a:prstGeom>
          <a:noFill/>
        </p:spPr>
        <p:txBody>
          <a:bodyPr wrap="square">
            <a:spAutoFit/>
          </a:bodyPr>
          <a:lstStyle/>
          <a:p>
            <a:pPr marL="342900" lvl="0" indent="-342900">
              <a:buFont typeface="+mj-lt"/>
              <a:buAutoNum type="alphaUcPeriod"/>
            </a:pPr>
            <a:r>
              <a:rPr lang="es-ES" sz="1600" dirty="0">
                <a:latin typeface="Book Antiqua" panose="02040602050305030304" pitchFamily="18" charset="0"/>
              </a:rPr>
              <a:t>El bosque de Dite que alegoriza la degradación. </a:t>
            </a:r>
            <a:endParaRPr lang="es-PE" sz="1600" dirty="0">
              <a:latin typeface="Book Antiqua" panose="02040602050305030304" pitchFamily="18" charset="0"/>
            </a:endParaRPr>
          </a:p>
          <a:p>
            <a:pPr marL="342900" lvl="0" indent="-342900">
              <a:buFont typeface="+mj-lt"/>
              <a:buAutoNum type="alphaUcPeriod"/>
            </a:pPr>
            <a:r>
              <a:rPr lang="es-ES" sz="1600" dirty="0">
                <a:latin typeface="Book Antiqua" panose="02040602050305030304" pitchFamily="18" charset="0"/>
              </a:rPr>
              <a:t>El valle de las almas que figura la expiación. </a:t>
            </a:r>
            <a:endParaRPr lang="es-PE" sz="1600" dirty="0">
              <a:latin typeface="Book Antiqua" panose="02040602050305030304" pitchFamily="18" charset="0"/>
            </a:endParaRPr>
          </a:p>
          <a:p>
            <a:pPr marL="342900" lvl="0" indent="-342900">
              <a:buFont typeface="+mj-lt"/>
              <a:buAutoNum type="alphaUcPeriod"/>
            </a:pPr>
            <a:r>
              <a:rPr lang="es-ES" sz="1600" dirty="0">
                <a:latin typeface="Book Antiqua" panose="02040602050305030304" pitchFamily="18" charset="0"/>
              </a:rPr>
              <a:t>El </a:t>
            </a:r>
            <a:r>
              <a:rPr lang="es-ES" sz="1600" dirty="0" err="1">
                <a:latin typeface="Book Antiqua" panose="02040602050305030304" pitchFamily="18" charset="0"/>
              </a:rPr>
              <a:t>Anteinfierno</a:t>
            </a:r>
            <a:r>
              <a:rPr lang="es-ES" sz="1600" dirty="0">
                <a:latin typeface="Book Antiqua" panose="02040602050305030304" pitchFamily="18" charset="0"/>
              </a:rPr>
              <a:t> que simboliza el remordimiento. </a:t>
            </a:r>
            <a:endParaRPr lang="es-PE" sz="1600" dirty="0">
              <a:latin typeface="Book Antiqua" panose="02040602050305030304" pitchFamily="18" charset="0"/>
            </a:endParaRPr>
          </a:p>
          <a:p>
            <a:pPr marL="342900" lvl="0" indent="-342900">
              <a:buFont typeface="+mj-lt"/>
              <a:buAutoNum type="alphaUcPeriod"/>
            </a:pPr>
            <a:r>
              <a:rPr lang="es-ES" sz="1600" dirty="0">
                <a:latin typeface="Book Antiqua" panose="02040602050305030304" pitchFamily="18" charset="0"/>
              </a:rPr>
              <a:t>Una selva oscura que representa el pecado. </a:t>
            </a:r>
            <a:endParaRPr lang="es-PE" sz="1600" dirty="0">
              <a:latin typeface="Book Antiqua" panose="02040602050305030304" pitchFamily="18" charset="0"/>
            </a:endParaRPr>
          </a:p>
          <a:p>
            <a:pPr marL="342900" lvl="0" indent="-342900">
              <a:buFont typeface="+mj-lt"/>
              <a:buAutoNum type="alphaUcPeriod"/>
            </a:pPr>
            <a:r>
              <a:rPr lang="es-ES" sz="1600" dirty="0">
                <a:latin typeface="Book Antiqua" panose="02040602050305030304" pitchFamily="18" charset="0"/>
              </a:rPr>
              <a:t>La salida del Infierno que encarna el dolor. </a:t>
            </a:r>
            <a:endParaRPr lang="es-PE" sz="1600" dirty="0">
              <a:latin typeface="Book Antiqua" panose="02040602050305030304" pitchFamily="18" charset="0"/>
            </a:endParaRPr>
          </a:p>
          <a:p>
            <a:r>
              <a:rPr lang="es-PE" dirty="0"/>
              <a:t> </a:t>
            </a:r>
          </a:p>
        </p:txBody>
      </p:sp>
      <p:sp>
        <p:nvSpPr>
          <p:cNvPr id="5" name="TextShape 1">
            <a:extLst>
              <a:ext uri="{FF2B5EF4-FFF2-40B4-BE49-F238E27FC236}">
                <a16:creationId xmlns:a16="http://schemas.microsoft.com/office/drawing/2014/main" id="{81E16C84-5297-D4FC-686C-1AA8C328474D}"/>
              </a:ext>
            </a:extLst>
          </p:cNvPr>
          <p:cNvSpPr txBox="1"/>
          <p:nvPr/>
        </p:nvSpPr>
        <p:spPr>
          <a:xfrm>
            <a:off x="360312" y="336606"/>
            <a:ext cx="9360000" cy="720000"/>
          </a:xfrm>
          <a:prstGeom prst="rect">
            <a:avLst/>
          </a:prstGeom>
          <a:noFill/>
          <a:ln w="0">
            <a:noFill/>
          </a:ln>
        </p:spPr>
        <p:txBody>
          <a:bodyPr lIns="0" tIns="0" rIns="0" bIns="0" anchor="ctr" anchorCtr="0">
            <a:noAutofit/>
          </a:bodyPr>
          <a:lstStyle/>
          <a:p>
            <a:r>
              <a:rPr lang="es-MX" sz="2800" b="1" spc="-1" dirty="0">
                <a:solidFill>
                  <a:srgbClr val="FF0000"/>
                </a:solidFill>
                <a:latin typeface="Book Antiqua" panose="02040602050305030304" pitchFamily="18" charset="0"/>
              </a:rPr>
              <a:t>Ejemplo de contexto / </a:t>
            </a:r>
            <a:r>
              <a:rPr lang="es-MX" sz="2800" b="1" spc="-1" dirty="0" err="1">
                <a:solidFill>
                  <a:srgbClr val="FF0000"/>
                </a:solidFill>
                <a:latin typeface="Book Antiqua" panose="02040602050305030304" pitchFamily="18" charset="0"/>
              </a:rPr>
              <a:t>cotexto</a:t>
            </a:r>
            <a:endParaRPr lang="es-PE" sz="2800" b="1" strike="noStrike" spc="-1" dirty="0">
              <a:solidFill>
                <a:srgbClr val="FF0000"/>
              </a:solidFill>
              <a:latin typeface="Book Antiqua" panose="02040602050305030304" pitchFamily="18" charset="0"/>
            </a:endParaRPr>
          </a:p>
        </p:txBody>
      </p:sp>
      <p:pic>
        <p:nvPicPr>
          <p:cNvPr id="6" name="Imagen 5" descr="Descripción: El viaje al Infierno segÃºn 8 obras de arte 7">
            <a:extLst>
              <a:ext uri="{FF2B5EF4-FFF2-40B4-BE49-F238E27FC236}">
                <a16:creationId xmlns:a16="http://schemas.microsoft.com/office/drawing/2014/main" id="{A414E4BC-5537-4BB9-43C7-598C863A0B7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33322" y="603749"/>
            <a:ext cx="3008244" cy="3390388"/>
          </a:xfrm>
          <a:prstGeom prst="rect">
            <a:avLst/>
          </a:prstGeom>
          <a:noFill/>
          <a:ln>
            <a:noFill/>
          </a:ln>
        </p:spPr>
      </p:pic>
    </p:spTree>
    <p:extLst>
      <p:ext uri="{BB962C8B-B14F-4D97-AF65-F5344CB8AC3E}">
        <p14:creationId xmlns:p14="http://schemas.microsoft.com/office/powerpoint/2010/main" val="2199295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a 5">
            <a:extLst>
              <a:ext uri="{FF2B5EF4-FFF2-40B4-BE49-F238E27FC236}">
                <a16:creationId xmlns:a16="http://schemas.microsoft.com/office/drawing/2014/main" id="{3ED3AB24-8624-4060-A24A-214D5CAD1FF1}"/>
              </a:ext>
            </a:extLst>
          </p:cNvPr>
          <p:cNvGraphicFramePr/>
          <p:nvPr>
            <p:extLst>
              <p:ext uri="{D42A27DB-BD31-4B8C-83A1-F6EECF244321}">
                <p14:modId xmlns:p14="http://schemas.microsoft.com/office/powerpoint/2010/main" val="875919223"/>
              </p:ext>
            </p:extLst>
          </p:nvPr>
        </p:nvGraphicFramePr>
        <p:xfrm>
          <a:off x="470812" y="1133855"/>
          <a:ext cx="5152031" cy="3783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Shape 1">
            <a:extLst>
              <a:ext uri="{FF2B5EF4-FFF2-40B4-BE49-F238E27FC236}">
                <a16:creationId xmlns:a16="http://schemas.microsoft.com/office/drawing/2014/main" id="{6D87C11B-6055-8F97-5F98-3D280A00C463}"/>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PE" sz="2800" b="1" strike="noStrike" spc="-1" dirty="0">
                <a:solidFill>
                  <a:srgbClr val="FFFFFF"/>
                </a:solidFill>
                <a:latin typeface="Book Antiqua" panose="02040602050305030304" pitchFamily="18" charset="0"/>
              </a:rPr>
              <a:t>Nivel de dificultad</a:t>
            </a:r>
          </a:p>
        </p:txBody>
      </p:sp>
      <p:sp>
        <p:nvSpPr>
          <p:cNvPr id="2" name="Rectángulo: esquinas redondeadas 1">
            <a:extLst>
              <a:ext uri="{FF2B5EF4-FFF2-40B4-BE49-F238E27FC236}">
                <a16:creationId xmlns:a16="http://schemas.microsoft.com/office/drawing/2014/main" id="{02B3DFD1-9B60-458D-98D0-4C202559B9FD}"/>
              </a:ext>
            </a:extLst>
          </p:cNvPr>
          <p:cNvSpPr/>
          <p:nvPr/>
        </p:nvSpPr>
        <p:spPr>
          <a:xfrm>
            <a:off x="6527560" y="1255875"/>
            <a:ext cx="3192440" cy="1491457"/>
          </a:xfrm>
          <a:prstGeom prst="roundRect">
            <a:avLst/>
          </a:prstGeom>
          <a:solidFill>
            <a:srgbClr val="00B050"/>
          </a:solidFill>
          <a:ln/>
        </p:spPr>
        <p:style>
          <a:lnRef idx="0">
            <a:schemeClr val="accent2"/>
          </a:lnRef>
          <a:fillRef idx="3">
            <a:schemeClr val="accent2"/>
          </a:fillRef>
          <a:effectRef idx="3">
            <a:schemeClr val="accent2"/>
          </a:effectRef>
          <a:fontRef idx="minor">
            <a:schemeClr val="lt1"/>
          </a:fontRef>
        </p:style>
        <p:txBody>
          <a:bodyPr rtlCol="0" anchor="ctr"/>
          <a:lstStyle/>
          <a:p>
            <a:r>
              <a:rPr lang="es-PE" sz="1800" dirty="0">
                <a:latin typeface="Book Antiqua" panose="02040602050305030304" pitchFamily="18" charset="0"/>
                <a:cs typeface="Arial" panose="020B0604020202020204" pitchFamily="34" charset="0"/>
              </a:rPr>
              <a:t>Los ítems difíciles no deben ser tan difíciles que no puedan ser respondidos por ningún postulante.</a:t>
            </a:r>
          </a:p>
        </p:txBody>
      </p:sp>
      <p:sp>
        <p:nvSpPr>
          <p:cNvPr id="3" name="Rectángulo: esquinas redondeadas 2">
            <a:extLst>
              <a:ext uri="{FF2B5EF4-FFF2-40B4-BE49-F238E27FC236}">
                <a16:creationId xmlns:a16="http://schemas.microsoft.com/office/drawing/2014/main" id="{B2FB4F55-5592-1972-1369-1747DA028467}"/>
              </a:ext>
            </a:extLst>
          </p:cNvPr>
          <p:cNvSpPr/>
          <p:nvPr/>
        </p:nvSpPr>
        <p:spPr>
          <a:xfrm>
            <a:off x="6529832" y="3482741"/>
            <a:ext cx="3192440" cy="1491457"/>
          </a:xfrm>
          <a:prstGeom prst="roundRect">
            <a:avLst/>
          </a:prstGeom>
          <a:solidFill>
            <a:srgbClr val="00B050"/>
          </a:solidFill>
          <a:ln/>
        </p:spPr>
        <p:style>
          <a:lnRef idx="0">
            <a:schemeClr val="accent2"/>
          </a:lnRef>
          <a:fillRef idx="3">
            <a:schemeClr val="accent2"/>
          </a:fillRef>
          <a:effectRef idx="3">
            <a:schemeClr val="accent2"/>
          </a:effectRef>
          <a:fontRef idx="minor">
            <a:schemeClr val="lt1"/>
          </a:fontRef>
        </p:style>
        <p:txBody>
          <a:bodyPr rtlCol="0" anchor="ctr"/>
          <a:lstStyle/>
          <a:p>
            <a:r>
              <a:rPr lang="es-MX" sz="1800" dirty="0">
                <a:latin typeface="Book Antiqua" panose="02040602050305030304" pitchFamily="18" charset="0"/>
                <a:cs typeface="Arial" panose="020B0604020202020204" pitchFamily="34" charset="0"/>
              </a:rPr>
              <a:t>Los ítems fáciles no deben ser tan fáciles que puedan ser respondidos por todos los postulantes.</a:t>
            </a:r>
          </a:p>
        </p:txBody>
      </p:sp>
    </p:spTree>
    <p:extLst>
      <p:ext uri="{BB962C8B-B14F-4D97-AF65-F5344CB8AC3E}">
        <p14:creationId xmlns:p14="http://schemas.microsoft.com/office/powerpoint/2010/main" val="1344681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3" y="301993"/>
            <a:ext cx="7714563" cy="726707"/>
          </a:xfrm>
        </p:spPr>
        <p:txBody>
          <a:bodyPr>
            <a:noAutofit/>
          </a:bodyPr>
          <a:lstStyle/>
          <a:p>
            <a:pPr algn="ctr"/>
            <a:r>
              <a:rPr lang="es-PE" sz="2600" b="1" dirty="0">
                <a:solidFill>
                  <a:schemeClr val="bg1"/>
                </a:solidFill>
                <a:latin typeface="Book Antiqua" panose="02040602050305030304" pitchFamily="18" charset="0"/>
              </a:rPr>
              <a:t>Criterios para la graduación de niveles de dificultad de los ítems</a:t>
            </a:r>
          </a:p>
        </p:txBody>
      </p:sp>
      <p:sp>
        <p:nvSpPr>
          <p:cNvPr id="4" name="Rectángulo 3">
            <a:extLst>
              <a:ext uri="{FF2B5EF4-FFF2-40B4-BE49-F238E27FC236}">
                <a16:creationId xmlns:a16="http://schemas.microsoft.com/office/drawing/2014/main" id="{9E677F17-AC28-4148-B6BD-1C7E80058546}"/>
              </a:ext>
            </a:extLst>
          </p:cNvPr>
          <p:cNvSpPr/>
          <p:nvPr/>
        </p:nvSpPr>
        <p:spPr>
          <a:xfrm>
            <a:off x="693043" y="1669773"/>
            <a:ext cx="8636897" cy="2128853"/>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s-MX" b="1" dirty="0">
                <a:latin typeface="Book Antiqua" panose="02040602050305030304" pitchFamily="18" charset="0"/>
              </a:rPr>
              <a:t>Bajo el enfoque por competencias </a:t>
            </a:r>
            <a:r>
              <a:rPr lang="es-MX" dirty="0">
                <a:latin typeface="Book Antiqua" panose="02040602050305030304" pitchFamily="18" charset="0"/>
              </a:rPr>
              <a:t>la dificultad debe ser el resultado de la complejidad de los procedimientos mentales y conocimientos necesarios para resolver la pregunta. En ese sentido, la información dispuesta en el enunciado, como en las alternativas, debe exigir del estudiante conocimientos previos, así como una serie de operaciones mentales con las que pueda hallar su conexión. </a:t>
            </a:r>
          </a:p>
        </p:txBody>
      </p:sp>
    </p:spTree>
    <p:extLst>
      <p:ext uri="{BB962C8B-B14F-4D97-AF65-F5344CB8AC3E}">
        <p14:creationId xmlns:p14="http://schemas.microsoft.com/office/powerpoint/2010/main" val="1182144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360000" y="270000"/>
            <a:ext cx="9360000" cy="720000"/>
          </a:xfrm>
          <a:prstGeom prst="rect">
            <a:avLst/>
          </a:prstGeom>
          <a:noFill/>
          <a:ln w="0">
            <a:noFill/>
          </a:ln>
        </p:spPr>
        <p:txBody>
          <a:bodyPr lIns="0" tIns="0" rIns="0" bIns="0" anchor="ctr" anchorCtr="0">
            <a:noAutofit/>
          </a:bodyPr>
          <a:lstStyle/>
          <a:p>
            <a:pPr algn="ctr">
              <a:spcBef>
                <a:spcPct val="0"/>
              </a:spcBef>
              <a:spcAft>
                <a:spcPts val="600"/>
              </a:spcAft>
            </a:pPr>
            <a:r>
              <a:rPr lang="es-MX" sz="2800" b="1" strike="noStrike" kern="1200" spc="-1" dirty="0">
                <a:solidFill>
                  <a:srgbClr val="FFFFFF"/>
                </a:solidFill>
                <a:latin typeface="Book Antiqua" panose="02040602050305030304" pitchFamily="18" charset="0"/>
              </a:rPr>
              <a:t>Criterios para establecer niveles de dificultad</a:t>
            </a:r>
          </a:p>
        </p:txBody>
      </p:sp>
      <p:sp>
        <p:nvSpPr>
          <p:cNvPr id="91" name="TextShape 2"/>
          <p:cNvSpPr txBox="1"/>
          <p:nvPr/>
        </p:nvSpPr>
        <p:spPr>
          <a:xfrm>
            <a:off x="360000" y="1350000"/>
            <a:ext cx="9360000" cy="3784708"/>
          </a:xfrm>
          <a:prstGeom prst="rect">
            <a:avLst/>
          </a:prstGeom>
          <a:noFill/>
          <a:ln w="0">
            <a:noFill/>
          </a:ln>
        </p:spPr>
        <p:txBody>
          <a:bodyPr lIns="0" tIns="0" rIns="0" bIns="0">
            <a:normAutofit/>
          </a:bodyPr>
          <a:lstStyle/>
          <a:p>
            <a:pPr>
              <a:spcAft>
                <a:spcPts val="853"/>
              </a:spcAft>
            </a:pPr>
            <a:r>
              <a:rPr lang="es-PE" sz="2600" spc="-1" dirty="0">
                <a:solidFill>
                  <a:srgbClr val="1C1C1C"/>
                </a:solidFill>
                <a:latin typeface="Book Antiqua" panose="02040602050305030304" pitchFamily="18" charset="0"/>
              </a:rPr>
              <a:t>Los niveles de dificultad se establecen en función de dos dimensiones:</a:t>
            </a:r>
          </a:p>
          <a:p>
            <a:pPr>
              <a:spcAft>
                <a:spcPts val="853"/>
              </a:spcAft>
            </a:pPr>
            <a:endParaRPr lang="es-PE" sz="2600" spc="-1" dirty="0">
              <a:solidFill>
                <a:srgbClr val="1C1C1C"/>
              </a:solidFill>
              <a:latin typeface="Book Antiqua" panose="02040602050305030304" pitchFamily="18" charset="0"/>
            </a:endParaRPr>
          </a:p>
          <a:p>
            <a:pPr>
              <a:spcAft>
                <a:spcPts val="853"/>
              </a:spcAft>
            </a:pPr>
            <a:r>
              <a:rPr lang="es-PE" sz="2600" spc="-1" dirty="0">
                <a:solidFill>
                  <a:srgbClr val="1C1C1C"/>
                </a:solidFill>
                <a:latin typeface="Book Antiqua" panose="02040602050305030304" pitchFamily="18" charset="0"/>
                <a:cs typeface="Calibri" panose="020F0502020204030204" pitchFamily="34" charset="0"/>
              </a:rPr>
              <a:t>1.</a:t>
            </a:r>
            <a:r>
              <a:rPr lang="es-PE" sz="2600" strike="noStrike" spc="-1" dirty="0">
                <a:solidFill>
                  <a:srgbClr val="1C1C1C"/>
                </a:solidFill>
                <a:latin typeface="Book Antiqua" panose="02040602050305030304" pitchFamily="18" charset="0"/>
                <a:cs typeface="Calibri" panose="020F0502020204030204" pitchFamily="34" charset="0"/>
              </a:rPr>
              <a:t> </a:t>
            </a:r>
            <a:r>
              <a:rPr lang="es-PE" sz="2600" strike="noStrike" spc="-1" dirty="0">
                <a:solidFill>
                  <a:srgbClr val="1C1C1C"/>
                </a:solidFill>
                <a:latin typeface="Book Antiqua" panose="02040602050305030304" pitchFamily="18" charset="0"/>
              </a:rPr>
              <a:t>El conocimiento de los contenidos temáticos</a:t>
            </a:r>
          </a:p>
          <a:p>
            <a:pPr>
              <a:spcAft>
                <a:spcPts val="853"/>
              </a:spcAft>
            </a:pPr>
            <a:endParaRPr lang="es-PE" sz="700" strike="noStrike" spc="-1" dirty="0">
              <a:solidFill>
                <a:srgbClr val="1C1C1C"/>
              </a:solidFill>
              <a:latin typeface="Book Antiqua" panose="02040602050305030304" pitchFamily="18" charset="0"/>
            </a:endParaRPr>
          </a:p>
          <a:p>
            <a:pPr>
              <a:spcAft>
                <a:spcPts val="853"/>
              </a:spcAft>
            </a:pPr>
            <a:r>
              <a:rPr lang="es-PE" sz="2600" spc="-1" dirty="0">
                <a:solidFill>
                  <a:srgbClr val="1C1C1C"/>
                </a:solidFill>
                <a:latin typeface="Book Antiqua" panose="02040602050305030304" pitchFamily="18" charset="0"/>
                <a:cs typeface="Calibri" panose="020F0502020204030204" pitchFamily="34" charset="0"/>
              </a:rPr>
              <a:t>2.</a:t>
            </a:r>
            <a:r>
              <a:rPr lang="es-PE" sz="2600" strike="noStrike" spc="-1" dirty="0">
                <a:solidFill>
                  <a:srgbClr val="1C1C1C"/>
                </a:solidFill>
                <a:latin typeface="Book Antiqua" panose="02040602050305030304" pitchFamily="18" charset="0"/>
                <a:cs typeface="Calibri" panose="020F0502020204030204" pitchFamily="34" charset="0"/>
              </a:rPr>
              <a:t> </a:t>
            </a:r>
            <a:r>
              <a:rPr lang="es-PE" sz="2600" spc="-1" dirty="0">
                <a:solidFill>
                  <a:srgbClr val="1C1C1C"/>
                </a:solidFill>
                <a:latin typeface="Book Antiqua" panose="02040602050305030304" pitchFamily="18" charset="0"/>
              </a:rPr>
              <a:t>El ejercicio de las destrezas cognitivas</a:t>
            </a:r>
            <a:endParaRPr lang="es-PE" sz="2600" strike="noStrike" spc="-1" dirty="0">
              <a:solidFill>
                <a:srgbClr val="1C1C1C"/>
              </a:solidFill>
              <a:latin typeface="Book Antiqua" panose="02040602050305030304" pitchFamily="18" charset="0"/>
            </a:endParaRPr>
          </a:p>
          <a:p>
            <a:pPr>
              <a:spcAft>
                <a:spcPts val="853"/>
              </a:spcAft>
            </a:pPr>
            <a:endParaRPr lang="es-PE" sz="2800" b="1" strike="noStrike" spc="-1" dirty="0">
              <a:solidFill>
                <a:srgbClr val="1C1C1C"/>
              </a:solidFill>
              <a:latin typeface="Book Antiqua" panose="02040602050305030304" pitchFamily="18" charset="0"/>
            </a:endParaRPr>
          </a:p>
        </p:txBody>
      </p:sp>
    </p:spTree>
    <p:extLst>
      <p:ext uri="{BB962C8B-B14F-4D97-AF65-F5344CB8AC3E}">
        <p14:creationId xmlns:p14="http://schemas.microsoft.com/office/powerpoint/2010/main" val="232401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2" y="301993"/>
            <a:ext cx="7609341" cy="711467"/>
          </a:xfrm>
        </p:spPr>
        <p:txBody>
          <a:bodyPr>
            <a:noAutofit/>
          </a:bodyPr>
          <a:lstStyle/>
          <a:p>
            <a:pPr algn="ctr"/>
            <a:r>
              <a:rPr lang="es-MX" sz="3200" b="1" dirty="0">
                <a:solidFill>
                  <a:schemeClr val="bg1"/>
                </a:solidFill>
                <a:latin typeface="Book Antiqua" panose="02040602050305030304" pitchFamily="18" charset="0"/>
              </a:rPr>
              <a:t>1. Conocimiento de contenidos temáticos</a:t>
            </a:r>
            <a:endParaRPr lang="en-US" sz="3200" b="1" dirty="0">
              <a:solidFill>
                <a:schemeClr val="bg1"/>
              </a:solidFill>
              <a:latin typeface="Book Antiqua" panose="02040602050305030304" pitchFamily="18" charset="0"/>
            </a:endParaRP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4129773661"/>
              </p:ext>
            </p:extLst>
          </p:nvPr>
        </p:nvGraphicFramePr>
        <p:xfrm>
          <a:off x="693042" y="1311448"/>
          <a:ext cx="8694539" cy="35977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 name="Grupo 2">
            <a:extLst>
              <a:ext uri="{FF2B5EF4-FFF2-40B4-BE49-F238E27FC236}">
                <a16:creationId xmlns:a16="http://schemas.microsoft.com/office/drawing/2014/main" id="{18E31211-8081-EEEC-1670-8DC5784575CD}"/>
              </a:ext>
            </a:extLst>
          </p:cNvPr>
          <p:cNvGrpSpPr/>
          <p:nvPr/>
        </p:nvGrpSpPr>
        <p:grpSpPr>
          <a:xfrm>
            <a:off x="4219383" y="3467948"/>
            <a:ext cx="5564504" cy="1040531"/>
            <a:chOff x="3130034" y="131688"/>
            <a:chExt cx="5564504" cy="1040531"/>
          </a:xfrm>
        </p:grpSpPr>
        <p:sp>
          <p:nvSpPr>
            <p:cNvPr id="5" name="Rectángulo: esquinas superiores redondeadas 4">
              <a:extLst>
                <a:ext uri="{FF2B5EF4-FFF2-40B4-BE49-F238E27FC236}">
                  <a16:creationId xmlns:a16="http://schemas.microsoft.com/office/drawing/2014/main" id="{04B20071-205D-F0E1-698F-B3A4F68CFB37}"/>
                </a:ext>
              </a:extLst>
            </p:cNvPr>
            <p:cNvSpPr/>
            <p:nvPr/>
          </p:nvSpPr>
          <p:spPr>
            <a:xfrm rot="5400000">
              <a:off x="5392020" y="-2130298"/>
              <a:ext cx="1040531" cy="5564504"/>
            </a:xfrm>
            <a:prstGeom prst="round2SameRect">
              <a:avLst/>
            </a:prstGeom>
          </p:spPr>
          <p:style>
            <a:lnRef idx="2">
              <a:schemeClr val="accent6">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a:lstStyle/>
            <a:p>
              <a:endParaRPr lang="es-PE"/>
            </a:p>
          </p:txBody>
        </p:sp>
        <p:sp>
          <p:nvSpPr>
            <p:cNvPr id="6" name="Rectángulo: esquinas superiores redondeadas 4">
              <a:extLst>
                <a:ext uri="{FF2B5EF4-FFF2-40B4-BE49-F238E27FC236}">
                  <a16:creationId xmlns:a16="http://schemas.microsoft.com/office/drawing/2014/main" id="{EA7AC963-1604-2591-FC28-946FB8C50A15}"/>
                </a:ext>
              </a:extLst>
            </p:cNvPr>
            <p:cNvSpPr txBox="1"/>
            <p:nvPr/>
          </p:nvSpPr>
          <p:spPr>
            <a:xfrm>
              <a:off x="3130034" y="182483"/>
              <a:ext cx="5513709" cy="93894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pPr marL="114300" lvl="1" indent="-114300" algn="l" defTabSz="533400" rtl="0">
                <a:lnSpc>
                  <a:spcPct val="90000"/>
                </a:lnSpc>
                <a:spcBef>
                  <a:spcPct val="0"/>
                </a:spcBef>
                <a:spcAft>
                  <a:spcPct val="15000"/>
                </a:spcAft>
                <a:buChar char="•"/>
              </a:pPr>
              <a:r>
                <a:rPr lang="es-MX" sz="1200" kern="1200" dirty="0">
                  <a:latin typeface="Book Antiqua" panose="02040602050305030304" pitchFamily="18" charset="0"/>
                </a:rPr>
                <a:t>la información es necesaria, pero </a:t>
              </a:r>
              <a:r>
                <a:rPr lang="es-MX" sz="1200" b="1" kern="1200" dirty="0">
                  <a:latin typeface="Book Antiqua" panose="02040602050305030304" pitchFamily="18" charset="0"/>
                </a:rPr>
                <a:t>insuficiente</a:t>
              </a:r>
              <a:r>
                <a:rPr lang="es-MX" sz="1200" kern="1200" dirty="0">
                  <a:latin typeface="Book Antiqua" panose="02040602050305030304" pitchFamily="18" charset="0"/>
                </a:rPr>
                <a:t> para resolver los ítems. </a:t>
              </a:r>
              <a:endParaRPr lang="en-US" sz="1200" kern="1200" dirty="0">
                <a:latin typeface="Book Antiqua" panose="02040602050305030304" pitchFamily="18" charset="0"/>
              </a:endParaRPr>
            </a:p>
            <a:p>
              <a:pPr marL="114300" lvl="1" indent="-114300" algn="l" defTabSz="533400" rtl="0">
                <a:lnSpc>
                  <a:spcPct val="90000"/>
                </a:lnSpc>
                <a:spcBef>
                  <a:spcPct val="0"/>
                </a:spcBef>
                <a:spcAft>
                  <a:spcPct val="15000"/>
                </a:spcAft>
                <a:buChar char="•"/>
              </a:pPr>
              <a:r>
                <a:rPr lang="es-MX" sz="1200" kern="1200" dirty="0">
                  <a:latin typeface="Book Antiqua" panose="02040602050305030304" pitchFamily="18" charset="0"/>
                </a:rPr>
                <a:t>no puede ser la materia sobre la que se evalúa, debemos considerarla como insumo que permite plantear preguntas.</a:t>
              </a:r>
              <a:r>
                <a:rPr lang="es-MX" sz="900" kern="1200" dirty="0">
                  <a:latin typeface="Book Antiqua" panose="02040602050305030304" pitchFamily="18" charset="0"/>
                </a:rPr>
                <a:t>  </a:t>
              </a:r>
              <a:endParaRPr lang="en-US" sz="900" kern="1200" dirty="0">
                <a:latin typeface="Book Antiqua" panose="02040602050305030304" pitchFamily="18" charset="0"/>
              </a:endParaRPr>
            </a:p>
          </p:txBody>
        </p:sp>
      </p:grpSp>
    </p:spTree>
    <p:extLst>
      <p:ext uri="{BB962C8B-B14F-4D97-AF65-F5344CB8AC3E}">
        <p14:creationId xmlns:p14="http://schemas.microsoft.com/office/powerpoint/2010/main" val="1994350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360000" y="270000"/>
            <a:ext cx="9360000" cy="720000"/>
          </a:xfrm>
          <a:prstGeom prst="rect">
            <a:avLst/>
          </a:prstGeom>
          <a:noFill/>
          <a:ln w="0">
            <a:noFill/>
          </a:ln>
        </p:spPr>
        <p:txBody>
          <a:bodyPr lIns="0" tIns="0" rIns="0" bIns="0" anchor="ctr" anchorCtr="0">
            <a:noAutofit/>
          </a:bodyPr>
          <a:lstStyle/>
          <a:p>
            <a:pPr algn="ctr">
              <a:spcBef>
                <a:spcPct val="0"/>
              </a:spcBef>
              <a:spcAft>
                <a:spcPts val="600"/>
              </a:spcAft>
            </a:pPr>
            <a:r>
              <a:rPr lang="es-MX" sz="2800" b="1" strike="noStrike" kern="1200" spc="-1" dirty="0">
                <a:solidFill>
                  <a:srgbClr val="FFFFFF"/>
                </a:solidFill>
                <a:latin typeface="Book Antiqua" panose="02040602050305030304" pitchFamily="18" charset="0"/>
              </a:rPr>
              <a:t>2. Ejercicio de destrezas cognitivas</a:t>
            </a:r>
            <a:endParaRPr lang="en-US" sz="2800" b="1" strike="noStrike" kern="1200" spc="-1" dirty="0">
              <a:solidFill>
                <a:srgbClr val="FFFFFF"/>
              </a:solidFill>
              <a:latin typeface="Book Antiqua" panose="02040602050305030304" pitchFamily="18" charset="0"/>
            </a:endParaRPr>
          </a:p>
        </p:txBody>
      </p:sp>
      <p:sp>
        <p:nvSpPr>
          <p:cNvPr id="91" name="TextShape 2"/>
          <p:cNvSpPr txBox="1"/>
          <p:nvPr/>
        </p:nvSpPr>
        <p:spPr>
          <a:xfrm>
            <a:off x="359999" y="1349999"/>
            <a:ext cx="9359999" cy="3772985"/>
          </a:xfrm>
          <a:prstGeom prst="rect">
            <a:avLst/>
          </a:prstGeom>
          <a:noFill/>
          <a:ln w="0">
            <a:noFill/>
          </a:ln>
        </p:spPr>
        <p:txBody>
          <a:bodyPr lIns="0" tIns="0" rIns="0" bIns="0">
            <a:normAutofit lnSpcReduction="10000"/>
          </a:bodyPr>
          <a:lstStyle/>
          <a:p>
            <a:pPr>
              <a:spcAft>
                <a:spcPts val="853"/>
              </a:spcAft>
            </a:pPr>
            <a:r>
              <a:rPr lang="es-PE" sz="2600" b="1" strike="noStrike" spc="-1" dirty="0">
                <a:solidFill>
                  <a:schemeClr val="tx2"/>
                </a:solidFill>
                <a:latin typeface="Book Antiqua" panose="02040602050305030304" pitchFamily="18" charset="0"/>
              </a:rPr>
              <a:t>Aplicación</a:t>
            </a:r>
            <a:r>
              <a:rPr lang="es-PE" sz="2600" strike="noStrike" spc="-1" dirty="0">
                <a:solidFill>
                  <a:srgbClr val="1C1C1C"/>
                </a:solidFill>
                <a:latin typeface="Book Antiqua" panose="02040602050305030304" pitchFamily="18" charset="0"/>
              </a:rPr>
              <a:t>:</a:t>
            </a:r>
            <a:r>
              <a:rPr lang="es-MX" sz="2600" spc="-1" dirty="0">
                <a:solidFill>
                  <a:srgbClr val="1C1C1C"/>
                </a:solidFill>
                <a:latin typeface="Book Antiqua" panose="02040602050305030304" pitchFamily="18" charset="0"/>
              </a:rPr>
              <a:t> Transfiere y usa datos; los procesa por medio de otros conceptos y/o procedimientos para completar o resolver un problema.  </a:t>
            </a:r>
            <a:r>
              <a:rPr lang="es-PE" sz="2600" spc="-1" dirty="0">
                <a:solidFill>
                  <a:srgbClr val="1C1C1C"/>
                </a:solidFill>
                <a:latin typeface="Book Antiqua" panose="02040602050305030304" pitchFamily="18" charset="0"/>
              </a:rPr>
              <a:t> </a:t>
            </a:r>
            <a:endParaRPr lang="es-PE" sz="2600" strike="noStrike" spc="-1" dirty="0">
              <a:solidFill>
                <a:srgbClr val="1C1C1C"/>
              </a:solidFill>
              <a:latin typeface="Book Antiqua" panose="02040602050305030304" pitchFamily="18" charset="0"/>
            </a:endParaRPr>
          </a:p>
          <a:p>
            <a:pPr>
              <a:spcAft>
                <a:spcPts val="853"/>
              </a:spcAft>
            </a:pPr>
            <a:r>
              <a:rPr lang="es-PE" sz="2600" b="1" spc="-1" dirty="0">
                <a:solidFill>
                  <a:schemeClr val="tx2"/>
                </a:solidFill>
                <a:latin typeface="Book Antiqua" panose="02040602050305030304" pitchFamily="18" charset="0"/>
              </a:rPr>
              <a:t>Análisis</a:t>
            </a:r>
            <a:r>
              <a:rPr lang="es-PE" sz="2600" spc="-1" dirty="0">
                <a:solidFill>
                  <a:srgbClr val="1C1C1C"/>
                </a:solidFill>
                <a:latin typeface="Book Antiqua" panose="02040602050305030304" pitchFamily="18" charset="0"/>
              </a:rPr>
              <a:t>: </a:t>
            </a:r>
            <a:r>
              <a:rPr lang="es-MX" sz="2600" spc="-1" dirty="0">
                <a:solidFill>
                  <a:srgbClr val="1C1C1C"/>
                </a:solidFill>
                <a:latin typeface="Book Antiqua" panose="02040602050305030304" pitchFamily="18" charset="0"/>
              </a:rPr>
              <a:t>Distingue, clasifica y relaciona evidencias o estructuras de un hecho o de una pregunta. Intenta entender la organización del material informativo examinando las partes de las que se compone. </a:t>
            </a:r>
            <a:endParaRPr lang="es-PE" sz="2600" spc="-1" dirty="0">
              <a:solidFill>
                <a:srgbClr val="1C1C1C"/>
              </a:solidFill>
              <a:latin typeface="Book Antiqua" panose="02040602050305030304" pitchFamily="18" charset="0"/>
            </a:endParaRPr>
          </a:p>
          <a:p>
            <a:pPr>
              <a:spcAft>
                <a:spcPts val="853"/>
              </a:spcAft>
            </a:pPr>
            <a:r>
              <a:rPr lang="es-PE" sz="2600" b="1" strike="noStrike" spc="-1" dirty="0">
                <a:solidFill>
                  <a:schemeClr val="tx2"/>
                </a:solidFill>
                <a:latin typeface="Book Antiqua" panose="02040602050305030304" pitchFamily="18" charset="0"/>
              </a:rPr>
              <a:t>Síntesis</a:t>
            </a:r>
            <a:r>
              <a:rPr lang="es-PE" sz="2600" strike="noStrike" spc="-1" dirty="0">
                <a:solidFill>
                  <a:srgbClr val="1C1C1C"/>
                </a:solidFill>
                <a:latin typeface="Book Antiqua" panose="02040602050305030304" pitchFamily="18" charset="0"/>
              </a:rPr>
              <a:t>: Relaciona elementos de diversa naturaleza y establece conexiones para obtener conclusiones.</a:t>
            </a:r>
            <a:endParaRPr lang="es-MX" sz="2300" cap="small" spc="-1" dirty="0">
              <a:solidFill>
                <a:srgbClr val="1C1C1C"/>
              </a:solidFill>
              <a:latin typeface="Book Antiqua" panose="02040602050305030304" pitchFamily="18" charset="0"/>
            </a:endParaRPr>
          </a:p>
          <a:p>
            <a:pPr>
              <a:spcAft>
                <a:spcPts val="853"/>
              </a:spcAft>
            </a:pPr>
            <a:endParaRPr lang="es-PE" sz="2600" strike="noStrike" spc="-1" dirty="0">
              <a:solidFill>
                <a:srgbClr val="1C1C1C"/>
              </a:solidFill>
              <a:latin typeface="Book Antiqua" panose="02040602050305030304" pitchFamily="18" charset="0"/>
            </a:endParaRPr>
          </a:p>
        </p:txBody>
      </p:sp>
    </p:spTree>
    <p:extLst>
      <p:ext uri="{BB962C8B-B14F-4D97-AF65-F5344CB8AC3E}">
        <p14:creationId xmlns:p14="http://schemas.microsoft.com/office/powerpoint/2010/main" val="2225667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0" name="TextShape 1"/>
          <p:cNvSpPr txBox="1"/>
          <p:nvPr/>
        </p:nvSpPr>
        <p:spPr>
          <a:xfrm>
            <a:off x="360000" y="270000"/>
            <a:ext cx="9360000" cy="720000"/>
          </a:xfrm>
          <a:prstGeom prst="rect">
            <a:avLst/>
          </a:prstGeom>
          <a:noFill/>
          <a:ln w="0">
            <a:noFill/>
          </a:ln>
        </p:spPr>
        <p:txBody>
          <a:bodyPr lIns="0" tIns="0" rIns="0" bIns="0" anchor="ctr" anchorCtr="0">
            <a:noAutofit/>
          </a:bodyPr>
          <a:lstStyle/>
          <a:p>
            <a:pPr marL="0" marR="0" lvl="0" indent="0" algn="ctr" defTabSz="914400" rtl="0" eaLnBrk="1" fontAlgn="auto" latinLnBrk="0" hangingPunct="1">
              <a:lnSpc>
                <a:spcPct val="100000"/>
              </a:lnSpc>
              <a:spcBef>
                <a:spcPct val="0"/>
              </a:spcBef>
              <a:spcAft>
                <a:spcPts val="600"/>
              </a:spcAft>
              <a:buClrTx/>
              <a:buSzTx/>
              <a:buFontTx/>
              <a:buNone/>
              <a:tabLst/>
              <a:defRPr/>
            </a:pPr>
            <a:r>
              <a:rPr kumimoji="0" lang="es-MX" sz="2800" b="1" i="0" u="none" strike="noStrike" kern="1200" cap="none" spc="-1" normalizeH="0" baseline="0" noProof="0" dirty="0">
                <a:ln>
                  <a:noFill/>
                </a:ln>
                <a:solidFill>
                  <a:srgbClr val="FFFFFF"/>
                </a:solidFill>
                <a:effectLst/>
                <a:uLnTx/>
                <a:uFillTx/>
                <a:latin typeface="Book Antiqua" panose="02040602050305030304" pitchFamily="18" charset="0"/>
              </a:rPr>
              <a:t>No se debe olvidar</a:t>
            </a:r>
          </a:p>
        </p:txBody>
      </p:sp>
      <p:sp>
        <p:nvSpPr>
          <p:cNvPr id="91" name="TextShape 2"/>
          <p:cNvSpPr txBox="1"/>
          <p:nvPr/>
        </p:nvSpPr>
        <p:spPr>
          <a:xfrm>
            <a:off x="359999" y="1349999"/>
            <a:ext cx="9359999" cy="3772985"/>
          </a:xfrm>
          <a:prstGeom prst="rect">
            <a:avLst/>
          </a:prstGeom>
          <a:noFill/>
          <a:ln w="0">
            <a:noFill/>
          </a:ln>
        </p:spPr>
        <p:txBody>
          <a:bodyPr lIns="0" tIns="0" rIns="0" bIns="0">
            <a:normAutofit/>
          </a:bodyPr>
          <a:lstStyle/>
          <a:p>
            <a:pPr marL="0" marR="0" lvl="0" indent="0" algn="l" defTabSz="914400" rtl="0" eaLnBrk="1" fontAlgn="auto" latinLnBrk="0" hangingPunct="1">
              <a:lnSpc>
                <a:spcPct val="100000"/>
              </a:lnSpc>
              <a:spcBef>
                <a:spcPts val="0"/>
              </a:spcBef>
              <a:spcAft>
                <a:spcPts val="853"/>
              </a:spcAft>
              <a:buClrTx/>
              <a:buSzTx/>
              <a:buFontTx/>
              <a:buNone/>
              <a:tabLst/>
              <a:defRPr/>
            </a:pPr>
            <a:r>
              <a:rPr kumimoji="0" lang="es-MX" sz="2000" b="0" i="0" u="none" strike="noStrike" kern="1200" cap="none" spc="-1" normalizeH="0" baseline="0" noProof="0" dirty="0">
                <a:ln>
                  <a:noFill/>
                </a:ln>
                <a:solidFill>
                  <a:prstClr val="white"/>
                </a:solidFill>
                <a:effectLst/>
                <a:uLnTx/>
                <a:uFillTx/>
                <a:latin typeface="Book Antiqua" panose="02040602050305030304" pitchFamily="18" charset="0"/>
              </a:rPr>
              <a:t>Un criterio que debe descartarse como válido para establecer el nivel de dificultad es el uso de un lenguaje abstruso en sus dimensiones semántica, sintáctica y de coherencia lógica de los enunciados. Todo ítem debe presentar lo siguiente:</a:t>
            </a:r>
          </a:p>
          <a:p>
            <a:pPr marL="0" marR="0" lvl="0" indent="0" algn="l" defTabSz="914400" rtl="0" eaLnBrk="1" fontAlgn="auto" latinLnBrk="0" hangingPunct="1">
              <a:lnSpc>
                <a:spcPct val="100000"/>
              </a:lnSpc>
              <a:spcBef>
                <a:spcPts val="0"/>
              </a:spcBef>
              <a:spcAft>
                <a:spcPts val="853"/>
              </a:spcAft>
              <a:buClrTx/>
              <a:buSzTx/>
              <a:buFontTx/>
              <a:buNone/>
              <a:tabLst/>
              <a:defRPr/>
            </a:pPr>
            <a:endParaRPr kumimoji="0" lang="es-MX" sz="2000" b="0" i="0" u="none" strike="noStrike" kern="1200" cap="none" spc="-1" normalizeH="0" baseline="0" noProof="0" dirty="0">
              <a:ln>
                <a:noFill/>
              </a:ln>
              <a:solidFill>
                <a:prstClr val="white"/>
              </a:solidFill>
              <a:effectLst/>
              <a:uLnTx/>
              <a:uFillTx/>
              <a:latin typeface="Book Antiqua" panose="02040602050305030304" pitchFamily="18" charset="0"/>
            </a:endParaRPr>
          </a:p>
          <a:p>
            <a:pPr marL="0" marR="0" lvl="0" indent="0" algn="l" defTabSz="914400" rtl="0" eaLnBrk="1" fontAlgn="auto" latinLnBrk="0" hangingPunct="1">
              <a:lnSpc>
                <a:spcPct val="100000"/>
              </a:lnSpc>
              <a:spcBef>
                <a:spcPts val="0"/>
              </a:spcBef>
              <a:spcAft>
                <a:spcPts val="853"/>
              </a:spcAft>
              <a:buClrTx/>
              <a:buSzTx/>
              <a:buFontTx/>
              <a:buNone/>
              <a:tabLst/>
              <a:defRPr/>
            </a:pPr>
            <a:r>
              <a:rPr kumimoji="0" lang="es-MX" sz="2000" b="0" i="0" u="none" strike="noStrike" kern="1200" cap="none" spc="-1" normalizeH="0" baseline="0" noProof="0" dirty="0">
                <a:ln>
                  <a:noFill/>
                </a:ln>
                <a:solidFill>
                  <a:prstClr val="white"/>
                </a:solidFill>
                <a:effectLst/>
                <a:uLnTx/>
                <a:uFillTx/>
                <a:latin typeface="Book Antiqua" panose="02040602050305030304" pitchFamily="18" charset="0"/>
              </a:rPr>
              <a:t>1. Léxico medio para un estudiante de educación secundaria</a:t>
            </a:r>
          </a:p>
          <a:p>
            <a:pPr marL="0" marR="0" lvl="0" indent="0" algn="l" defTabSz="914400" rtl="0" eaLnBrk="1" fontAlgn="auto" latinLnBrk="0" hangingPunct="1">
              <a:lnSpc>
                <a:spcPct val="100000"/>
              </a:lnSpc>
              <a:spcBef>
                <a:spcPts val="0"/>
              </a:spcBef>
              <a:spcAft>
                <a:spcPts val="853"/>
              </a:spcAft>
              <a:buClrTx/>
              <a:buSzTx/>
              <a:buFontTx/>
              <a:buNone/>
              <a:tabLst/>
              <a:defRPr/>
            </a:pPr>
            <a:r>
              <a:rPr kumimoji="0" lang="es-MX" sz="2000" b="0" i="0" u="none" strike="noStrike" kern="1200" cap="none" spc="-1" normalizeH="0" baseline="0" noProof="0" dirty="0">
                <a:ln>
                  <a:noFill/>
                </a:ln>
                <a:solidFill>
                  <a:prstClr val="white"/>
                </a:solidFill>
                <a:effectLst/>
                <a:uLnTx/>
                <a:uFillTx/>
                <a:latin typeface="Book Antiqua" panose="02040602050305030304" pitchFamily="18" charset="0"/>
              </a:rPr>
              <a:t>2. Redacción clara, directa y formalmente lógica</a:t>
            </a:r>
            <a:endParaRPr kumimoji="0" lang="es-PE" sz="2000" b="0" i="0" u="none" strike="noStrike" kern="1200" cap="none" spc="-1" normalizeH="0" baseline="0" noProof="0" dirty="0">
              <a:ln>
                <a:noFill/>
              </a:ln>
              <a:solidFill>
                <a:prstClr val="white"/>
              </a:solidFill>
              <a:effectLst/>
              <a:uLnTx/>
              <a:uFillTx/>
              <a:latin typeface="Book Antiqua" panose="02040602050305030304" pitchFamily="18" charset="0"/>
            </a:endParaRPr>
          </a:p>
        </p:txBody>
      </p:sp>
      <p:sp>
        <p:nvSpPr>
          <p:cNvPr id="2" name="Rectángulo: esquinas redondeadas 1">
            <a:extLst>
              <a:ext uri="{FF2B5EF4-FFF2-40B4-BE49-F238E27FC236}">
                <a16:creationId xmlns:a16="http://schemas.microsoft.com/office/drawing/2014/main" id="{2CA4E334-E423-FDA0-B5DF-E2C62F84BBE5}"/>
              </a:ext>
            </a:extLst>
          </p:cNvPr>
          <p:cNvSpPr/>
          <p:nvPr/>
        </p:nvSpPr>
        <p:spPr>
          <a:xfrm>
            <a:off x="5039998" y="3702643"/>
            <a:ext cx="4948708" cy="1235816"/>
          </a:xfrm>
          <a:prstGeom prst="round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1" normalizeH="0" baseline="0" noProof="0" dirty="0">
                <a:ln>
                  <a:noFill/>
                </a:ln>
                <a:solidFill>
                  <a:prstClr val="white"/>
                </a:solidFill>
                <a:effectLst/>
                <a:uLnTx/>
                <a:uFillTx/>
                <a:latin typeface="Book Antiqua" panose="02040602050305030304" pitchFamily="18" charset="0"/>
              </a:rPr>
              <a:t>Los conceptos disciplinares implican el uso de un léxico más especializado.</a:t>
            </a:r>
            <a:endParaRPr kumimoji="0" lang="es-PE" sz="1800" b="0" i="0" u="none" strike="noStrike" kern="1200" cap="none" spc="0" normalizeH="0" baseline="0" noProof="0" dirty="0">
              <a:ln>
                <a:noFill/>
              </a:ln>
              <a:solidFill>
                <a:prstClr val="white"/>
              </a:solidFill>
              <a:effectLst/>
              <a:uLnTx/>
              <a:uFillTx/>
              <a:latin typeface="Arial"/>
            </a:endParaRPr>
          </a:p>
        </p:txBody>
      </p:sp>
    </p:spTree>
    <p:extLst>
      <p:ext uri="{BB962C8B-B14F-4D97-AF65-F5344CB8AC3E}">
        <p14:creationId xmlns:p14="http://schemas.microsoft.com/office/powerpoint/2010/main" val="195596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MX" sz="2646" b="1" dirty="0">
                <a:solidFill>
                  <a:schemeClr val="bg1"/>
                </a:solidFill>
                <a:latin typeface="Book Antiqua" panose="02040602050305030304" pitchFamily="18" charset="0"/>
              </a:rPr>
              <a:t>Pasos para la elaboración de ítems según el enfoque por competencias</a:t>
            </a:r>
            <a:endParaRPr lang="en-US" sz="2646" b="1" i="1" dirty="0">
              <a:solidFill>
                <a:schemeClr val="bg1"/>
              </a:solidFill>
              <a:latin typeface="Book Antiqua" panose="02040602050305030304" pitchFamily="18" charset="0"/>
            </a:endParaRPr>
          </a:p>
        </p:txBody>
      </p:sp>
      <p:sp>
        <p:nvSpPr>
          <p:cNvPr id="3" name="Marcador de contenido 2"/>
          <p:cNvSpPr>
            <a:spLocks noGrp="1"/>
          </p:cNvSpPr>
          <p:nvPr>
            <p:ph idx="1"/>
          </p:nvPr>
        </p:nvSpPr>
        <p:spPr>
          <a:solidFill>
            <a:schemeClr val="bg1"/>
          </a:solidFill>
          <a:ln>
            <a:solidFill>
              <a:schemeClr val="accent1"/>
            </a:solidFill>
          </a:ln>
        </p:spPr>
        <p:txBody>
          <a:bodyPr>
            <a:normAutofit/>
          </a:bodyPr>
          <a:lstStyle/>
          <a:p>
            <a:pPr marL="0" indent="0">
              <a:buNone/>
            </a:pPr>
            <a:endParaRPr lang="es-MX" sz="1800" dirty="0">
              <a:latin typeface="Book Antiqua" panose="02040602050305030304" pitchFamily="18" charset="0"/>
            </a:endParaRPr>
          </a:p>
          <a:p>
            <a:pPr marL="425265" indent="-425265">
              <a:buAutoNum type="arabicPeriod"/>
            </a:pPr>
            <a:r>
              <a:rPr lang="es-MX" sz="1800" dirty="0">
                <a:latin typeface="Book Antiqua" panose="02040602050305030304" pitchFamily="18" charset="0"/>
              </a:rPr>
              <a:t>Identificar el tema que corresponde al balotario de admisión.</a:t>
            </a:r>
          </a:p>
          <a:p>
            <a:pPr marL="425265" indent="-425265">
              <a:buAutoNum type="arabicPeriod"/>
            </a:pPr>
            <a:r>
              <a:rPr lang="es-MX" sz="1800" dirty="0">
                <a:latin typeface="Book Antiqua" panose="02040602050305030304" pitchFamily="18" charset="0"/>
              </a:rPr>
              <a:t>Buscar la información necesaria.</a:t>
            </a:r>
          </a:p>
          <a:p>
            <a:pPr marL="425265" indent="-425265">
              <a:buAutoNum type="arabicPeriod"/>
            </a:pPr>
            <a:r>
              <a:rPr lang="es-MX" sz="1800" dirty="0">
                <a:latin typeface="Book Antiqua" panose="02040602050305030304" pitchFamily="18" charset="0"/>
              </a:rPr>
              <a:t>Elegir la destreza cognitiva que buscamos activar en el postulante.</a:t>
            </a:r>
          </a:p>
          <a:p>
            <a:pPr marL="425265" indent="-425265">
              <a:buAutoNum type="arabicPeriod"/>
            </a:pPr>
            <a:r>
              <a:rPr lang="es-MX" sz="1800" dirty="0">
                <a:latin typeface="Book Antiqua" panose="02040602050305030304" pitchFamily="18" charset="0"/>
              </a:rPr>
              <a:t>Determinar la posibilidad de insertar el tema elegido en un caso concreto.</a:t>
            </a:r>
          </a:p>
          <a:p>
            <a:pPr marL="425265" indent="-425265">
              <a:buAutoNum type="arabicPeriod"/>
            </a:pPr>
            <a:r>
              <a:rPr lang="es-MX" sz="1800" dirty="0">
                <a:latin typeface="Book Antiqua" panose="02040602050305030304" pitchFamily="18" charset="0"/>
              </a:rPr>
              <a:t>Reajustar y reformular el ítem si no está orientado hacia el objetivo.</a:t>
            </a:r>
          </a:p>
          <a:p>
            <a:pPr marL="425265" indent="-425265">
              <a:buAutoNum type="arabicPeriod"/>
            </a:pPr>
            <a:r>
              <a:rPr lang="es-MX" sz="1800" dirty="0">
                <a:latin typeface="Book Antiqua" panose="02040602050305030304" pitchFamily="18" charset="0"/>
              </a:rPr>
              <a:t>Procurar un idóneo grado de complejidad en el enunciado o las alternativas. </a:t>
            </a:r>
          </a:p>
          <a:p>
            <a:pPr marL="425265" indent="-425265">
              <a:buAutoNum type="arabicPeriod"/>
            </a:pPr>
            <a:r>
              <a:rPr lang="es-MX" sz="1800" dirty="0">
                <a:latin typeface="Book Antiqua" panose="02040602050305030304" pitchFamily="18" charset="0"/>
              </a:rPr>
              <a:t>Revisar y corregir hasta llegar a una versión óptima a nivel formal.</a:t>
            </a:r>
            <a:endParaRPr lang="en-US" sz="1800" dirty="0">
              <a:latin typeface="Book Antiqua" panose="02040602050305030304" pitchFamily="18" charset="0"/>
            </a:endParaRPr>
          </a:p>
        </p:txBody>
      </p:sp>
    </p:spTree>
    <p:extLst>
      <p:ext uri="{BB962C8B-B14F-4D97-AF65-F5344CB8AC3E}">
        <p14:creationId xmlns:p14="http://schemas.microsoft.com/office/powerpoint/2010/main" val="683964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3" y="301993"/>
            <a:ext cx="8466197" cy="696227"/>
          </a:xfrm>
        </p:spPr>
        <p:txBody>
          <a:bodyPr>
            <a:normAutofit/>
          </a:bodyPr>
          <a:lstStyle/>
          <a:p>
            <a:pPr lvl="0"/>
            <a:r>
              <a:rPr lang="es-ES" sz="3200" b="1" dirty="0">
                <a:solidFill>
                  <a:schemeClr val="bg1"/>
                </a:solidFill>
                <a:latin typeface="Book Antiqua" panose="02040602050305030304" pitchFamily="18" charset="0"/>
                <a:ea typeface="Calibri" panose="020F0502020204030204" pitchFamily="34" charset="0"/>
                <a:cs typeface="Times New Roman" panose="02020603050405020304" pitchFamily="18" charset="0"/>
              </a:rPr>
              <a:t>Paso 1: Revisar el temario</a:t>
            </a:r>
            <a:endParaRPr lang="en-US" sz="3200" dirty="0">
              <a:solidFill>
                <a:schemeClr val="bg1"/>
              </a:solidFill>
              <a:latin typeface="Book Antiqua" panose="02040602050305030304" pitchFamily="18" charset="0"/>
            </a:endParaRPr>
          </a:p>
        </p:txBody>
      </p:sp>
      <p:sp>
        <p:nvSpPr>
          <p:cNvPr id="3" name="Marcador de contenido 2"/>
          <p:cNvSpPr>
            <a:spLocks noGrp="1"/>
          </p:cNvSpPr>
          <p:nvPr>
            <p:ph idx="1"/>
          </p:nvPr>
        </p:nvSpPr>
        <p:spPr>
          <a:solidFill>
            <a:schemeClr val="bg1"/>
          </a:solidFill>
        </p:spPr>
        <p:txBody>
          <a:bodyPr>
            <a:normAutofit/>
          </a:bodyPr>
          <a:lstStyle/>
          <a:p>
            <a:r>
              <a:rPr lang="es-ES" sz="2000" b="1" dirty="0">
                <a:latin typeface="Book Antiqua" panose="02040602050305030304" pitchFamily="18" charset="0"/>
                <a:ea typeface="Calibri" panose="020F0502020204030204" pitchFamily="34" charset="0"/>
                <a:cs typeface="Times New Roman" panose="02020603050405020304" pitchFamily="18" charset="0"/>
              </a:rPr>
              <a:t>Revisar detalladamente el temario / balotario </a:t>
            </a:r>
            <a:r>
              <a:rPr lang="es-ES" sz="2000" dirty="0">
                <a:latin typeface="Book Antiqua" panose="02040602050305030304" pitchFamily="18" charset="0"/>
                <a:ea typeface="Calibri" panose="020F0502020204030204" pitchFamily="34" charset="0"/>
                <a:cs typeface="Times New Roman" panose="02020603050405020304" pitchFamily="18" charset="0"/>
              </a:rPr>
              <a:t>con la finalidad que el docente constructor tenga conocimiento de los temas (es decir, la información) con los cuales los estudiantes serán evaluados. </a:t>
            </a:r>
          </a:p>
          <a:p>
            <a:pPr marL="223658" algn="just">
              <a:lnSpc>
                <a:spcPct val="115000"/>
              </a:lnSpc>
              <a:spcAft>
                <a:spcPts val="827"/>
              </a:spcAft>
            </a:pPr>
            <a:r>
              <a:rPr lang="es-ES" dirty="0">
                <a:latin typeface="Book Antiqua" panose="02040602050305030304" pitchFamily="18" charset="0"/>
                <a:ea typeface="Calibri" panose="020F0502020204030204" pitchFamily="34" charset="0"/>
                <a:cs typeface="Times New Roman" panose="02020603050405020304" pitchFamily="18" charset="0"/>
              </a:rPr>
              <a:t>Requerimientos: </a:t>
            </a:r>
          </a:p>
          <a:p>
            <a:pPr marL="412664" indent="-378013" algn="just">
              <a:lnSpc>
                <a:spcPct val="115000"/>
              </a:lnSpc>
              <a:spcAft>
                <a:spcPts val="827"/>
              </a:spcAft>
              <a:buFontTx/>
              <a:buChar char="-"/>
            </a:pPr>
            <a:r>
              <a:rPr lang="es-ES" dirty="0">
                <a:latin typeface="Book Antiqua" panose="02040602050305030304" pitchFamily="18" charset="0"/>
                <a:ea typeface="Calibri" panose="020F0502020204030204" pitchFamily="34" charset="0"/>
                <a:cs typeface="Times New Roman" panose="02020603050405020304" pitchFamily="18" charset="0"/>
              </a:rPr>
              <a:t>Temario / </a:t>
            </a:r>
            <a:r>
              <a:rPr lang="es-ES" dirty="0" err="1">
                <a:latin typeface="Book Antiqua" panose="02040602050305030304" pitchFamily="18" charset="0"/>
                <a:ea typeface="Calibri" panose="020F0502020204030204" pitchFamily="34" charset="0"/>
                <a:cs typeface="Times New Roman" panose="02020603050405020304" pitchFamily="18" charset="0"/>
              </a:rPr>
              <a:t>balotario</a:t>
            </a:r>
            <a:r>
              <a:rPr lang="es-ES" dirty="0">
                <a:latin typeface="Book Antiqua" panose="02040602050305030304" pitchFamily="18" charset="0"/>
                <a:ea typeface="Calibri" panose="020F0502020204030204" pitchFamily="34" charset="0"/>
                <a:cs typeface="Times New Roman" panose="02020603050405020304" pitchFamily="18" charset="0"/>
              </a:rPr>
              <a:t> </a:t>
            </a:r>
          </a:p>
          <a:p>
            <a:pPr marL="412664" indent="-378013" algn="just">
              <a:lnSpc>
                <a:spcPct val="115000"/>
              </a:lnSpc>
              <a:spcAft>
                <a:spcPts val="827"/>
              </a:spcAft>
              <a:buFontTx/>
              <a:buChar char="-"/>
            </a:pPr>
            <a:r>
              <a:rPr lang="es-ES" dirty="0">
                <a:latin typeface="Book Antiqua" panose="02040602050305030304" pitchFamily="18" charset="0"/>
                <a:ea typeface="Calibri" panose="020F0502020204030204" pitchFamily="34" charset="0"/>
                <a:cs typeface="Times New Roman" panose="02020603050405020304" pitchFamily="18" charset="0"/>
              </a:rPr>
              <a:t>Tipo de pregunta</a:t>
            </a:r>
          </a:p>
          <a:p>
            <a:pPr marL="412664" indent="-378013" algn="just">
              <a:lnSpc>
                <a:spcPct val="115000"/>
              </a:lnSpc>
              <a:spcAft>
                <a:spcPts val="827"/>
              </a:spcAft>
              <a:buFontTx/>
              <a:buChar char="-"/>
            </a:pPr>
            <a:r>
              <a:rPr lang="es-ES" dirty="0">
                <a:latin typeface="Book Antiqua" panose="02040602050305030304" pitchFamily="18" charset="0"/>
                <a:ea typeface="Calibri" panose="020F0502020204030204" pitchFamily="34" charset="0"/>
                <a:cs typeface="Times New Roman" panose="02020603050405020304" pitchFamily="18" charset="0"/>
              </a:rPr>
              <a:t>Nivel de dificultad </a:t>
            </a:r>
          </a:p>
          <a:p>
            <a:pPr marL="223658" algn="just">
              <a:lnSpc>
                <a:spcPct val="115000"/>
              </a:lnSpc>
              <a:spcAft>
                <a:spcPts val="827"/>
              </a:spcAft>
            </a:pPr>
            <a:endParaRPr lang="en-US" sz="1984" dirty="0">
              <a:latin typeface="Calibri" panose="020F0502020204030204" pitchFamily="34" charset="0"/>
              <a:ea typeface="Calibri" panose="020F0502020204030204" pitchFamily="34" charset="0"/>
              <a:cs typeface="Times New Roman" panose="02020603050405020304" pitchFamily="18" charset="0"/>
            </a:endParaRPr>
          </a:p>
          <a:p>
            <a:pPr marL="283510" indent="-283510" algn="just">
              <a:lnSpc>
                <a:spcPct val="115000"/>
              </a:lnSpc>
              <a:buFont typeface="+mj-lt"/>
              <a:buAutoNum type="arabicPeriod"/>
            </a:pPr>
            <a:endParaRPr lang="en-US" sz="1984"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5" name="CuadroTexto 4">
            <a:extLst>
              <a:ext uri="{FF2B5EF4-FFF2-40B4-BE49-F238E27FC236}">
                <a16:creationId xmlns:a16="http://schemas.microsoft.com/office/drawing/2014/main" id="{BF363531-350F-423A-9B1C-413B8C085170}"/>
              </a:ext>
            </a:extLst>
          </p:cNvPr>
          <p:cNvSpPr txBox="1"/>
          <p:nvPr/>
        </p:nvSpPr>
        <p:spPr>
          <a:xfrm>
            <a:off x="4926141" y="2835275"/>
            <a:ext cx="4339779" cy="1754326"/>
          </a:xfrm>
          <a:prstGeom prst="rect">
            <a:avLst/>
          </a:prstGeom>
          <a:noFill/>
          <a:ln>
            <a:solidFill>
              <a:srgbClr val="FF0000"/>
            </a:solidFill>
          </a:ln>
        </p:spPr>
        <p:txBody>
          <a:bodyPr wrap="square">
            <a:spAutoFit/>
          </a:bodyPr>
          <a:lstStyle/>
          <a:p>
            <a:r>
              <a:rPr lang="es-ES" sz="1800" b="1" dirty="0">
                <a:latin typeface="Book Antiqua" panose="02040602050305030304" pitchFamily="18" charset="0"/>
                <a:ea typeface="Calibri" panose="020F0502020204030204" pitchFamily="34" charset="0"/>
                <a:cs typeface="Times New Roman" panose="02020603050405020304" pitchFamily="18" charset="0"/>
              </a:rPr>
              <a:t>Tipo de pregunta (ítem)</a:t>
            </a:r>
          </a:p>
          <a:p>
            <a:pPr marL="443640">
              <a:buFontTx/>
              <a:buChar char="-"/>
            </a:pPr>
            <a:r>
              <a:rPr lang="es-ES" sz="1800" dirty="0">
                <a:latin typeface="Book Antiqua" panose="02040602050305030304" pitchFamily="18" charset="0"/>
                <a:ea typeface="Calibri" panose="020F0502020204030204" pitchFamily="34" charset="0"/>
                <a:cs typeface="Times New Roman" panose="02020603050405020304" pitchFamily="18" charset="0"/>
              </a:rPr>
              <a:t>Ítem básico</a:t>
            </a:r>
          </a:p>
          <a:p>
            <a:pPr marL="443640">
              <a:buFontTx/>
              <a:buChar char="-"/>
            </a:pPr>
            <a:r>
              <a:rPr lang="es-ES" sz="1800" dirty="0">
                <a:latin typeface="Book Antiqua" panose="02040602050305030304" pitchFamily="18" charset="0"/>
                <a:ea typeface="Calibri" panose="020F0502020204030204" pitchFamily="34" charset="0"/>
                <a:cs typeface="Times New Roman" panose="02020603050405020304" pitchFamily="18" charset="0"/>
              </a:rPr>
              <a:t>Ítem con gráfico / iconografía</a:t>
            </a:r>
          </a:p>
          <a:p>
            <a:pPr marL="443640">
              <a:buFontTx/>
              <a:buChar char="-"/>
            </a:pPr>
            <a:r>
              <a:rPr lang="es-ES" sz="1800" dirty="0">
                <a:latin typeface="Book Antiqua" panose="02040602050305030304" pitchFamily="18" charset="0"/>
                <a:ea typeface="Calibri" panose="020F0502020204030204" pitchFamily="34" charset="0"/>
                <a:cs typeface="Times New Roman" panose="02020603050405020304" pitchFamily="18" charset="0"/>
              </a:rPr>
              <a:t>Ítem secuencia de V o F</a:t>
            </a:r>
          </a:p>
          <a:p>
            <a:pPr marL="443640">
              <a:buFontTx/>
              <a:buChar char="-"/>
            </a:pPr>
            <a:r>
              <a:rPr lang="es-ES" sz="1800" dirty="0">
                <a:latin typeface="Book Antiqua" panose="02040602050305030304" pitchFamily="18" charset="0"/>
                <a:ea typeface="Calibri" panose="020F0502020204030204" pitchFamily="34" charset="0"/>
                <a:cs typeface="Times New Roman" panose="02020603050405020304" pitchFamily="18" charset="0"/>
              </a:rPr>
              <a:t>Ítem opciones para escoger</a:t>
            </a:r>
          </a:p>
          <a:p>
            <a:pPr marL="443640">
              <a:buFontTx/>
              <a:buChar char="-"/>
            </a:pPr>
            <a:r>
              <a:rPr lang="es-ES" sz="1800" dirty="0">
                <a:latin typeface="Book Antiqua" panose="02040602050305030304" pitchFamily="18" charset="0"/>
                <a:ea typeface="Calibri" panose="020F0502020204030204" pitchFamily="34" charset="0"/>
                <a:cs typeface="Times New Roman" panose="02020603050405020304" pitchFamily="18" charset="0"/>
              </a:rPr>
              <a:t>Ítem columnas para relacionar</a:t>
            </a:r>
          </a:p>
        </p:txBody>
      </p:sp>
    </p:spTree>
    <p:extLst>
      <p:ext uri="{BB962C8B-B14F-4D97-AF65-F5344CB8AC3E}">
        <p14:creationId xmlns:p14="http://schemas.microsoft.com/office/powerpoint/2010/main" val="1181787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923713-1C62-4B83-91CD-BF0CFA3D2152}"/>
              </a:ext>
            </a:extLst>
          </p:cNvPr>
          <p:cNvSpPr>
            <a:spLocks noGrp="1"/>
          </p:cNvSpPr>
          <p:nvPr>
            <p:ph type="title"/>
          </p:nvPr>
        </p:nvSpPr>
        <p:spPr/>
        <p:txBody>
          <a:bodyPr/>
          <a:lstStyle/>
          <a:p>
            <a:r>
              <a:rPr lang="es-PE" sz="2800" b="1" dirty="0">
                <a:solidFill>
                  <a:schemeClr val="bg1"/>
                </a:solidFill>
                <a:latin typeface="Book Antiqua" panose="02040602050305030304" pitchFamily="18" charset="0"/>
              </a:rPr>
              <a:t>Ejemplo de ítem con opciones para escoger</a:t>
            </a:r>
          </a:p>
        </p:txBody>
      </p:sp>
      <p:sp>
        <p:nvSpPr>
          <p:cNvPr id="5" name="CuadroTexto 4">
            <a:extLst>
              <a:ext uri="{FF2B5EF4-FFF2-40B4-BE49-F238E27FC236}">
                <a16:creationId xmlns:a16="http://schemas.microsoft.com/office/drawing/2014/main" id="{89E62515-252A-4F1A-BA65-411493917F1C}"/>
              </a:ext>
            </a:extLst>
          </p:cNvPr>
          <p:cNvSpPr txBox="1"/>
          <p:nvPr/>
        </p:nvSpPr>
        <p:spPr>
          <a:xfrm>
            <a:off x="809906" y="1631017"/>
            <a:ext cx="8460188" cy="2748445"/>
          </a:xfrm>
          <a:prstGeom prst="rect">
            <a:avLst/>
          </a:prstGeom>
          <a:noFill/>
        </p:spPr>
        <p:txBody>
          <a:bodyPr wrap="square">
            <a:spAutoFit/>
          </a:bodyPr>
          <a:lstStyle/>
          <a:p>
            <a:pPr marL="0" lvl="0" indent="0" algn="just">
              <a:lnSpc>
                <a:spcPct val="107000"/>
              </a:lnSpc>
              <a:buClr>
                <a:srgbClr val="222222"/>
              </a:buClr>
              <a:buSzPts val="1100"/>
              <a:buNone/>
            </a:pPr>
            <a:r>
              <a:rPr lang="es-PE" sz="1800" dirty="0">
                <a:effectLst/>
                <a:latin typeface="Book Antiqua" panose="02040602050305030304" pitchFamily="18" charset="0"/>
                <a:ea typeface="Calibri" panose="020F0502020204030204" pitchFamily="34" charset="0"/>
                <a:cs typeface="Times New Roman" panose="02020603050405020304" pitchFamily="18" charset="0"/>
              </a:rPr>
              <a:t>Las frases verbales pueden contener más de un verbo y estos pueden cumplir distintas funciones. Por ejemplo, en la oración </a:t>
            </a:r>
            <a:r>
              <a:rPr lang="es-PE" sz="1800" i="1" dirty="0">
                <a:effectLst/>
                <a:latin typeface="Book Antiqua" panose="02040602050305030304" pitchFamily="18" charset="0"/>
                <a:ea typeface="Calibri" panose="020F0502020204030204" pitchFamily="34" charset="0"/>
                <a:cs typeface="Times New Roman" panose="02020603050405020304" pitchFamily="18" charset="0"/>
              </a:rPr>
              <a:t>Juan y María deben pensar en organizar la fiesta de cumpleaños de su primogénito</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los verbos se manifiestan como </a:t>
            </a:r>
          </a:p>
          <a:p>
            <a:pPr indent="0" algn="just">
              <a:lnSpc>
                <a:spcPct val="107000"/>
              </a:lnSpc>
              <a:buNone/>
            </a:pPr>
            <a:endParaRPr lang="es-PE" sz="1800" dirty="0">
              <a:effectLst/>
              <a:latin typeface="Book Antiqua" panose="02040602050305030304" pitchFamily="18" charset="0"/>
              <a:ea typeface="Calibri" panose="020F0502020204030204" pitchFamily="34" charset="0"/>
              <a:cs typeface="Times New Roman" panose="02020603050405020304" pitchFamily="18" charset="0"/>
            </a:endParaRPr>
          </a:p>
          <a:p>
            <a:pPr marL="342900" lvl="0" indent="-342900">
              <a:lnSpc>
                <a:spcPct val="107000"/>
              </a:lnSpc>
              <a:buFont typeface="+mj-lt"/>
              <a:buAutoNum type="romanUcPeriod"/>
            </a:pPr>
            <a:r>
              <a:rPr lang="es-PE" sz="1800" dirty="0">
                <a:effectLst/>
                <a:latin typeface="Book Antiqua" panose="02040602050305030304" pitchFamily="18" charset="0"/>
                <a:ea typeface="Calibri" panose="020F0502020204030204" pitchFamily="34" charset="0"/>
                <a:cs typeface="Times New Roman" panose="02020603050405020304" pitchFamily="18" charset="0"/>
              </a:rPr>
              <a:t>perífrasis verbal.</a:t>
            </a:r>
          </a:p>
          <a:p>
            <a:pPr marL="342900" lvl="0" indent="-342900">
              <a:lnSpc>
                <a:spcPct val="107000"/>
              </a:lnSpc>
              <a:buFont typeface="+mj-lt"/>
              <a:buAutoNum type="romanUcPeriod"/>
            </a:pPr>
            <a:r>
              <a:rPr lang="es-PE" sz="1800" dirty="0">
                <a:effectLst/>
                <a:latin typeface="Book Antiqua" panose="02040602050305030304" pitchFamily="18" charset="0"/>
                <a:ea typeface="Calibri" panose="020F0502020204030204" pitchFamily="34" charset="0"/>
                <a:cs typeface="Times New Roman" panose="02020603050405020304" pitchFamily="18" charset="0"/>
              </a:rPr>
              <a:t>coordinados.</a:t>
            </a:r>
          </a:p>
          <a:p>
            <a:pPr marL="342900" lvl="0" indent="-342900">
              <a:lnSpc>
                <a:spcPct val="107000"/>
              </a:lnSpc>
              <a:buFont typeface="+mj-lt"/>
              <a:buAutoNum type="romanUcPeriod"/>
            </a:pPr>
            <a:r>
              <a:rPr lang="es-PE" sz="1800" dirty="0">
                <a:effectLst/>
                <a:latin typeface="Book Antiqua" panose="02040602050305030304" pitchFamily="18" charset="0"/>
                <a:ea typeface="Calibri" panose="020F0502020204030204" pitchFamily="34" charset="0"/>
                <a:cs typeface="Times New Roman" panose="02020603050405020304" pitchFamily="18" charset="0"/>
              </a:rPr>
              <a:t>subordinados.</a:t>
            </a:r>
          </a:p>
          <a:p>
            <a:pPr indent="0">
              <a:lnSpc>
                <a:spcPct val="107000"/>
              </a:lnSpc>
              <a:buNone/>
            </a:pPr>
            <a:endParaRPr lang="es-PE" sz="1800" dirty="0">
              <a:effectLst/>
              <a:latin typeface="Book Antiqua" panose="0204060205030503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lphaUcParenR"/>
              <a:tabLst>
                <a:tab pos="4591050" algn="l"/>
              </a:tabLst>
            </a:pPr>
            <a:r>
              <a:rPr lang="es-PE" sz="1800" dirty="0">
                <a:effectLst/>
                <a:latin typeface="Book Antiqua" panose="02040602050305030304" pitchFamily="18" charset="0"/>
                <a:ea typeface="Calibri" panose="020F0502020204030204" pitchFamily="34" charset="0"/>
                <a:cs typeface="Times New Roman" panose="02020603050405020304" pitchFamily="18" charset="0"/>
              </a:rPr>
              <a:t>I y III *             B)  I y II         C)  II y III	D)  Solo I</a:t>
            </a:r>
          </a:p>
        </p:txBody>
      </p:sp>
    </p:spTree>
    <p:extLst>
      <p:ext uri="{BB962C8B-B14F-4D97-AF65-F5344CB8AC3E}">
        <p14:creationId xmlns:p14="http://schemas.microsoft.com/office/powerpoint/2010/main" val="4127711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4C8F90-B4FD-40CF-BA2B-FD1A758791B3}"/>
              </a:ext>
            </a:extLst>
          </p:cNvPr>
          <p:cNvSpPr>
            <a:spLocks noGrp="1"/>
          </p:cNvSpPr>
          <p:nvPr>
            <p:ph type="title"/>
          </p:nvPr>
        </p:nvSpPr>
        <p:spPr/>
        <p:txBody>
          <a:bodyPr/>
          <a:lstStyle/>
          <a:p>
            <a:r>
              <a:rPr lang="es-PE" sz="3200" b="1" dirty="0">
                <a:solidFill>
                  <a:schemeClr val="bg1"/>
                </a:solidFill>
                <a:latin typeface="Book Antiqua" panose="02040602050305030304" pitchFamily="18" charset="0"/>
              </a:rPr>
              <a:t>Ejemplo de ítem con columnas para relacionar</a:t>
            </a:r>
          </a:p>
        </p:txBody>
      </p:sp>
      <p:sp>
        <p:nvSpPr>
          <p:cNvPr id="5" name="CuadroTexto 4">
            <a:extLst>
              <a:ext uri="{FF2B5EF4-FFF2-40B4-BE49-F238E27FC236}">
                <a16:creationId xmlns:a16="http://schemas.microsoft.com/office/drawing/2014/main" id="{9F37016A-08F1-49EE-A822-3BC1BBA776B3}"/>
              </a:ext>
            </a:extLst>
          </p:cNvPr>
          <p:cNvSpPr txBox="1"/>
          <p:nvPr/>
        </p:nvSpPr>
        <p:spPr>
          <a:xfrm>
            <a:off x="755373" y="1312871"/>
            <a:ext cx="8494643" cy="3637534"/>
          </a:xfrm>
          <a:prstGeom prst="rect">
            <a:avLst/>
          </a:prstGeom>
          <a:noFill/>
        </p:spPr>
        <p:txBody>
          <a:bodyPr wrap="square">
            <a:spAutoFit/>
          </a:bodyPr>
          <a:lstStyle/>
          <a:p>
            <a:pPr marL="0" lvl="0" indent="0" algn="just">
              <a:lnSpc>
                <a:spcPct val="107000"/>
              </a:lnSpc>
              <a:buClr>
                <a:srgbClr val="222222"/>
              </a:buClr>
              <a:buSzPts val="1100"/>
              <a:buNone/>
              <a:tabLst>
                <a:tab pos="355600" algn="l"/>
              </a:tabLst>
            </a:pPr>
            <a:r>
              <a:rPr lang="es-PE" sz="1800" dirty="0">
                <a:effectLst/>
                <a:latin typeface="Book Antiqua" panose="02040602050305030304" pitchFamily="18" charset="0"/>
                <a:ea typeface="Calibri" panose="020F0502020204030204" pitchFamily="34" charset="0"/>
                <a:cs typeface="Times New Roman" panose="02020603050405020304" pitchFamily="18" charset="0"/>
              </a:rPr>
              <a:t>A partir de la novela </a:t>
            </a:r>
            <a:r>
              <a:rPr lang="es-PE" sz="1800" i="1" dirty="0">
                <a:effectLst/>
                <a:latin typeface="Book Antiqua" panose="02040602050305030304" pitchFamily="18" charset="0"/>
                <a:ea typeface="Calibri" panose="020F0502020204030204" pitchFamily="34" charset="0"/>
                <a:cs typeface="Times New Roman" panose="02020603050405020304" pitchFamily="18" charset="0"/>
              </a:rPr>
              <a:t>Crimen y castigo</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de Fiódor Dostoievski, establezca la relación correcta entre los personajes y lo que cada uno de ellos representa.</a:t>
            </a:r>
          </a:p>
          <a:p>
            <a:pPr marL="0" lvl="0" indent="0" algn="just">
              <a:lnSpc>
                <a:spcPct val="107000"/>
              </a:lnSpc>
              <a:buClr>
                <a:srgbClr val="222222"/>
              </a:buClr>
              <a:buSzPts val="1100"/>
              <a:buNone/>
              <a:tabLst>
                <a:tab pos="355600" algn="l"/>
              </a:tabLst>
            </a:pPr>
            <a:endParaRPr lang="es-PE" sz="1800" dirty="0">
              <a:effectLst/>
              <a:latin typeface="Book Antiqua" panose="0204060205030503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romanUcPeriod"/>
              <a:tabLst>
                <a:tab pos="355600" algn="l"/>
                <a:tab pos="1437640" algn="l"/>
                <a:tab pos="2503170" algn="l"/>
                <a:tab pos="2700655" algn="l"/>
                <a:tab pos="3585845" algn="l"/>
                <a:tab pos="4659630" algn="l"/>
              </a:tabLst>
            </a:pP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Marmeládov</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a. Sacrificio y resignación</a:t>
            </a:r>
          </a:p>
          <a:p>
            <a:pPr marL="342900" lvl="0" indent="-342900" algn="just">
              <a:lnSpc>
                <a:spcPct val="107000"/>
              </a:lnSpc>
              <a:buFont typeface="+mj-lt"/>
              <a:buAutoNum type="romanUcPeriod"/>
              <a:tabLst>
                <a:tab pos="355600" algn="l"/>
                <a:tab pos="1437640" algn="l"/>
                <a:tab pos="2503170" algn="l"/>
                <a:tab pos="2700655" algn="l"/>
                <a:tab pos="3585845" algn="l"/>
                <a:tab pos="4659630" algn="l"/>
              </a:tabLst>
            </a:pPr>
            <a:r>
              <a:rPr lang="es-PE" sz="1800" dirty="0">
                <a:effectLst/>
                <a:latin typeface="Book Antiqua" panose="02040602050305030304" pitchFamily="18" charset="0"/>
                <a:ea typeface="Calibri" panose="020F0502020204030204" pitchFamily="34" charset="0"/>
                <a:cs typeface="Times New Roman" panose="02020603050405020304" pitchFamily="18" charset="0"/>
              </a:rPr>
              <a:t>Dunia				b. Amistad y honradez</a:t>
            </a:r>
          </a:p>
          <a:p>
            <a:pPr marL="342900" lvl="0" indent="-342900" algn="just">
              <a:lnSpc>
                <a:spcPct val="107000"/>
              </a:lnSpc>
              <a:buFont typeface="+mj-lt"/>
              <a:buAutoNum type="romanUcPeriod"/>
              <a:tabLst>
                <a:tab pos="355600" algn="l"/>
                <a:tab pos="1437640" algn="l"/>
                <a:tab pos="2503170" algn="l"/>
                <a:tab pos="2700655" algn="l"/>
                <a:tab pos="3585845" algn="l"/>
                <a:tab pos="4659630" algn="l"/>
              </a:tabLst>
            </a:pP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Razumijin</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c. Intelectualidad y pobreza</a:t>
            </a:r>
          </a:p>
          <a:p>
            <a:pPr marL="342900" lvl="0" indent="-342900" algn="just">
              <a:lnSpc>
                <a:spcPct val="107000"/>
              </a:lnSpc>
              <a:buFont typeface="+mj-lt"/>
              <a:buAutoNum type="romanUcPeriod"/>
              <a:tabLst>
                <a:tab pos="355600" algn="l"/>
                <a:tab pos="1437640" algn="l"/>
                <a:tab pos="2503170" algn="l"/>
                <a:tab pos="2700655" algn="l"/>
                <a:tab pos="3585845" algn="l"/>
                <a:tab pos="4659630" algn="l"/>
              </a:tabLst>
            </a:pP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Raskólnikov</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d. Alcoholismo y conformismo</a:t>
            </a:r>
          </a:p>
          <a:p>
            <a:pPr marL="342900" lvl="0" indent="-342900" algn="just">
              <a:lnSpc>
                <a:spcPct val="107000"/>
              </a:lnSpc>
              <a:buFont typeface="+mj-lt"/>
              <a:buAutoNum type="romanUcPeriod"/>
              <a:tabLst>
                <a:tab pos="355600" algn="l"/>
                <a:tab pos="1437640" algn="l"/>
                <a:tab pos="2503170" algn="l"/>
                <a:tab pos="2700655" algn="l"/>
                <a:tab pos="3585845" algn="l"/>
                <a:tab pos="4659630" algn="l"/>
              </a:tabLst>
            </a:pPr>
            <a:endParaRPr lang="es-PE" sz="1800" dirty="0">
              <a:effectLst/>
              <a:latin typeface="Book Antiqua" panose="02040602050305030304" pitchFamily="18" charset="0"/>
              <a:ea typeface="Calibri" panose="020F0502020204030204" pitchFamily="34" charset="0"/>
              <a:cs typeface="Times New Roman" panose="02020603050405020304" pitchFamily="18" charset="0"/>
            </a:endParaRPr>
          </a:p>
          <a:p>
            <a:pPr marL="342900" lvl="0" indent="-342900" algn="just">
              <a:lnSpc>
                <a:spcPct val="107000"/>
              </a:lnSpc>
              <a:buSzPts val="1100"/>
              <a:buAutoNum type="alphaUcParenR"/>
              <a:tabLst>
                <a:tab pos="630555" algn="l"/>
                <a:tab pos="1437640" algn="l"/>
                <a:tab pos="3585845" algn="l"/>
              </a:tabLst>
            </a:pPr>
            <a:r>
              <a:rPr lang="es-PE" sz="1800" dirty="0">
                <a:effectLst/>
                <a:latin typeface="Book Antiqua" panose="02040602050305030304" pitchFamily="18" charset="0"/>
                <a:ea typeface="Calibri" panose="020F0502020204030204" pitchFamily="34" charset="0"/>
                <a:cs typeface="Times New Roman" panose="02020603050405020304" pitchFamily="18" charset="0"/>
              </a:rPr>
              <a:t>Id, </a:t>
            </a: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IIa</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a:t>
            </a: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IIIb</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a:t>
            </a: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IVc</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   </a:t>
            </a:r>
          </a:p>
          <a:p>
            <a:pPr marL="342900" lvl="0" indent="-342900" algn="just">
              <a:lnSpc>
                <a:spcPct val="107000"/>
              </a:lnSpc>
              <a:buSzPts val="1100"/>
              <a:buAutoNum type="alphaUcParenR"/>
              <a:tabLst>
                <a:tab pos="630555" algn="l"/>
                <a:tab pos="1437640" algn="l"/>
                <a:tab pos="3585845" algn="l"/>
              </a:tabLst>
            </a:pP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Ib</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a:t>
            </a: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IIc</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a:t>
            </a: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IIId</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a:t>
            </a: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IVa</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a:t>
            </a:r>
          </a:p>
          <a:p>
            <a:pPr marL="342900" lvl="0" indent="-342900" algn="just">
              <a:lnSpc>
                <a:spcPct val="107000"/>
              </a:lnSpc>
              <a:buSzPts val="1100"/>
              <a:buAutoNum type="alphaUcParenR"/>
              <a:tabLst>
                <a:tab pos="630555" algn="l"/>
                <a:tab pos="1437640" algn="l"/>
                <a:tab pos="3585845" algn="l"/>
              </a:tabLst>
            </a:pP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Ia</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a:t>
            </a: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IIc</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a:t>
            </a: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IIIb</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a:t>
            </a: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IVd</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a:t>
            </a:r>
          </a:p>
          <a:p>
            <a:pPr marL="342900" lvl="0" indent="-342900" algn="just">
              <a:lnSpc>
                <a:spcPct val="107000"/>
              </a:lnSpc>
              <a:buSzPts val="1100"/>
              <a:buAutoNum type="alphaUcParenR"/>
              <a:tabLst>
                <a:tab pos="630555" algn="l"/>
                <a:tab pos="1437640" algn="l"/>
                <a:tab pos="3585845" algn="l"/>
              </a:tabLst>
            </a:pPr>
            <a:r>
              <a:rPr lang="es-PE" sz="1800" dirty="0">
                <a:effectLst/>
                <a:latin typeface="Book Antiqua" panose="02040602050305030304" pitchFamily="18" charset="0"/>
                <a:ea typeface="Calibri" panose="020F0502020204030204" pitchFamily="34" charset="0"/>
                <a:cs typeface="Times New Roman" panose="02020603050405020304" pitchFamily="18" charset="0"/>
              </a:rPr>
              <a:t>Id, </a:t>
            </a: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IIb</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a:t>
            </a: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IIIa</a:t>
            </a:r>
            <a:r>
              <a:rPr lang="es-PE" sz="1800" dirty="0">
                <a:effectLst/>
                <a:latin typeface="Book Antiqua" panose="02040602050305030304" pitchFamily="18" charset="0"/>
                <a:ea typeface="Calibri" panose="020F0502020204030204" pitchFamily="34" charset="0"/>
                <a:cs typeface="Times New Roman" panose="02020603050405020304" pitchFamily="18" charset="0"/>
              </a:rPr>
              <a:t>, </a:t>
            </a:r>
            <a:r>
              <a:rPr lang="es-PE" sz="1800" dirty="0" err="1">
                <a:effectLst/>
                <a:latin typeface="Book Antiqua" panose="02040602050305030304" pitchFamily="18" charset="0"/>
                <a:ea typeface="Calibri" panose="020F0502020204030204" pitchFamily="34" charset="0"/>
                <a:cs typeface="Times New Roman" panose="02020603050405020304" pitchFamily="18" charset="0"/>
              </a:rPr>
              <a:t>IVc</a:t>
            </a:r>
            <a:endParaRPr lang="es-PE" sz="1800" dirty="0">
              <a:effectLst/>
              <a:latin typeface="Book Antiqua" panose="0204060205030503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62244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lvl="0" algn="ctr"/>
            <a:r>
              <a:rPr lang="es-ES" sz="2976" b="1" dirty="0">
                <a:solidFill>
                  <a:schemeClr val="bg1"/>
                </a:solidFill>
                <a:latin typeface="Book Antiqua" panose="02040602050305030304" pitchFamily="18" charset="0"/>
                <a:ea typeface="Calibri" panose="020F0502020204030204" pitchFamily="34" charset="0"/>
                <a:cs typeface="Times New Roman" panose="02020603050405020304" pitchFamily="18" charset="0"/>
              </a:rPr>
              <a:t>Paso 2: Buscar la información</a:t>
            </a:r>
            <a:r>
              <a:rPr lang="en-US" sz="2976" b="1" dirty="0">
                <a:solidFill>
                  <a:schemeClr val="bg1"/>
                </a:solidFill>
                <a:latin typeface="Book Antiqua" panose="02040602050305030304" pitchFamily="18" charset="0"/>
                <a:ea typeface="Calibri" panose="020F0502020204030204" pitchFamily="34" charset="0"/>
                <a:cs typeface="Times New Roman" panose="02020603050405020304" pitchFamily="18" charset="0"/>
              </a:rPr>
              <a:t> </a:t>
            </a:r>
            <a:r>
              <a:rPr lang="en-US" sz="2976" b="1" dirty="0" err="1">
                <a:solidFill>
                  <a:schemeClr val="bg1"/>
                </a:solidFill>
                <a:latin typeface="Book Antiqua" panose="02040602050305030304" pitchFamily="18" charset="0"/>
                <a:ea typeface="Calibri" panose="020F0502020204030204" pitchFamily="34" charset="0"/>
                <a:cs typeface="Times New Roman" panose="02020603050405020304" pitchFamily="18" charset="0"/>
              </a:rPr>
              <a:t>necesaria</a:t>
            </a:r>
            <a:endParaRPr lang="es-PE" sz="2976" b="1" dirty="0">
              <a:solidFill>
                <a:schemeClr val="bg1"/>
              </a:solidFill>
              <a:latin typeface="Book Antiqua" panose="02040602050305030304" pitchFamily="18" charset="0"/>
            </a:endParaRPr>
          </a:p>
        </p:txBody>
      </p:sp>
      <p:sp>
        <p:nvSpPr>
          <p:cNvPr id="3" name="Marcador de contenido 2"/>
          <p:cNvSpPr>
            <a:spLocks noGrp="1"/>
          </p:cNvSpPr>
          <p:nvPr>
            <p:ph idx="1"/>
          </p:nvPr>
        </p:nvSpPr>
        <p:spPr>
          <a:xfrm>
            <a:off x="360000" y="1245704"/>
            <a:ext cx="9180000" cy="3790122"/>
          </a:xfr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a:normAutofit fontScale="70000" lnSpcReduction="20000"/>
          </a:bodyPr>
          <a:lstStyle/>
          <a:p>
            <a:pPr marL="223658" algn="just">
              <a:lnSpc>
                <a:spcPct val="115000"/>
              </a:lnSpc>
            </a:pPr>
            <a:r>
              <a:rPr lang="es-ES" sz="2600" dirty="0">
                <a:latin typeface="Book Antiqua" panose="02040602050305030304" pitchFamily="18" charset="0"/>
                <a:ea typeface="Calibri" panose="020F0502020204030204" pitchFamily="34" charset="0"/>
                <a:cs typeface="Times New Roman" panose="02020603050405020304" pitchFamily="18" charset="0"/>
              </a:rPr>
              <a:t>El docente constructor debe buscar información diversa sobre los temas que se le hayan asignado. </a:t>
            </a:r>
          </a:p>
          <a:p>
            <a:pPr marL="223658" algn="just">
              <a:lnSpc>
                <a:spcPct val="115000"/>
              </a:lnSpc>
            </a:pPr>
            <a:r>
              <a:rPr lang="es-ES" sz="2600" dirty="0">
                <a:latin typeface="Book Antiqua" panose="02040602050305030304" pitchFamily="18" charset="0"/>
                <a:ea typeface="Calibri" panose="020F0502020204030204" pitchFamily="34" charset="0"/>
                <a:cs typeface="Times New Roman" panose="02020603050405020304" pitchFamily="18" charset="0"/>
              </a:rPr>
              <a:t>Los primeros insumos son los materiales educativos de nivel secundario; para el caso de las preguntas de los exámenes de admisión en las universidades públicas, son particularmente útiles los </a:t>
            </a:r>
            <a:r>
              <a:rPr lang="es-ES" sz="2600" b="1" dirty="0">
                <a:latin typeface="Book Antiqua" panose="02040602050305030304" pitchFamily="18" charset="0"/>
                <a:ea typeface="Calibri" panose="020F0502020204030204" pitchFamily="34" charset="0"/>
                <a:cs typeface="Times New Roman" panose="02020603050405020304" pitchFamily="18" charset="0"/>
              </a:rPr>
              <a:t>libros escolares </a:t>
            </a:r>
            <a:r>
              <a:rPr lang="es-ES" sz="2600" dirty="0">
                <a:latin typeface="Book Antiqua" panose="02040602050305030304" pitchFamily="18" charset="0"/>
                <a:ea typeface="Calibri" panose="020F0502020204030204" pitchFamily="34" charset="0"/>
                <a:cs typeface="Times New Roman" panose="02020603050405020304" pitchFamily="18" charset="0"/>
              </a:rPr>
              <a:t>distribuidos a las </a:t>
            </a:r>
            <a:r>
              <a:rPr lang="es-ES" sz="2600" b="1" dirty="0">
                <a:latin typeface="Book Antiqua" panose="02040602050305030304" pitchFamily="18" charset="0"/>
                <a:ea typeface="Calibri" panose="020F0502020204030204" pitchFamily="34" charset="0"/>
                <a:cs typeface="Times New Roman" panose="02020603050405020304" pitchFamily="18" charset="0"/>
              </a:rPr>
              <a:t>instituciones públicas</a:t>
            </a:r>
            <a:r>
              <a:rPr lang="es-ES" sz="2600" dirty="0">
                <a:latin typeface="Book Antiqua" panose="02040602050305030304" pitchFamily="18" charset="0"/>
                <a:ea typeface="Calibri" panose="020F0502020204030204" pitchFamily="34" charset="0"/>
                <a:cs typeface="Times New Roman" panose="02020603050405020304" pitchFamily="18" charset="0"/>
              </a:rPr>
              <a:t>. </a:t>
            </a:r>
          </a:p>
          <a:p>
            <a:pPr marL="412139" indent="-263822" algn="just">
              <a:lnSpc>
                <a:spcPct val="115000"/>
              </a:lnSpc>
              <a:buFontTx/>
              <a:buChar char="-"/>
            </a:pPr>
            <a:r>
              <a:rPr lang="es-ES" sz="2600" dirty="0">
                <a:latin typeface="Book Antiqua" panose="02040602050305030304" pitchFamily="18" charset="0"/>
                <a:ea typeface="Calibri" panose="020F0502020204030204" pitchFamily="34" charset="0"/>
                <a:cs typeface="Times New Roman" panose="02020603050405020304" pitchFamily="18" charset="0"/>
              </a:rPr>
              <a:t>Sin embargo, estos materiales tienen la debilidad de proveer </a:t>
            </a:r>
            <a:r>
              <a:rPr lang="es-ES" sz="2600" b="1" dirty="0">
                <a:latin typeface="Book Antiqua" panose="02040602050305030304" pitchFamily="18" charset="0"/>
                <a:ea typeface="Calibri" panose="020F0502020204030204" pitchFamily="34" charset="0"/>
                <a:cs typeface="Times New Roman" panose="02020603050405020304" pitchFamily="18" charset="0"/>
              </a:rPr>
              <a:t>información escueta</a:t>
            </a:r>
            <a:r>
              <a:rPr lang="es-ES" sz="2600" dirty="0">
                <a:latin typeface="Book Antiqua" panose="02040602050305030304" pitchFamily="18" charset="0"/>
                <a:ea typeface="Calibri" panose="020F0502020204030204" pitchFamily="34" charset="0"/>
                <a:cs typeface="Times New Roman" panose="02020603050405020304" pitchFamily="18" charset="0"/>
              </a:rPr>
              <a:t> sobre los temas que contienen. </a:t>
            </a:r>
          </a:p>
          <a:p>
            <a:pPr marL="148317" indent="0" algn="just">
              <a:lnSpc>
                <a:spcPct val="115000"/>
              </a:lnSpc>
              <a:buNone/>
            </a:pPr>
            <a:endParaRPr lang="es-ES" sz="2600" dirty="0">
              <a:latin typeface="Book Antiqua" panose="02040602050305030304" pitchFamily="18" charset="0"/>
              <a:ea typeface="Calibri" panose="020F0502020204030204" pitchFamily="34" charset="0"/>
              <a:cs typeface="Times New Roman" panose="02020603050405020304" pitchFamily="18" charset="0"/>
            </a:endParaRPr>
          </a:p>
          <a:p>
            <a:pPr marL="217882" indent="-183756" algn="just">
              <a:lnSpc>
                <a:spcPct val="115000"/>
              </a:lnSpc>
            </a:pPr>
            <a:r>
              <a:rPr lang="es-ES" sz="2600" dirty="0">
                <a:latin typeface="Book Antiqua" panose="02040602050305030304" pitchFamily="18" charset="0"/>
                <a:ea typeface="Calibri" panose="020F0502020204030204" pitchFamily="34" charset="0"/>
                <a:cs typeface="Times New Roman" panose="02020603050405020304" pitchFamily="18" charset="0"/>
              </a:rPr>
              <a:t>Por ello, es </a:t>
            </a:r>
            <a:r>
              <a:rPr lang="es-ES" sz="2600" b="1" dirty="0">
                <a:latin typeface="Book Antiqua" panose="02040602050305030304" pitchFamily="18" charset="0"/>
                <a:ea typeface="Calibri" panose="020F0502020204030204" pitchFamily="34" charset="0"/>
                <a:cs typeface="Times New Roman" panose="02020603050405020304" pitchFamily="18" charset="0"/>
              </a:rPr>
              <a:t>recomendable</a:t>
            </a:r>
            <a:r>
              <a:rPr lang="es-ES" sz="2600" dirty="0">
                <a:latin typeface="Book Antiqua" panose="02040602050305030304" pitchFamily="18" charset="0"/>
                <a:ea typeface="Calibri" panose="020F0502020204030204" pitchFamily="34" charset="0"/>
                <a:cs typeface="Times New Roman" panose="02020603050405020304" pitchFamily="18" charset="0"/>
              </a:rPr>
              <a:t> consultar información adicional, ya sea en libros de divulgación académica, ya sea en </a:t>
            </a:r>
            <a:r>
              <a:rPr lang="es-ES" sz="2600" b="1" dirty="0">
                <a:latin typeface="Book Antiqua" panose="02040602050305030304" pitchFamily="18" charset="0"/>
                <a:ea typeface="Calibri" panose="020F0502020204030204" pitchFamily="34" charset="0"/>
                <a:cs typeface="Times New Roman" panose="02020603050405020304" pitchFamily="18" charset="0"/>
              </a:rPr>
              <a:t>Internet</a:t>
            </a:r>
            <a:r>
              <a:rPr lang="es-ES" sz="2600" dirty="0">
                <a:latin typeface="Book Antiqua" panose="02040602050305030304" pitchFamily="18" charset="0"/>
                <a:ea typeface="Calibri" panose="020F0502020204030204" pitchFamily="34" charset="0"/>
                <a:cs typeface="Times New Roman" panose="02020603050405020304" pitchFamily="18" charset="0"/>
              </a:rPr>
              <a:t>. Al hacer esto resulta necesario </a:t>
            </a:r>
            <a:r>
              <a:rPr lang="es-ES" sz="2600" b="1" dirty="0">
                <a:latin typeface="Book Antiqua" panose="02040602050305030304" pitchFamily="18" charset="0"/>
                <a:ea typeface="Calibri" panose="020F0502020204030204" pitchFamily="34" charset="0"/>
                <a:cs typeface="Times New Roman" panose="02020603050405020304" pitchFamily="18" charset="0"/>
              </a:rPr>
              <a:t>cotejar</a:t>
            </a:r>
            <a:r>
              <a:rPr lang="es-ES" sz="2600" dirty="0">
                <a:latin typeface="Book Antiqua" panose="02040602050305030304" pitchFamily="18" charset="0"/>
                <a:ea typeface="Calibri" panose="020F0502020204030204" pitchFamily="34" charset="0"/>
                <a:cs typeface="Times New Roman" panose="02020603050405020304" pitchFamily="18" charset="0"/>
              </a:rPr>
              <a:t> los datos de la fuente utilizada con otras, a fin de llegar a la convicción de tener información confiable para elaborar la pregunta</a:t>
            </a:r>
            <a:r>
              <a:rPr lang="es-ES" sz="2150" dirty="0">
                <a:latin typeface="Book Antiqua" panose="02040602050305030304" pitchFamily="18" charset="0"/>
                <a:ea typeface="Calibri" panose="020F0502020204030204" pitchFamily="34" charset="0"/>
                <a:cs typeface="Times New Roman" panose="02020603050405020304" pitchFamily="18" charset="0"/>
              </a:rPr>
              <a:t>.</a:t>
            </a:r>
            <a:endParaRPr lang="es-PE" sz="2150" dirty="0">
              <a:latin typeface="Book Antiqua" panose="02040602050305030304" pitchFamily="18" charset="0"/>
            </a:endParaRPr>
          </a:p>
          <a:p>
            <a:pPr marL="34651" indent="0" algn="just">
              <a:lnSpc>
                <a:spcPct val="115000"/>
              </a:lnSpc>
              <a:buNone/>
            </a:pPr>
            <a:endParaRPr lang="en-US" sz="1984"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58001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3" y="301993"/>
            <a:ext cx="8305183" cy="508557"/>
          </a:xfrm>
        </p:spPr>
        <p:txBody>
          <a:bodyPr>
            <a:normAutofit fontScale="90000"/>
          </a:bodyPr>
          <a:lstStyle/>
          <a:p>
            <a:pPr lvl="0" algn="ctr"/>
            <a:r>
              <a:rPr lang="es-ES" sz="2646" b="1" dirty="0">
                <a:solidFill>
                  <a:schemeClr val="bg1"/>
                </a:solidFill>
                <a:latin typeface="Book Antiqua" panose="02040602050305030304" pitchFamily="18" charset="0"/>
                <a:ea typeface="Calibri" panose="020F0502020204030204" pitchFamily="34" charset="0"/>
                <a:cs typeface="Times New Roman" panose="02020603050405020304" pitchFamily="18" charset="0"/>
              </a:rPr>
              <a:t>Paso 3. Concepción de la pregunta: una destreza cognitiva</a:t>
            </a:r>
            <a:endParaRPr lang="en-US" sz="3307" dirty="0">
              <a:solidFill>
                <a:schemeClr val="bg1"/>
              </a:solidFill>
              <a:latin typeface="Book Antiqua" panose="02040602050305030304" pitchFamily="18" charset="0"/>
            </a:endParaRPr>
          </a:p>
        </p:txBody>
      </p:sp>
      <p:sp>
        <p:nvSpPr>
          <p:cNvPr id="3" name="Marcador de contenido 2"/>
          <p:cNvSpPr>
            <a:spLocks noGrp="1"/>
          </p:cNvSpPr>
          <p:nvPr>
            <p:ph idx="1"/>
          </p:nvPr>
        </p:nvSpPr>
        <p:spPr>
          <a:xfrm>
            <a:off x="360000" y="1349999"/>
            <a:ext cx="9180000" cy="3884609"/>
          </a:xfrm>
          <a:ln>
            <a:solidFill>
              <a:schemeClr val="bg1"/>
            </a:solidFill>
          </a:ln>
        </p:spPr>
        <p:style>
          <a:lnRef idx="2">
            <a:schemeClr val="accent2"/>
          </a:lnRef>
          <a:fillRef idx="1">
            <a:schemeClr val="lt1"/>
          </a:fillRef>
          <a:effectRef idx="0">
            <a:schemeClr val="accent2"/>
          </a:effectRef>
          <a:fontRef idx="minor">
            <a:schemeClr val="dk1"/>
          </a:fontRef>
        </p:style>
        <p:txBody>
          <a:bodyPr>
            <a:normAutofit fontScale="92500" lnSpcReduction="20000"/>
          </a:bodyPr>
          <a:lstStyle/>
          <a:p>
            <a:pPr marL="223658" algn="just">
              <a:lnSpc>
                <a:spcPct val="115000"/>
              </a:lnSpc>
            </a:pPr>
            <a:r>
              <a:rPr lang="es-ES" sz="1984" dirty="0">
                <a:latin typeface="Book Antiqua" panose="02040602050305030304" pitchFamily="18" charset="0"/>
                <a:ea typeface="Calibri" panose="020F0502020204030204" pitchFamily="34" charset="0"/>
                <a:cs typeface="Times New Roman" panose="02020603050405020304" pitchFamily="18" charset="0"/>
              </a:rPr>
              <a:t>En función del </a:t>
            </a:r>
            <a:r>
              <a:rPr lang="es-ES" sz="1984" b="1" dirty="0">
                <a:latin typeface="Book Antiqua" panose="02040602050305030304" pitchFamily="18" charset="0"/>
                <a:ea typeface="Calibri" panose="020F0502020204030204" pitchFamily="34" charset="0"/>
                <a:cs typeface="Times New Roman" panose="02020603050405020304" pitchFamily="18" charset="0"/>
              </a:rPr>
              <a:t>tema escogido</a:t>
            </a:r>
            <a:r>
              <a:rPr lang="es-ES" sz="1984" dirty="0">
                <a:latin typeface="Book Antiqua" panose="02040602050305030304" pitchFamily="18" charset="0"/>
                <a:ea typeface="Calibri" panose="020F0502020204030204" pitchFamily="34" charset="0"/>
                <a:cs typeface="Times New Roman" panose="02020603050405020304" pitchFamily="18" charset="0"/>
              </a:rPr>
              <a:t>, el tipo de pregunta asignada y la información obtenida, el constructor debe concebir la pregunta. </a:t>
            </a:r>
          </a:p>
          <a:p>
            <a:pPr marL="223658" algn="just">
              <a:lnSpc>
                <a:spcPct val="115000"/>
              </a:lnSpc>
            </a:pPr>
            <a:endParaRPr lang="es-ES" sz="1984" dirty="0">
              <a:latin typeface="Book Antiqua" panose="02040602050305030304" pitchFamily="18" charset="0"/>
              <a:ea typeface="Calibri" panose="020F0502020204030204" pitchFamily="34" charset="0"/>
              <a:cs typeface="Times New Roman" panose="02020603050405020304" pitchFamily="18" charset="0"/>
            </a:endParaRPr>
          </a:p>
          <a:p>
            <a:pPr marL="223658" algn="just">
              <a:lnSpc>
                <a:spcPct val="115000"/>
              </a:lnSpc>
            </a:pPr>
            <a:r>
              <a:rPr lang="es-ES" sz="1984" dirty="0">
                <a:latin typeface="Book Antiqua" panose="02040602050305030304" pitchFamily="18" charset="0"/>
                <a:ea typeface="Calibri" panose="020F0502020204030204" pitchFamily="34" charset="0"/>
                <a:cs typeface="Times New Roman" panose="02020603050405020304" pitchFamily="18" charset="0"/>
              </a:rPr>
              <a:t>Ello quiere decir </a:t>
            </a:r>
            <a:r>
              <a:rPr lang="es-ES" sz="1984" b="1" dirty="0">
                <a:solidFill>
                  <a:srgbClr val="FF0000"/>
                </a:solidFill>
                <a:latin typeface="Book Antiqua" panose="02040602050305030304" pitchFamily="18" charset="0"/>
                <a:ea typeface="Calibri" panose="020F0502020204030204" pitchFamily="34" charset="0"/>
                <a:cs typeface="Times New Roman" panose="02020603050405020304" pitchFamily="18" charset="0"/>
              </a:rPr>
              <a:t>imaginar de qué manera </a:t>
            </a:r>
            <a:r>
              <a:rPr lang="es-ES" sz="1984" dirty="0">
                <a:latin typeface="Book Antiqua" panose="02040602050305030304" pitchFamily="18" charset="0"/>
                <a:ea typeface="Calibri" panose="020F0502020204030204" pitchFamily="34" charset="0"/>
                <a:cs typeface="Times New Roman" panose="02020603050405020304" pitchFamily="18" charset="0"/>
              </a:rPr>
              <a:t>la pregunta empleará los datos recopilados para evaluar una destreza cognitiva. </a:t>
            </a:r>
          </a:p>
          <a:p>
            <a:pPr marL="223658" algn="just">
              <a:lnSpc>
                <a:spcPct val="115000"/>
              </a:lnSpc>
            </a:pPr>
            <a:endParaRPr lang="es-ES" sz="1984" dirty="0">
              <a:latin typeface="Book Antiqua" panose="02040602050305030304" pitchFamily="18" charset="0"/>
              <a:ea typeface="Calibri" panose="020F0502020204030204" pitchFamily="34" charset="0"/>
              <a:cs typeface="Times New Roman" panose="02020603050405020304" pitchFamily="18" charset="0"/>
            </a:endParaRPr>
          </a:p>
          <a:p>
            <a:pPr marL="223658" algn="just">
              <a:lnSpc>
                <a:spcPct val="115000"/>
              </a:lnSpc>
            </a:pPr>
            <a:r>
              <a:rPr lang="es-ES" sz="1984" dirty="0">
                <a:latin typeface="Book Antiqua" panose="02040602050305030304" pitchFamily="18" charset="0"/>
                <a:ea typeface="Calibri" panose="020F0502020204030204" pitchFamily="34" charset="0"/>
                <a:cs typeface="Times New Roman" panose="02020603050405020304" pitchFamily="18" charset="0"/>
              </a:rPr>
              <a:t>El docente desde este momento debe tener en mente qué tipo de destreza desea que el estudiante ejecute: aplicación, análisis y / o síntesis. </a:t>
            </a:r>
          </a:p>
          <a:p>
            <a:pPr marL="223658" algn="just">
              <a:lnSpc>
                <a:spcPct val="115000"/>
              </a:lnSpc>
            </a:pPr>
            <a:endParaRPr lang="es-ES" sz="1984" dirty="0">
              <a:latin typeface="Book Antiqua" panose="02040602050305030304" pitchFamily="18" charset="0"/>
              <a:ea typeface="Calibri" panose="020F0502020204030204" pitchFamily="34" charset="0"/>
              <a:cs typeface="Times New Roman" panose="02020603050405020304" pitchFamily="18" charset="0"/>
            </a:endParaRPr>
          </a:p>
          <a:p>
            <a:pPr marL="223658" algn="just">
              <a:lnSpc>
                <a:spcPct val="115000"/>
              </a:lnSpc>
            </a:pPr>
            <a:r>
              <a:rPr lang="es-ES" sz="1984" dirty="0">
                <a:latin typeface="Book Antiqua" panose="02040602050305030304" pitchFamily="18" charset="0"/>
                <a:ea typeface="Calibri" panose="020F0502020204030204" pitchFamily="34" charset="0"/>
                <a:cs typeface="Times New Roman" panose="02020603050405020304" pitchFamily="18" charset="0"/>
              </a:rPr>
              <a:t>Debe formular el contexto y/o </a:t>
            </a:r>
            <a:r>
              <a:rPr lang="es-ES" sz="1984" dirty="0" err="1">
                <a:latin typeface="Book Antiqua" panose="02040602050305030304" pitchFamily="18" charset="0"/>
                <a:ea typeface="Calibri" panose="020F0502020204030204" pitchFamily="34" charset="0"/>
                <a:cs typeface="Times New Roman" panose="02020603050405020304" pitchFamily="18" charset="0"/>
              </a:rPr>
              <a:t>cotexto</a:t>
            </a:r>
            <a:r>
              <a:rPr lang="es-ES" sz="1984" dirty="0">
                <a:latin typeface="Book Antiqua" panose="02040602050305030304" pitchFamily="18" charset="0"/>
                <a:ea typeface="Calibri" panose="020F0502020204030204" pitchFamily="34" charset="0"/>
                <a:cs typeface="Times New Roman" panose="02020603050405020304" pitchFamily="18" charset="0"/>
              </a:rPr>
              <a:t> y alternativas que estén relacionadas con el objetivo propuesto.</a:t>
            </a:r>
            <a:endParaRPr lang="en-US" sz="1984" dirty="0">
              <a:latin typeface="Book Antiqua" panose="02040602050305030304" pitchFamily="18" charset="0"/>
            </a:endParaRPr>
          </a:p>
        </p:txBody>
      </p:sp>
    </p:spTree>
    <p:extLst>
      <p:ext uri="{BB962C8B-B14F-4D97-AF65-F5344CB8AC3E}">
        <p14:creationId xmlns:p14="http://schemas.microsoft.com/office/powerpoint/2010/main" val="4253262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3" y="301993"/>
            <a:ext cx="8028776" cy="650507"/>
          </a:xfrm>
        </p:spPr>
        <p:txBody>
          <a:bodyPr>
            <a:noAutofit/>
          </a:bodyPr>
          <a:lstStyle/>
          <a:p>
            <a:pPr lvl="0"/>
            <a:r>
              <a:rPr lang="es-ES" sz="2646" b="1" dirty="0">
                <a:solidFill>
                  <a:schemeClr val="bg1"/>
                </a:solidFill>
                <a:latin typeface="Book Antiqua" panose="02040602050305030304" pitchFamily="18" charset="0"/>
                <a:ea typeface="Calibri" panose="020F0502020204030204" pitchFamily="34" charset="0"/>
                <a:cs typeface="Times New Roman" panose="02020603050405020304" pitchFamily="18" charset="0"/>
              </a:rPr>
              <a:t>Paso 4: </a:t>
            </a:r>
            <a:r>
              <a:rPr lang="es-MX" sz="2646" b="1" dirty="0">
                <a:solidFill>
                  <a:schemeClr val="bg1"/>
                </a:solidFill>
                <a:latin typeface="Book Antiqua" panose="02040602050305030304" pitchFamily="18" charset="0"/>
              </a:rPr>
              <a:t>Determinar la posibilidad de insertar el tema elegido en un caso concreto</a:t>
            </a:r>
            <a:endParaRPr lang="en-US" sz="2976" dirty="0">
              <a:solidFill>
                <a:schemeClr val="bg1"/>
              </a:solidFill>
              <a:latin typeface="Book Antiqua" panose="02040602050305030304" pitchFamily="18" charset="0"/>
            </a:endParaRPr>
          </a:p>
        </p:txBody>
      </p:sp>
      <p:sp>
        <p:nvSpPr>
          <p:cNvPr id="3" name="Marcador de contenido 2"/>
          <p:cNvSpPr>
            <a:spLocks noGrp="1"/>
          </p:cNvSpPr>
          <p:nvPr>
            <p:ph idx="1"/>
          </p:nvPr>
        </p:nvSpPr>
        <p:spPr>
          <a:ln>
            <a:solidFill>
              <a:schemeClr val="bg1"/>
            </a:solidFill>
          </a:ln>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223658" algn="just">
              <a:lnSpc>
                <a:spcPct val="115000"/>
              </a:lnSpc>
              <a:spcAft>
                <a:spcPts val="827"/>
              </a:spcAft>
            </a:pPr>
            <a:r>
              <a:rPr lang="es-ES" sz="2150" dirty="0">
                <a:latin typeface="Book Antiqua" panose="02040602050305030304" pitchFamily="18" charset="0"/>
                <a:ea typeface="Calibri" panose="020F0502020204030204" pitchFamily="34" charset="0"/>
                <a:cs typeface="Times New Roman" panose="02020603050405020304" pitchFamily="18" charset="0"/>
              </a:rPr>
              <a:t>Por lo general, existen varios </a:t>
            </a:r>
            <a:r>
              <a:rPr lang="es-ES" sz="2150" b="1" dirty="0">
                <a:latin typeface="Book Antiqua" panose="02040602050305030304" pitchFamily="18" charset="0"/>
                <a:ea typeface="Calibri" panose="020F0502020204030204" pitchFamily="34" charset="0"/>
                <a:cs typeface="Times New Roman" panose="02020603050405020304" pitchFamily="18" charset="0"/>
              </a:rPr>
              <a:t>casos de enunciados presentados que </a:t>
            </a:r>
            <a:r>
              <a:rPr lang="es-ES" sz="2150" b="1" u="sng" dirty="0">
                <a:latin typeface="Book Antiqua" panose="02040602050305030304" pitchFamily="18" charset="0"/>
                <a:ea typeface="Calibri" panose="020F0502020204030204" pitchFamily="34" charset="0"/>
                <a:cs typeface="Times New Roman" panose="02020603050405020304" pitchFamily="18" charset="0"/>
              </a:rPr>
              <a:t>no</a:t>
            </a:r>
            <a:r>
              <a:rPr lang="es-ES" sz="2150" b="1" dirty="0">
                <a:latin typeface="Book Antiqua" panose="02040602050305030304" pitchFamily="18" charset="0"/>
                <a:ea typeface="Calibri" panose="020F0502020204030204" pitchFamily="34" charset="0"/>
                <a:cs typeface="Times New Roman" panose="02020603050405020304" pitchFamily="18" charset="0"/>
              </a:rPr>
              <a:t> contextualizan la respuesta</a:t>
            </a:r>
            <a:r>
              <a:rPr lang="es-ES" sz="2150" dirty="0">
                <a:latin typeface="Book Antiqua" panose="02040602050305030304" pitchFamily="18" charset="0"/>
                <a:ea typeface="Calibri" panose="020F0502020204030204" pitchFamily="34" charset="0"/>
                <a:cs typeface="Times New Roman" panose="02020603050405020304" pitchFamily="18" charset="0"/>
              </a:rPr>
              <a:t>, es decir, que si bien contienen información relacionada al tema del que trata la pregunta no permiten realizar procesos cognitivos para llegar a la respuesta. En estos casos, los ítems presentados son </a:t>
            </a:r>
            <a:r>
              <a:rPr lang="es-ES" sz="2150" b="1" dirty="0">
                <a:latin typeface="Book Antiqua" panose="02040602050305030304" pitchFamily="18" charset="0"/>
                <a:ea typeface="Calibri" panose="020F0502020204030204" pitchFamily="34" charset="0"/>
                <a:cs typeface="Times New Roman" panose="02020603050405020304" pitchFamily="18" charset="0"/>
              </a:rPr>
              <a:t>preguntas memorísticas disfrazadas con un enunciado</a:t>
            </a:r>
            <a:r>
              <a:rPr lang="es-ES" sz="2150" dirty="0">
                <a:latin typeface="Book Antiqua" panose="02040602050305030304" pitchFamily="18" charset="0"/>
                <a:ea typeface="Calibri" panose="020F0502020204030204" pitchFamily="34" charset="0"/>
                <a:cs typeface="Times New Roman" panose="02020603050405020304" pitchFamily="18" charset="0"/>
              </a:rPr>
              <a:t>. </a:t>
            </a:r>
            <a:endParaRPr lang="en-US" sz="2150" dirty="0">
              <a:latin typeface="Book Antiqua" panose="02040602050305030304" pitchFamily="18" charset="0"/>
              <a:ea typeface="Calibri" panose="020F0502020204030204" pitchFamily="34" charset="0"/>
              <a:cs typeface="Times New Roman" panose="02020603050405020304" pitchFamily="18" charset="0"/>
            </a:endParaRPr>
          </a:p>
          <a:p>
            <a:pPr marL="223658" algn="just">
              <a:lnSpc>
                <a:spcPct val="115000"/>
              </a:lnSpc>
              <a:spcAft>
                <a:spcPts val="827"/>
              </a:spcAft>
            </a:pPr>
            <a:r>
              <a:rPr lang="es-ES" sz="2150" dirty="0">
                <a:latin typeface="Book Antiqua" panose="02040602050305030304" pitchFamily="18" charset="0"/>
                <a:ea typeface="Calibri" panose="020F0502020204030204" pitchFamily="34" charset="0"/>
                <a:cs typeface="Times New Roman" panose="02020603050405020304" pitchFamily="18" charset="0"/>
              </a:rPr>
              <a:t>Por el contrario, un buen contexto debe contar con una serie de insumos que el estudiante empleará para responder la pregunta: </a:t>
            </a:r>
            <a:r>
              <a:rPr lang="es-ES" sz="2150" b="1" dirty="0">
                <a:latin typeface="Book Antiqua" panose="02040602050305030304" pitchFamily="18" charset="0"/>
                <a:ea typeface="Calibri" panose="020F0502020204030204" pitchFamily="34" charset="0"/>
                <a:cs typeface="Times New Roman" panose="02020603050405020304" pitchFamily="18" charset="0"/>
              </a:rPr>
              <a:t>una serie de datos que coordinados, conectados, inferidos o sintetizados, podrán permitirle llegar a la respuesta</a:t>
            </a:r>
            <a:r>
              <a:rPr lang="es-ES" sz="2150" dirty="0">
                <a:latin typeface="Book Antiqua" panose="02040602050305030304" pitchFamily="18" charset="0"/>
                <a:ea typeface="Calibri" panose="020F0502020204030204" pitchFamily="34" charset="0"/>
                <a:cs typeface="Times New Roman" panose="02020603050405020304" pitchFamily="18" charset="0"/>
              </a:rPr>
              <a:t>. En otras palabras, </a:t>
            </a:r>
            <a:r>
              <a:rPr lang="es-ES" sz="2150" b="1" dirty="0">
                <a:latin typeface="Book Antiqua" panose="02040602050305030304" pitchFamily="18" charset="0"/>
                <a:ea typeface="Calibri" panose="020F0502020204030204" pitchFamily="34" charset="0"/>
                <a:cs typeface="Times New Roman" panose="02020603050405020304" pitchFamily="18" charset="0"/>
              </a:rPr>
              <a:t>parte</a:t>
            </a:r>
            <a:r>
              <a:rPr lang="es-ES" sz="2150" dirty="0">
                <a:latin typeface="Book Antiqua" panose="02040602050305030304" pitchFamily="18" charset="0"/>
                <a:ea typeface="Calibri" panose="020F0502020204030204" pitchFamily="34" charset="0"/>
                <a:cs typeface="Times New Roman" panose="02020603050405020304" pitchFamily="18" charset="0"/>
              </a:rPr>
              <a:t> de la información para </a:t>
            </a:r>
            <a:r>
              <a:rPr lang="es-ES" sz="2150" b="1" dirty="0">
                <a:latin typeface="Book Antiqua" panose="02040602050305030304" pitchFamily="18" charset="0"/>
                <a:ea typeface="Calibri" panose="020F0502020204030204" pitchFamily="34" charset="0"/>
                <a:cs typeface="Times New Roman" panose="02020603050405020304" pitchFamily="18" charset="0"/>
              </a:rPr>
              <a:t>responder la pregunta están en el mismo enunciado</a:t>
            </a:r>
            <a:r>
              <a:rPr lang="es-ES" sz="2150" dirty="0">
                <a:latin typeface="Book Antiqua" panose="02040602050305030304" pitchFamily="18" charset="0"/>
                <a:ea typeface="Calibri" panose="020F0502020204030204" pitchFamily="34" charset="0"/>
                <a:cs typeface="Times New Roman" panose="02020603050405020304" pitchFamily="18" charset="0"/>
              </a:rPr>
              <a:t>. </a:t>
            </a:r>
            <a:endParaRPr lang="en-US" sz="2150" dirty="0">
              <a:latin typeface="Book Antiqua" panose="02040602050305030304" pitchFamily="18" charset="0"/>
            </a:endParaRPr>
          </a:p>
          <a:p>
            <a:endParaRPr lang="en-US" dirty="0"/>
          </a:p>
        </p:txBody>
      </p:sp>
    </p:spTree>
    <p:extLst>
      <p:ext uri="{BB962C8B-B14F-4D97-AF65-F5344CB8AC3E}">
        <p14:creationId xmlns:p14="http://schemas.microsoft.com/office/powerpoint/2010/main" val="1499738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a:r>
              <a:rPr lang="es-MX" sz="2646" b="1" dirty="0">
                <a:solidFill>
                  <a:schemeClr val="bg1"/>
                </a:solidFill>
                <a:latin typeface="Book Antiqua" panose="02040602050305030304" pitchFamily="18" charset="0"/>
              </a:rPr>
              <a:t>Paso 5: Reajustar y reformular el ítem si no está orientado hacia el objetivo</a:t>
            </a:r>
            <a:endParaRPr lang="en-US" sz="2646" b="1" dirty="0">
              <a:solidFill>
                <a:schemeClr val="bg1"/>
              </a:solidFill>
              <a:latin typeface="Book Antiqua" panose="02040602050305030304" pitchFamily="18" charset="0"/>
            </a:endParaRPr>
          </a:p>
        </p:txBody>
      </p:sp>
      <p:sp>
        <p:nvSpPr>
          <p:cNvPr id="3" name="Marcador de contenido 2"/>
          <p:cNvSpPr>
            <a:spLocks noGrp="1"/>
          </p:cNvSpPr>
          <p:nvPr>
            <p:ph idx="1"/>
          </p:nvPr>
        </p:nvSpPr>
        <p:spPr>
          <a:ln>
            <a:solidFill>
              <a:schemeClr val="bg1"/>
            </a:solidFill>
          </a:ln>
        </p:spPr>
        <p:style>
          <a:lnRef idx="2">
            <a:schemeClr val="accent1"/>
          </a:lnRef>
          <a:fillRef idx="1">
            <a:schemeClr val="lt1"/>
          </a:fillRef>
          <a:effectRef idx="0">
            <a:schemeClr val="accent1"/>
          </a:effectRef>
          <a:fontRef idx="minor">
            <a:schemeClr val="dk1"/>
          </a:fontRef>
        </p:style>
        <p:txBody>
          <a:bodyPr>
            <a:normAutofit/>
          </a:bodyPr>
          <a:lstStyle/>
          <a:p>
            <a:pPr>
              <a:lnSpc>
                <a:spcPct val="150000"/>
              </a:lnSpc>
            </a:pPr>
            <a:r>
              <a:rPr lang="es-MX" sz="1800" dirty="0">
                <a:latin typeface="Book Antiqua" panose="02040602050305030304" pitchFamily="18" charset="0"/>
              </a:rPr>
              <a:t>Al construir el ítem, se debe revisar la </a:t>
            </a:r>
            <a:r>
              <a:rPr lang="es-MX" sz="1800" b="1" dirty="0">
                <a:latin typeface="Book Antiqua" panose="02040602050305030304" pitchFamily="18" charset="0"/>
              </a:rPr>
              <a:t>idoneidad</a:t>
            </a:r>
            <a:r>
              <a:rPr lang="es-MX" sz="1800" dirty="0">
                <a:latin typeface="Book Antiqua" panose="02040602050305030304" pitchFamily="18" charset="0"/>
              </a:rPr>
              <a:t> del mismo.</a:t>
            </a:r>
          </a:p>
          <a:p>
            <a:pPr>
              <a:lnSpc>
                <a:spcPct val="150000"/>
              </a:lnSpc>
            </a:pPr>
            <a:r>
              <a:rPr lang="es-MX" sz="1800" dirty="0">
                <a:latin typeface="Book Antiqua" panose="02040602050305030304" pitchFamily="18" charset="0"/>
              </a:rPr>
              <a:t>De ser necesario, se puede </a:t>
            </a:r>
            <a:r>
              <a:rPr lang="es-MX" sz="1800" b="1" dirty="0">
                <a:latin typeface="Book Antiqua" panose="02040602050305030304" pitchFamily="18" charset="0"/>
              </a:rPr>
              <a:t>reajustar</a:t>
            </a:r>
            <a:r>
              <a:rPr lang="es-MX" sz="1800" dirty="0">
                <a:latin typeface="Book Antiqua" panose="02040602050305030304" pitchFamily="18" charset="0"/>
              </a:rPr>
              <a:t> información de las alternativas o del enunciado; así también la redacción o construcción del mismo.</a:t>
            </a:r>
          </a:p>
          <a:p>
            <a:pPr>
              <a:lnSpc>
                <a:spcPct val="150000"/>
              </a:lnSpc>
            </a:pPr>
            <a:r>
              <a:rPr lang="es-MX" sz="1800" dirty="0">
                <a:latin typeface="Book Antiqua" panose="02040602050305030304" pitchFamily="18" charset="0"/>
              </a:rPr>
              <a:t>Cuando sea el caso, el ítem </a:t>
            </a:r>
            <a:r>
              <a:rPr lang="es-MX" sz="1800" b="1" dirty="0">
                <a:latin typeface="Book Antiqua" panose="02040602050305030304" pitchFamily="18" charset="0"/>
              </a:rPr>
              <a:t>puede ser reformulado</a:t>
            </a:r>
            <a:r>
              <a:rPr lang="es-MX" sz="1800" dirty="0">
                <a:latin typeface="Book Antiqua" panose="02040602050305030304" pitchFamily="18" charset="0"/>
              </a:rPr>
              <a:t>, si este no guarda relación con el objetivo que se busca lograr con él. No debe extrañar que el ítem, al reformularse, obligue al docente a modificar la destreza cognitiva elegida inicialmente, pero empleando la información ya recogida.</a:t>
            </a:r>
          </a:p>
          <a:p>
            <a:endParaRPr lang="en-US" dirty="0"/>
          </a:p>
        </p:txBody>
      </p:sp>
    </p:spTree>
    <p:extLst>
      <p:ext uri="{BB962C8B-B14F-4D97-AF65-F5344CB8AC3E}">
        <p14:creationId xmlns:p14="http://schemas.microsoft.com/office/powerpoint/2010/main" val="1725686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pPr algn="ctr"/>
            <a:r>
              <a:rPr lang="es-ES" sz="2600" b="1" dirty="0">
                <a:solidFill>
                  <a:schemeClr val="bg1"/>
                </a:solidFill>
                <a:latin typeface="Book Antiqua" panose="02040602050305030304" pitchFamily="18" charset="0"/>
                <a:ea typeface="Calibri" panose="020F0502020204030204" pitchFamily="34" charset="0"/>
                <a:cs typeface="Times New Roman" panose="02020603050405020304" pitchFamily="18" charset="0"/>
              </a:rPr>
              <a:t>Paso 6: </a:t>
            </a:r>
            <a:r>
              <a:rPr lang="es-MX" sz="2600" b="1" dirty="0">
                <a:solidFill>
                  <a:schemeClr val="bg1"/>
                </a:solidFill>
                <a:latin typeface="Book Antiqua" panose="02040602050305030304" pitchFamily="18" charset="0"/>
              </a:rPr>
              <a:t>Procurar un idóneo grado de complejidad en el enunciado o las alternativas </a:t>
            </a:r>
            <a:endParaRPr lang="en-US" sz="2600" b="1" dirty="0">
              <a:solidFill>
                <a:schemeClr val="bg1"/>
              </a:solidFill>
              <a:latin typeface="Book Antiqua" panose="02040602050305030304" pitchFamily="18" charset="0"/>
            </a:endParaRPr>
          </a:p>
        </p:txBody>
      </p:sp>
      <p:sp>
        <p:nvSpPr>
          <p:cNvPr id="3" name="Marcador de contenido 2"/>
          <p:cNvSpPr>
            <a:spLocks noGrp="1"/>
          </p:cNvSpPr>
          <p:nvPr>
            <p:ph idx="1"/>
          </p:nvPr>
        </p:nvSpPr>
        <p:spPr>
          <a:ln>
            <a:solidFill>
              <a:schemeClr val="bg1"/>
            </a:solidFill>
          </a:ln>
        </p:spPr>
        <p:style>
          <a:lnRef idx="2">
            <a:schemeClr val="accent1"/>
          </a:lnRef>
          <a:fillRef idx="1">
            <a:schemeClr val="lt1"/>
          </a:fillRef>
          <a:effectRef idx="0">
            <a:schemeClr val="accent1"/>
          </a:effectRef>
          <a:fontRef idx="minor">
            <a:schemeClr val="dk1"/>
          </a:fontRef>
        </p:style>
        <p:txBody>
          <a:bodyPr>
            <a:normAutofit/>
          </a:bodyPr>
          <a:lstStyle/>
          <a:p>
            <a:pPr algn="just">
              <a:lnSpc>
                <a:spcPct val="115000"/>
              </a:lnSpc>
              <a:spcAft>
                <a:spcPts val="827"/>
              </a:spcAft>
            </a:pPr>
            <a:r>
              <a:rPr lang="es-ES" dirty="0">
                <a:latin typeface="Book Antiqua" panose="02040602050305030304" pitchFamily="18" charset="0"/>
                <a:ea typeface="Calibri" panose="020F0502020204030204" pitchFamily="34" charset="0"/>
                <a:cs typeface="Times New Roman" panose="02020603050405020304" pitchFamily="18" charset="0"/>
              </a:rPr>
              <a:t>Dado que el examen está dirigido a estudiantes con una educación basada en el currículo nacional de educación básica, lo que incluye </a:t>
            </a:r>
            <a:r>
              <a:rPr lang="es-ES" b="1" dirty="0">
                <a:latin typeface="Book Antiqua" panose="02040602050305030304" pitchFamily="18" charset="0"/>
                <a:ea typeface="Calibri" panose="020F0502020204030204" pitchFamily="34" charset="0"/>
                <a:cs typeface="Times New Roman" panose="02020603050405020304" pitchFamily="18" charset="0"/>
              </a:rPr>
              <a:t>una cantidad limitada de temas </a:t>
            </a:r>
            <a:r>
              <a:rPr lang="es-ES" dirty="0">
                <a:latin typeface="Book Antiqua" panose="02040602050305030304" pitchFamily="18" charset="0"/>
                <a:ea typeface="Calibri" panose="020F0502020204030204" pitchFamily="34" charset="0"/>
                <a:cs typeface="Times New Roman" panose="02020603050405020304" pitchFamily="18" charset="0"/>
              </a:rPr>
              <a:t>y una orientación hacia el </a:t>
            </a:r>
            <a:r>
              <a:rPr lang="es-ES" b="1" dirty="0">
                <a:latin typeface="Book Antiqua" panose="02040602050305030304" pitchFamily="18" charset="0"/>
                <a:ea typeface="Calibri" panose="020F0502020204030204" pitchFamily="34" charset="0"/>
                <a:cs typeface="Times New Roman" panose="02020603050405020304" pitchFamily="18" charset="0"/>
              </a:rPr>
              <a:t>modelo de competencias</a:t>
            </a:r>
            <a:r>
              <a:rPr lang="es-ES" dirty="0">
                <a:latin typeface="Book Antiqua" panose="02040602050305030304" pitchFamily="18" charset="0"/>
                <a:ea typeface="Calibri" panose="020F0502020204030204" pitchFamily="34" charset="0"/>
                <a:cs typeface="Times New Roman" panose="02020603050405020304" pitchFamily="18" charset="0"/>
              </a:rPr>
              <a:t>, el criterio de erudición no puede ser empleado para graduar la dificultad de las preguntas. </a:t>
            </a:r>
            <a:endParaRPr lang="en-US" sz="1984" dirty="0">
              <a:latin typeface="Book Antiqua" panose="02040602050305030304" pitchFamily="18" charset="0"/>
              <a:ea typeface="Calibri" panose="020F0502020204030204" pitchFamily="34" charset="0"/>
              <a:cs typeface="Times New Roman" panose="02020603050405020304" pitchFamily="18" charset="0"/>
            </a:endParaRPr>
          </a:p>
          <a:p>
            <a:pPr algn="just">
              <a:lnSpc>
                <a:spcPct val="115000"/>
              </a:lnSpc>
              <a:spcAft>
                <a:spcPts val="827"/>
              </a:spcAft>
            </a:pPr>
            <a:r>
              <a:rPr lang="es-ES" dirty="0">
                <a:latin typeface="Book Antiqua" panose="02040602050305030304" pitchFamily="18" charset="0"/>
                <a:ea typeface="Calibri" panose="020F0502020204030204" pitchFamily="34" charset="0"/>
                <a:cs typeface="Times New Roman" panose="02020603050405020304" pitchFamily="18" charset="0"/>
              </a:rPr>
              <a:t>Por el contrario, la </a:t>
            </a:r>
            <a:r>
              <a:rPr lang="es-ES" b="1" dirty="0">
                <a:latin typeface="Book Antiqua" panose="02040602050305030304" pitchFamily="18" charset="0"/>
                <a:ea typeface="Calibri" panose="020F0502020204030204" pitchFamily="34" charset="0"/>
                <a:cs typeface="Times New Roman" panose="02020603050405020304" pitchFamily="18" charset="0"/>
              </a:rPr>
              <a:t>dificultad</a:t>
            </a:r>
            <a:r>
              <a:rPr lang="es-ES" dirty="0">
                <a:latin typeface="Book Antiqua" panose="02040602050305030304" pitchFamily="18" charset="0"/>
                <a:ea typeface="Calibri" panose="020F0502020204030204" pitchFamily="34" charset="0"/>
                <a:cs typeface="Times New Roman" panose="02020603050405020304" pitchFamily="18" charset="0"/>
              </a:rPr>
              <a:t> debe ser el resultado de la </a:t>
            </a:r>
            <a:r>
              <a:rPr lang="es-ES" b="1" dirty="0">
                <a:solidFill>
                  <a:srgbClr val="FF0000"/>
                </a:solidFill>
                <a:latin typeface="Book Antiqua" panose="02040602050305030304" pitchFamily="18" charset="0"/>
                <a:ea typeface="Calibri" panose="020F0502020204030204" pitchFamily="34" charset="0"/>
                <a:cs typeface="Times New Roman" panose="02020603050405020304" pitchFamily="18" charset="0"/>
              </a:rPr>
              <a:t>complejidad del procedimiento para resolver la pregunta</a:t>
            </a:r>
            <a:r>
              <a:rPr lang="es-ES" dirty="0">
                <a:solidFill>
                  <a:srgbClr val="FF0000"/>
                </a:solidFill>
                <a:latin typeface="Book Antiqua" panose="02040602050305030304" pitchFamily="18" charset="0"/>
                <a:ea typeface="Calibri" panose="020F0502020204030204" pitchFamily="34" charset="0"/>
                <a:cs typeface="Times New Roman" panose="02020603050405020304" pitchFamily="18" charset="0"/>
              </a:rPr>
              <a:t>.</a:t>
            </a:r>
            <a:r>
              <a:rPr lang="es-ES" dirty="0">
                <a:latin typeface="Book Antiqua" panose="02040602050305030304" pitchFamily="18" charset="0"/>
                <a:ea typeface="Calibri" panose="020F0502020204030204" pitchFamily="34" charset="0"/>
                <a:cs typeface="Times New Roman" panose="02020603050405020304" pitchFamily="18" charset="0"/>
              </a:rPr>
              <a:t> En ese sentido, la información dispuesta en el contexto, como en las alternativas, debe exigir del estudiante una serie de operaciones mentales que pueda este hallar su conexión. </a:t>
            </a:r>
            <a:endParaRPr lang="en-US" dirty="0">
              <a:latin typeface="Book Antiqua" panose="02040602050305030304" pitchFamily="18" charset="0"/>
            </a:endParaRPr>
          </a:p>
        </p:txBody>
      </p:sp>
    </p:spTree>
    <p:extLst>
      <p:ext uri="{BB962C8B-B14F-4D97-AF65-F5344CB8AC3E}">
        <p14:creationId xmlns:p14="http://schemas.microsoft.com/office/powerpoint/2010/main" val="3985087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a:r>
              <a:rPr lang="es-MX" sz="2646" b="1" dirty="0">
                <a:solidFill>
                  <a:schemeClr val="bg1"/>
                </a:solidFill>
                <a:latin typeface="Book Antiqua" panose="02040602050305030304" pitchFamily="18" charset="0"/>
              </a:rPr>
              <a:t>Paso 7. Revisar y corregir hasta llegar a una versión óptima a nivel formal</a:t>
            </a:r>
            <a:endParaRPr lang="en-US" sz="2646" b="1" dirty="0">
              <a:solidFill>
                <a:schemeClr val="bg1"/>
              </a:solidFill>
              <a:latin typeface="Book Antiqua" panose="02040602050305030304" pitchFamily="18" charset="0"/>
            </a:endParaRPr>
          </a:p>
        </p:txBody>
      </p:sp>
      <p:sp>
        <p:nvSpPr>
          <p:cNvPr id="3" name="Marcador de contenido 2"/>
          <p:cNvSpPr>
            <a:spLocks noGrp="1"/>
          </p:cNvSpPr>
          <p:nvPr>
            <p:ph idx="1"/>
          </p:nvPr>
        </p:nvSpPr>
        <p:spPr>
          <a:ln>
            <a:solidFill>
              <a:schemeClr val="bg1"/>
            </a:solidFill>
          </a:ln>
        </p:spPr>
        <p:style>
          <a:lnRef idx="2">
            <a:schemeClr val="accent1"/>
          </a:lnRef>
          <a:fillRef idx="1">
            <a:schemeClr val="lt1"/>
          </a:fillRef>
          <a:effectRef idx="0">
            <a:schemeClr val="accent1"/>
          </a:effectRef>
          <a:fontRef idx="minor">
            <a:schemeClr val="dk1"/>
          </a:fontRef>
        </p:style>
        <p:txBody>
          <a:bodyPr/>
          <a:lstStyle/>
          <a:p>
            <a:pPr>
              <a:lnSpc>
                <a:spcPct val="150000"/>
              </a:lnSpc>
            </a:pPr>
            <a:r>
              <a:rPr lang="es-MX" sz="2000" dirty="0">
                <a:latin typeface="Book Antiqua" panose="02040602050305030304" pitchFamily="18" charset="0"/>
              </a:rPr>
              <a:t>El ítem debe ser revisado por el docente constructor.</a:t>
            </a:r>
          </a:p>
          <a:p>
            <a:pPr>
              <a:lnSpc>
                <a:spcPct val="150000"/>
              </a:lnSpc>
            </a:pPr>
            <a:r>
              <a:rPr lang="es-MX" sz="2000" dirty="0">
                <a:latin typeface="Book Antiqua" panose="02040602050305030304" pitchFamily="18" charset="0"/>
              </a:rPr>
              <a:t>También por otros profesores del área hasta que este quede en una versión óptima para ser ingresado al banco.</a:t>
            </a:r>
          </a:p>
          <a:p>
            <a:pPr>
              <a:lnSpc>
                <a:spcPct val="150000"/>
              </a:lnSpc>
            </a:pPr>
            <a:r>
              <a:rPr lang="es-MX" sz="2000" dirty="0">
                <a:latin typeface="Book Antiqua" panose="02040602050305030304" pitchFamily="18" charset="0"/>
              </a:rPr>
              <a:t>Es recomendable que las preguntas deben pasar por una doble revisión después de haber sido entregado por el docente constructor.</a:t>
            </a:r>
          </a:p>
          <a:p>
            <a:endParaRPr lang="en-US" dirty="0"/>
          </a:p>
        </p:txBody>
      </p:sp>
    </p:spTree>
    <p:extLst>
      <p:ext uri="{BB962C8B-B14F-4D97-AF65-F5344CB8AC3E}">
        <p14:creationId xmlns:p14="http://schemas.microsoft.com/office/powerpoint/2010/main" val="2415572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D884C2-495A-46E7-B202-96B74BB8C4C7}"/>
              </a:ext>
            </a:extLst>
          </p:cNvPr>
          <p:cNvSpPr>
            <a:spLocks noGrp="1"/>
          </p:cNvSpPr>
          <p:nvPr>
            <p:ph type="title"/>
          </p:nvPr>
        </p:nvSpPr>
        <p:spPr/>
        <p:txBody>
          <a:bodyPr/>
          <a:lstStyle/>
          <a:p>
            <a:r>
              <a:rPr lang="es-MX" sz="2646" b="1" dirty="0">
                <a:solidFill>
                  <a:schemeClr val="bg1"/>
                </a:solidFill>
                <a:latin typeface="Book Antiqua" panose="02040602050305030304" pitchFamily="18" charset="0"/>
                <a:cs typeface="Times New Roman" panose="02020603050405020304" pitchFamily="18" charset="0"/>
              </a:rPr>
              <a:t>Aspectos formales para la elaboración de ítems</a:t>
            </a:r>
            <a:endParaRPr lang="es-PE" sz="2646" b="1" dirty="0">
              <a:solidFill>
                <a:schemeClr val="bg1"/>
              </a:solidFill>
              <a:latin typeface="Book Antiqua" panose="02040602050305030304" pitchFamily="18" charset="0"/>
              <a:cs typeface="Times New Roman" panose="02020603050405020304" pitchFamily="18" charset="0"/>
            </a:endParaRPr>
          </a:p>
        </p:txBody>
      </p:sp>
      <p:pic>
        <p:nvPicPr>
          <p:cNvPr id="5" name="Marcador de contenido 4">
            <a:extLst>
              <a:ext uri="{FF2B5EF4-FFF2-40B4-BE49-F238E27FC236}">
                <a16:creationId xmlns:a16="http://schemas.microsoft.com/office/drawing/2014/main" id="{0AC8FDA1-21C1-4973-AAE1-1B04D66F3A45}"/>
              </a:ext>
            </a:extLst>
          </p:cNvPr>
          <p:cNvPicPr>
            <a:picLocks noGrp="1" noChangeAspect="1"/>
          </p:cNvPicPr>
          <p:nvPr>
            <p:ph idx="1"/>
          </p:nvPr>
        </p:nvPicPr>
        <p:blipFill>
          <a:blip r:embed="rId2"/>
          <a:stretch>
            <a:fillRect/>
          </a:stretch>
        </p:blipFill>
        <p:spPr>
          <a:xfrm>
            <a:off x="559518" y="1483391"/>
            <a:ext cx="9094481" cy="3386028"/>
          </a:xfrm>
        </p:spPr>
      </p:pic>
    </p:spTree>
    <p:extLst>
      <p:ext uri="{BB962C8B-B14F-4D97-AF65-F5344CB8AC3E}">
        <p14:creationId xmlns:p14="http://schemas.microsoft.com/office/powerpoint/2010/main" val="2053390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F575CD-9510-4ECE-9B3F-7528573B17DB}"/>
              </a:ext>
            </a:extLst>
          </p:cNvPr>
          <p:cNvSpPr>
            <a:spLocks noGrp="1"/>
          </p:cNvSpPr>
          <p:nvPr>
            <p:ph type="title"/>
          </p:nvPr>
        </p:nvSpPr>
        <p:spPr/>
        <p:txBody>
          <a:bodyPr/>
          <a:lstStyle/>
          <a:p>
            <a:r>
              <a:rPr lang="es-MX" sz="2646" b="1" dirty="0">
                <a:solidFill>
                  <a:schemeClr val="bg1"/>
                </a:solidFill>
                <a:latin typeface="Book Antiqua" panose="02040602050305030304" pitchFamily="18" charset="0"/>
                <a:cs typeface="Times New Roman" panose="02020603050405020304" pitchFamily="18" charset="0"/>
              </a:rPr>
              <a:t>Aspectos formales para la elaboración de ítems</a:t>
            </a:r>
            <a:endParaRPr lang="es-PE" sz="2646" b="1" dirty="0">
              <a:solidFill>
                <a:schemeClr val="bg1"/>
              </a:solidFill>
              <a:latin typeface="Book Antiqua" panose="02040602050305030304" pitchFamily="18" charset="0"/>
              <a:cs typeface="Times New Roman" panose="02020603050405020304" pitchFamily="18" charset="0"/>
            </a:endParaRPr>
          </a:p>
        </p:txBody>
      </p:sp>
      <p:pic>
        <p:nvPicPr>
          <p:cNvPr id="5" name="Marcador de contenido 4">
            <a:extLst>
              <a:ext uri="{FF2B5EF4-FFF2-40B4-BE49-F238E27FC236}">
                <a16:creationId xmlns:a16="http://schemas.microsoft.com/office/drawing/2014/main" id="{2386417C-8E5F-4536-B96D-A94B44AA055F}"/>
              </a:ext>
            </a:extLst>
          </p:cNvPr>
          <p:cNvPicPr>
            <a:picLocks noGrp="1" noChangeAspect="1"/>
          </p:cNvPicPr>
          <p:nvPr>
            <p:ph idx="1"/>
          </p:nvPr>
        </p:nvPicPr>
        <p:blipFill>
          <a:blip r:embed="rId2"/>
          <a:stretch>
            <a:fillRect/>
          </a:stretch>
        </p:blipFill>
        <p:spPr>
          <a:xfrm>
            <a:off x="693043" y="2077433"/>
            <a:ext cx="8694539" cy="2462056"/>
          </a:xfrm>
        </p:spPr>
      </p:pic>
    </p:spTree>
    <p:extLst>
      <p:ext uri="{BB962C8B-B14F-4D97-AF65-F5344CB8AC3E}">
        <p14:creationId xmlns:p14="http://schemas.microsoft.com/office/powerpoint/2010/main" val="45287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2D3FD6-D409-4E04-BD43-284B73FD7694}"/>
              </a:ext>
            </a:extLst>
          </p:cNvPr>
          <p:cNvSpPr>
            <a:spLocks noGrp="1"/>
          </p:cNvSpPr>
          <p:nvPr>
            <p:ph type="title"/>
          </p:nvPr>
        </p:nvSpPr>
        <p:spPr/>
        <p:txBody>
          <a:bodyPr/>
          <a:lstStyle/>
          <a:p>
            <a:r>
              <a:rPr lang="es-MX" sz="2646" b="1" dirty="0">
                <a:solidFill>
                  <a:schemeClr val="bg1"/>
                </a:solidFill>
                <a:latin typeface="Book Antiqua" panose="02040602050305030304" pitchFamily="18" charset="0"/>
                <a:cs typeface="Times New Roman" panose="02020603050405020304" pitchFamily="18" charset="0"/>
              </a:rPr>
              <a:t>Aspectos formales para la elaboración de ítems</a:t>
            </a:r>
            <a:endParaRPr lang="es-PE" sz="2646" b="1" dirty="0">
              <a:solidFill>
                <a:schemeClr val="bg1"/>
              </a:solidFill>
              <a:latin typeface="Book Antiqua" panose="02040602050305030304" pitchFamily="18" charset="0"/>
              <a:cs typeface="Times New Roman" panose="02020603050405020304" pitchFamily="18" charset="0"/>
            </a:endParaRPr>
          </a:p>
        </p:txBody>
      </p:sp>
      <p:pic>
        <p:nvPicPr>
          <p:cNvPr id="5" name="Marcador de contenido 4">
            <a:extLst>
              <a:ext uri="{FF2B5EF4-FFF2-40B4-BE49-F238E27FC236}">
                <a16:creationId xmlns:a16="http://schemas.microsoft.com/office/drawing/2014/main" id="{EC67D53D-60A2-4E53-8DD0-8165F04C3559}"/>
              </a:ext>
            </a:extLst>
          </p:cNvPr>
          <p:cNvPicPr>
            <a:picLocks noGrp="1" noChangeAspect="1"/>
          </p:cNvPicPr>
          <p:nvPr>
            <p:ph idx="1"/>
          </p:nvPr>
        </p:nvPicPr>
        <p:blipFill>
          <a:blip r:embed="rId2"/>
          <a:stretch>
            <a:fillRect/>
          </a:stretch>
        </p:blipFill>
        <p:spPr>
          <a:xfrm>
            <a:off x="867880" y="1509568"/>
            <a:ext cx="8344864" cy="3597786"/>
          </a:xfrm>
        </p:spPr>
      </p:pic>
    </p:spTree>
    <p:extLst>
      <p:ext uri="{BB962C8B-B14F-4D97-AF65-F5344CB8AC3E}">
        <p14:creationId xmlns:p14="http://schemas.microsoft.com/office/powerpoint/2010/main" val="4095903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C11AB0-EAC7-49D1-9D27-4A637E89E8B6}"/>
              </a:ext>
            </a:extLst>
          </p:cNvPr>
          <p:cNvSpPr>
            <a:spLocks noGrp="1"/>
          </p:cNvSpPr>
          <p:nvPr>
            <p:ph type="title"/>
          </p:nvPr>
        </p:nvSpPr>
        <p:spPr/>
        <p:txBody>
          <a:bodyPr/>
          <a:lstStyle/>
          <a:p>
            <a:r>
              <a:rPr lang="es-MX" sz="2646" b="1" dirty="0">
                <a:solidFill>
                  <a:schemeClr val="bg1"/>
                </a:solidFill>
                <a:latin typeface="Book Antiqua" panose="02040602050305030304" pitchFamily="18" charset="0"/>
                <a:cs typeface="Times New Roman" panose="02020603050405020304" pitchFamily="18" charset="0"/>
              </a:rPr>
              <a:t>Aspectos formales para la elaboración de ítems</a:t>
            </a:r>
            <a:endParaRPr lang="es-PE" sz="2646" b="1" dirty="0">
              <a:solidFill>
                <a:schemeClr val="bg1"/>
              </a:solidFill>
              <a:latin typeface="Book Antiqua" panose="02040602050305030304" pitchFamily="18" charset="0"/>
              <a:cs typeface="Times New Roman" panose="02020603050405020304" pitchFamily="18" charset="0"/>
            </a:endParaRPr>
          </a:p>
        </p:txBody>
      </p:sp>
      <p:pic>
        <p:nvPicPr>
          <p:cNvPr id="5" name="Marcador de contenido 4">
            <a:extLst>
              <a:ext uri="{FF2B5EF4-FFF2-40B4-BE49-F238E27FC236}">
                <a16:creationId xmlns:a16="http://schemas.microsoft.com/office/drawing/2014/main" id="{D34A40B0-03E4-4CD8-85C1-BDC69F0DA464}"/>
              </a:ext>
            </a:extLst>
          </p:cNvPr>
          <p:cNvPicPr>
            <a:picLocks noGrp="1" noChangeAspect="1"/>
          </p:cNvPicPr>
          <p:nvPr>
            <p:ph idx="1"/>
          </p:nvPr>
        </p:nvPicPr>
        <p:blipFill>
          <a:blip r:embed="rId2"/>
          <a:stretch>
            <a:fillRect/>
          </a:stretch>
        </p:blipFill>
        <p:spPr>
          <a:xfrm>
            <a:off x="693043" y="2431180"/>
            <a:ext cx="8694539" cy="1754561"/>
          </a:xfrm>
        </p:spPr>
      </p:pic>
    </p:spTree>
    <p:extLst>
      <p:ext uri="{BB962C8B-B14F-4D97-AF65-F5344CB8AC3E}">
        <p14:creationId xmlns:p14="http://schemas.microsoft.com/office/powerpoint/2010/main" val="50689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Shape 1">
            <a:extLst>
              <a:ext uri="{FF2B5EF4-FFF2-40B4-BE49-F238E27FC236}">
                <a16:creationId xmlns:a16="http://schemas.microsoft.com/office/drawing/2014/main" id="{48B9ABDE-8093-C22D-C448-65C3896D30D3}"/>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MX" sz="2800" b="1" strike="noStrike" spc="-1" dirty="0">
                <a:solidFill>
                  <a:srgbClr val="FFFFFF"/>
                </a:solidFill>
                <a:latin typeface="Book Antiqua" panose="02040602050305030304" pitchFamily="18" charset="0"/>
              </a:rPr>
              <a:t>Ítems por competencias en el área de Comunicación</a:t>
            </a:r>
            <a:endParaRPr lang="es-PE" sz="2800" b="1" strike="noStrike" spc="-1" dirty="0">
              <a:solidFill>
                <a:srgbClr val="FFFFFF"/>
              </a:solidFill>
              <a:latin typeface="Book Antiqua" panose="02040602050305030304" pitchFamily="18" charset="0"/>
            </a:endParaRPr>
          </a:p>
        </p:txBody>
      </p:sp>
      <p:sp>
        <p:nvSpPr>
          <p:cNvPr id="9" name="Rectángulo: esquinas redondeadas 8">
            <a:extLst>
              <a:ext uri="{FF2B5EF4-FFF2-40B4-BE49-F238E27FC236}">
                <a16:creationId xmlns:a16="http://schemas.microsoft.com/office/drawing/2014/main" id="{ACC98004-5AD9-592F-2792-1AA2DECDC006}"/>
              </a:ext>
            </a:extLst>
          </p:cNvPr>
          <p:cNvSpPr/>
          <p:nvPr/>
        </p:nvSpPr>
        <p:spPr>
          <a:xfrm>
            <a:off x="360629" y="1378704"/>
            <a:ext cx="4314594" cy="1077218"/>
          </a:xfrm>
          <a:prstGeom prst="roundRect">
            <a:avLst/>
          </a:prstGeom>
          <a:solidFill>
            <a:schemeClr val="tx1"/>
          </a:solidFill>
          <a:ln>
            <a:noFill/>
          </a:ln>
        </p:spPr>
        <p:style>
          <a:lnRef idx="1">
            <a:schemeClr val="accent6"/>
          </a:lnRef>
          <a:fillRef idx="3">
            <a:schemeClr val="accent6"/>
          </a:fillRef>
          <a:effectRef idx="2">
            <a:schemeClr val="accent6"/>
          </a:effectRef>
          <a:fontRef idx="minor">
            <a:schemeClr val="lt1"/>
          </a:fontRef>
        </p:style>
        <p:txBody>
          <a:bodyPr rtlCol="0" anchor="ctr"/>
          <a:lstStyle/>
          <a:p>
            <a:r>
              <a:rPr lang="es-MX" sz="1600" b="1" dirty="0">
                <a:latin typeface="Book Antiqua" panose="02040602050305030304" pitchFamily="18" charset="0"/>
              </a:rPr>
              <a:t>1. Contenido y habilidad</a:t>
            </a:r>
          </a:p>
          <a:p>
            <a:r>
              <a:rPr lang="es-MX" sz="1600" dirty="0">
                <a:latin typeface="Book Antiqua" panose="02040602050305030304" pitchFamily="18" charset="0"/>
              </a:rPr>
              <a:t>El contenido del ítem debe estar registrado en el temario y debe corresponder al nivel de la Educación Básica Regular (EBR).</a:t>
            </a:r>
          </a:p>
        </p:txBody>
      </p:sp>
      <p:sp>
        <p:nvSpPr>
          <p:cNvPr id="10" name="Rectángulo: esquinas redondeadas 9">
            <a:extLst>
              <a:ext uri="{FF2B5EF4-FFF2-40B4-BE49-F238E27FC236}">
                <a16:creationId xmlns:a16="http://schemas.microsoft.com/office/drawing/2014/main" id="{74C17D28-FFA9-C1C9-C72C-311E49A21B39}"/>
              </a:ext>
            </a:extLst>
          </p:cNvPr>
          <p:cNvSpPr/>
          <p:nvPr/>
        </p:nvSpPr>
        <p:spPr>
          <a:xfrm>
            <a:off x="350872" y="2517626"/>
            <a:ext cx="4955718" cy="1077218"/>
          </a:xfrm>
          <a:prstGeom prst="roundRect">
            <a:avLst/>
          </a:prstGeom>
          <a:solidFill>
            <a:schemeClr val="bg1">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r>
              <a:rPr lang="es-MX" sz="1600" b="1" dirty="0">
                <a:solidFill>
                  <a:schemeClr val="bg1"/>
                </a:solidFill>
                <a:latin typeface="Book Antiqua" panose="02040602050305030304" pitchFamily="18" charset="0"/>
              </a:rPr>
              <a:t>2. Formulación del enunciado</a:t>
            </a:r>
          </a:p>
          <a:p>
            <a:r>
              <a:rPr lang="es-MX" sz="1600" dirty="0">
                <a:solidFill>
                  <a:schemeClr val="bg1"/>
                </a:solidFill>
                <a:latin typeface="Book Antiqua" panose="02040602050305030304" pitchFamily="18" charset="0"/>
              </a:rPr>
              <a:t>El enunciado debe formularse en un lenguaje claro y debe estar orientado a la actividad reflexiva.</a:t>
            </a:r>
          </a:p>
        </p:txBody>
      </p:sp>
      <p:sp>
        <p:nvSpPr>
          <p:cNvPr id="11" name="Rectángulo: esquinas redondeadas 10">
            <a:extLst>
              <a:ext uri="{FF2B5EF4-FFF2-40B4-BE49-F238E27FC236}">
                <a16:creationId xmlns:a16="http://schemas.microsoft.com/office/drawing/2014/main" id="{03790B7D-BAB6-0C4E-1B65-6EC6C8F9E7B5}"/>
              </a:ext>
            </a:extLst>
          </p:cNvPr>
          <p:cNvSpPr/>
          <p:nvPr/>
        </p:nvSpPr>
        <p:spPr>
          <a:xfrm>
            <a:off x="350872" y="3642773"/>
            <a:ext cx="4955717" cy="1077218"/>
          </a:xfrm>
          <a:prstGeom prst="roundRect">
            <a:avLst/>
          </a:prstGeom>
          <a:solidFill>
            <a:schemeClr val="bg1">
              <a:lumMod val="65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r>
              <a:rPr lang="es-MX" sz="1600" b="1" dirty="0">
                <a:solidFill>
                  <a:schemeClr val="bg1"/>
                </a:solidFill>
                <a:latin typeface="Book Antiqua" panose="02040602050305030304" pitchFamily="18" charset="0"/>
              </a:rPr>
              <a:t>3. Clave</a:t>
            </a:r>
          </a:p>
          <a:p>
            <a:r>
              <a:rPr lang="es-MX" sz="1600" dirty="0">
                <a:solidFill>
                  <a:schemeClr val="bg1"/>
                </a:solidFill>
                <a:latin typeface="Book Antiqua" panose="02040602050305030304" pitchFamily="18" charset="0"/>
              </a:rPr>
              <a:t>La clave debe ser una respuesta razonada. A nivel formal, debe guardar simetría con las alternativas.</a:t>
            </a:r>
          </a:p>
        </p:txBody>
      </p:sp>
      <p:sp>
        <p:nvSpPr>
          <p:cNvPr id="12" name="Rectángulo: esquinas redondeadas 11">
            <a:extLst>
              <a:ext uri="{FF2B5EF4-FFF2-40B4-BE49-F238E27FC236}">
                <a16:creationId xmlns:a16="http://schemas.microsoft.com/office/drawing/2014/main" id="{4056C335-20F1-CD21-2B20-CDAA36000595}"/>
              </a:ext>
            </a:extLst>
          </p:cNvPr>
          <p:cNvSpPr/>
          <p:nvPr/>
        </p:nvSpPr>
        <p:spPr>
          <a:xfrm>
            <a:off x="4774031" y="1378704"/>
            <a:ext cx="4955719" cy="10772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600" b="1" dirty="0">
                <a:solidFill>
                  <a:schemeClr val="bg1"/>
                </a:solidFill>
                <a:latin typeface="Book Antiqua" panose="02040602050305030304" pitchFamily="18" charset="0"/>
              </a:rPr>
              <a:t>4. Distractores</a:t>
            </a:r>
          </a:p>
          <a:p>
            <a:r>
              <a:rPr lang="es-MX" sz="1600" dirty="0">
                <a:solidFill>
                  <a:schemeClr val="bg1"/>
                </a:solidFill>
                <a:latin typeface="Book Antiqua" panose="02040602050305030304" pitchFamily="18" charset="0"/>
              </a:rPr>
              <a:t>Los distractores deben ser descartados luego de un análisis minucioso. Si un ítem no formula buenos distractores, debe reconstruirse.</a:t>
            </a:r>
          </a:p>
        </p:txBody>
      </p:sp>
      <p:sp>
        <p:nvSpPr>
          <p:cNvPr id="13" name="Rectángulo: esquinas redondeadas 12">
            <a:extLst>
              <a:ext uri="{FF2B5EF4-FFF2-40B4-BE49-F238E27FC236}">
                <a16:creationId xmlns:a16="http://schemas.microsoft.com/office/drawing/2014/main" id="{23408A91-4DE8-5D4E-15DE-AC74C1F571B1}"/>
              </a:ext>
            </a:extLst>
          </p:cNvPr>
          <p:cNvSpPr/>
          <p:nvPr/>
        </p:nvSpPr>
        <p:spPr>
          <a:xfrm>
            <a:off x="5411972" y="2517626"/>
            <a:ext cx="4317779" cy="2202365"/>
          </a:xfrm>
          <a:prstGeom prst="roundRect">
            <a:avLst/>
          </a:prstGeom>
          <a:solidFill>
            <a:srgbClr val="00B050"/>
          </a:solidFill>
          <a:ln>
            <a:noFill/>
          </a:ln>
        </p:spPr>
        <p:style>
          <a:lnRef idx="1">
            <a:schemeClr val="accent3"/>
          </a:lnRef>
          <a:fillRef idx="3">
            <a:schemeClr val="accent3"/>
          </a:fillRef>
          <a:effectRef idx="2">
            <a:schemeClr val="accent3"/>
          </a:effectRef>
          <a:fontRef idx="minor">
            <a:schemeClr val="lt1"/>
          </a:fontRef>
        </p:style>
        <p:txBody>
          <a:bodyPr rtlCol="0" anchor="ctr"/>
          <a:lstStyle/>
          <a:p>
            <a:r>
              <a:rPr lang="es-MX" sz="1600" b="1" dirty="0">
                <a:solidFill>
                  <a:schemeClr val="bg1"/>
                </a:solidFill>
                <a:latin typeface="Book Antiqua" panose="02040602050305030304" pitchFamily="18" charset="0"/>
              </a:rPr>
              <a:t>5. Solución</a:t>
            </a:r>
          </a:p>
          <a:p>
            <a:r>
              <a:rPr lang="es-MX" sz="1600" dirty="0">
                <a:solidFill>
                  <a:schemeClr val="bg1"/>
                </a:solidFill>
                <a:latin typeface="Book Antiqua" panose="02040602050305030304" pitchFamily="18" charset="0"/>
              </a:rPr>
              <a:t>La solución del ítem no debe ser prolija en exceso, pero tampoco debe ser minimalista y redundante. En promedio, la solución debe ser de cincuenta palabras. En ciertos casos, es pertinente que la solución explique por qué un distractor no es la clave de la pregunta.</a:t>
            </a:r>
          </a:p>
        </p:txBody>
      </p:sp>
    </p:spTree>
    <p:extLst>
      <p:ext uri="{BB962C8B-B14F-4D97-AF65-F5344CB8AC3E}">
        <p14:creationId xmlns:p14="http://schemas.microsoft.com/office/powerpoint/2010/main" val="6085862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latin typeface="Book Antiqua" panose="02040602050305030304" pitchFamily="18" charset="0"/>
              </a:rPr>
              <a:t>Ejemplos de ítems del área de Comunicación </a:t>
            </a:r>
            <a:endParaRPr lang="en-US" b="1" dirty="0">
              <a:latin typeface="Book Antiqua" panose="02040602050305030304" pitchFamily="18" charset="0"/>
            </a:endParaRPr>
          </a:p>
        </p:txBody>
      </p:sp>
      <p:sp>
        <p:nvSpPr>
          <p:cNvPr id="5" name="Marcador de texto 4"/>
          <p:cNvSpPr>
            <a:spLocks noGrp="1"/>
          </p:cNvSpPr>
          <p:nvPr>
            <p:ph type="body" idx="1"/>
          </p:nvPr>
        </p:nvSpPr>
        <p:spPr>
          <a:xfrm>
            <a:off x="687793" y="1921565"/>
            <a:ext cx="8694539" cy="1948070"/>
          </a:xfrm>
        </p:spPr>
        <p:txBody>
          <a:bodyPr/>
          <a:lstStyle/>
          <a:p>
            <a:endParaRPr lang="en-US" dirty="0"/>
          </a:p>
        </p:txBody>
      </p:sp>
    </p:spTree>
    <p:extLst>
      <p:ext uri="{BB962C8B-B14F-4D97-AF65-F5344CB8AC3E}">
        <p14:creationId xmlns:p14="http://schemas.microsoft.com/office/powerpoint/2010/main" val="18332843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MX" sz="2800" b="1" strike="noStrike" spc="-1" dirty="0">
                <a:solidFill>
                  <a:srgbClr val="FFFFFF"/>
                </a:solidFill>
                <a:latin typeface="Book Antiqua" panose="02040602050305030304" pitchFamily="18" charset="0"/>
              </a:rPr>
              <a:t>Ítems por competencias:</a:t>
            </a:r>
            <a:r>
              <a:rPr lang="es-MX" sz="2800" b="1" spc="-1" dirty="0">
                <a:solidFill>
                  <a:srgbClr val="FFFFFF"/>
                </a:solidFill>
                <a:latin typeface="Book Antiqua" panose="02040602050305030304" pitchFamily="18" charset="0"/>
              </a:rPr>
              <a:t> </a:t>
            </a:r>
            <a:r>
              <a:rPr lang="es-MX" sz="2800" b="1" strike="noStrike" spc="-1" dirty="0">
                <a:solidFill>
                  <a:srgbClr val="FFFFFF"/>
                </a:solidFill>
                <a:latin typeface="Book Antiqua" panose="02040602050305030304" pitchFamily="18" charset="0"/>
              </a:rPr>
              <a:t>Habilidad Verbal</a:t>
            </a:r>
            <a:endParaRPr lang="es-PE" sz="2800" b="1" strike="noStrike" spc="-1" dirty="0">
              <a:solidFill>
                <a:srgbClr val="FFFFFF"/>
              </a:solidFill>
              <a:latin typeface="Book Antiqua" panose="02040602050305030304" pitchFamily="18" charset="0"/>
            </a:endParaRPr>
          </a:p>
        </p:txBody>
      </p:sp>
      <p:sp>
        <p:nvSpPr>
          <p:cNvPr id="101" name="TextShape 2"/>
          <p:cNvSpPr txBox="1"/>
          <p:nvPr/>
        </p:nvSpPr>
        <p:spPr>
          <a:xfrm>
            <a:off x="360000" y="1350000"/>
            <a:ext cx="9360000" cy="3510000"/>
          </a:xfrm>
          <a:prstGeom prst="rect">
            <a:avLst/>
          </a:prstGeom>
          <a:noFill/>
          <a:ln w="0">
            <a:noFill/>
          </a:ln>
        </p:spPr>
        <p:txBody>
          <a:bodyPr lIns="0" tIns="0" rIns="0" bIns="0">
            <a:normAutofit fontScale="98500"/>
          </a:bodyPr>
          <a:lstStyle/>
          <a:p>
            <a:pPr marL="0" indent="0" algn="just">
              <a:buNone/>
            </a:pPr>
            <a:r>
              <a:rPr lang="es-MX" sz="2500" b="1" dirty="0">
                <a:solidFill>
                  <a:schemeClr val="tx2"/>
                </a:solidFill>
                <a:latin typeface="Book Antiqua" panose="02040602050305030304" pitchFamily="18" charset="0"/>
                <a:cs typeface="Times New Roman" panose="02020603050405020304" pitchFamily="18" charset="0"/>
              </a:rPr>
              <a:t>Tipos de textos para evaluar las competencias comunicativas</a:t>
            </a:r>
          </a:p>
          <a:p>
            <a:pPr marL="0" indent="0" algn="ctr">
              <a:buNone/>
            </a:pPr>
            <a:endParaRPr lang="es-PE" sz="1400" b="1" dirty="0">
              <a:solidFill>
                <a:schemeClr val="tx2"/>
              </a:solidFill>
              <a:latin typeface="Book Antiqua" panose="02040602050305030304" pitchFamily="18" charset="0"/>
              <a:cs typeface="Times New Roman" panose="02020603050405020304" pitchFamily="18" charset="0"/>
            </a:endParaRPr>
          </a:p>
          <a:p>
            <a:pPr marL="0" lvl="0" indent="0" algn="just">
              <a:buNone/>
            </a:pPr>
            <a:r>
              <a:rPr lang="es-PE" sz="2400" dirty="0">
                <a:latin typeface="Book Antiqua" panose="02040602050305030304" pitchFamily="18" charset="0"/>
                <a:cs typeface="Times New Roman" panose="02020603050405020304" pitchFamily="18" charset="0"/>
              </a:rPr>
              <a:t>1. </a:t>
            </a:r>
            <a:r>
              <a:rPr lang="es-PE" sz="2400" b="1" dirty="0">
                <a:latin typeface="Book Antiqua" panose="02040602050305030304" pitchFamily="18" charset="0"/>
                <a:cs typeface="Times New Roman" panose="02020603050405020304" pitchFamily="18" charset="0"/>
              </a:rPr>
              <a:t>Texto lineal </a:t>
            </a:r>
            <a:r>
              <a:rPr lang="es-PE" sz="2400" dirty="0">
                <a:latin typeface="Book Antiqua" panose="02040602050305030304" pitchFamily="18" charset="0"/>
                <a:cs typeface="Times New Roman" panose="02020603050405020304" pitchFamily="18" charset="0"/>
              </a:rPr>
              <a:t>(expositivo)</a:t>
            </a:r>
          </a:p>
          <a:p>
            <a:pPr marL="0" lvl="0" indent="0" algn="just">
              <a:buNone/>
            </a:pPr>
            <a:endParaRPr lang="es-PE" sz="2000" dirty="0">
              <a:latin typeface="Book Antiqua" panose="02040602050305030304" pitchFamily="18" charset="0"/>
              <a:cs typeface="Times New Roman" panose="02020603050405020304" pitchFamily="18" charset="0"/>
            </a:endParaRPr>
          </a:p>
          <a:p>
            <a:pPr marL="0" lvl="0" indent="0">
              <a:buNone/>
            </a:pPr>
            <a:r>
              <a:rPr lang="es-PE" sz="2400" dirty="0">
                <a:latin typeface="Book Antiqua" panose="02040602050305030304" pitchFamily="18" charset="0"/>
                <a:cs typeface="Times New Roman" panose="02020603050405020304" pitchFamily="18" charset="0"/>
              </a:rPr>
              <a:t>2. </a:t>
            </a:r>
            <a:r>
              <a:rPr lang="es-PE" sz="2400" b="1" dirty="0">
                <a:latin typeface="Book Antiqua" panose="02040602050305030304" pitchFamily="18" charset="0"/>
                <a:cs typeface="Times New Roman" panose="02020603050405020304" pitchFamily="18" charset="0"/>
              </a:rPr>
              <a:t>Texto con gráfico </a:t>
            </a:r>
            <a:r>
              <a:rPr lang="es-PE" sz="2400" dirty="0">
                <a:latin typeface="Book Antiqua" panose="02040602050305030304" pitchFamily="18" charset="0"/>
                <a:cs typeface="Times New Roman" panose="02020603050405020304" pitchFamily="18" charset="0"/>
              </a:rPr>
              <a:t>(</a:t>
            </a:r>
            <a:r>
              <a:rPr lang="es-MX" sz="2400" dirty="0">
                <a:latin typeface="Book Antiqua" panose="02040602050305030304" pitchFamily="18" charset="0"/>
                <a:cs typeface="Times New Roman" panose="02020603050405020304" pitchFamily="18" charset="0"/>
              </a:rPr>
              <a:t>infografía, cuadro estadístico, fotografía, 							caricatura, publicidad)</a:t>
            </a:r>
            <a:endParaRPr lang="es-PE" sz="2400" dirty="0">
              <a:latin typeface="Book Antiqua" panose="02040602050305030304" pitchFamily="18" charset="0"/>
              <a:cs typeface="Times New Roman" panose="02020603050405020304" pitchFamily="18" charset="0"/>
            </a:endParaRPr>
          </a:p>
          <a:p>
            <a:pPr marL="0" lvl="0" indent="0" algn="just">
              <a:buNone/>
            </a:pPr>
            <a:r>
              <a:rPr lang="es-PE" sz="2400" dirty="0">
                <a:latin typeface="Book Antiqua" panose="02040602050305030304" pitchFamily="18" charset="0"/>
                <a:cs typeface="Times New Roman" panose="02020603050405020304" pitchFamily="18" charset="0"/>
              </a:rPr>
              <a:t>3. </a:t>
            </a:r>
            <a:r>
              <a:rPr lang="es-PE" sz="2400" b="1" dirty="0">
                <a:latin typeface="Book Antiqua" panose="02040602050305030304" pitchFamily="18" charset="0"/>
                <a:cs typeface="Times New Roman" panose="02020603050405020304" pitchFamily="18" charset="0"/>
              </a:rPr>
              <a:t>Texto dialéctico</a:t>
            </a:r>
            <a:r>
              <a:rPr lang="es-PE" sz="2400" dirty="0">
                <a:latin typeface="Book Antiqua" panose="02040602050305030304" pitchFamily="18" charset="0"/>
                <a:cs typeface="Times New Roman" panose="02020603050405020304" pitchFamily="18" charset="0"/>
              </a:rPr>
              <a:t> (fragmentos con dos posturas diferentes sobre									un tema)</a:t>
            </a:r>
            <a:endParaRPr lang="es-PE" sz="2000" dirty="0">
              <a:latin typeface="Book Antiqua" panose="02040602050305030304" pitchFamily="18" charset="0"/>
              <a:cs typeface="Times New Roman" panose="02020603050405020304" pitchFamily="18" charset="0"/>
            </a:endParaRPr>
          </a:p>
          <a:p>
            <a:pPr marL="0" lvl="0" indent="0" algn="just">
              <a:buNone/>
            </a:pPr>
            <a:endParaRPr lang="es-PE" sz="2400" b="1" dirty="0">
              <a:latin typeface="Book Antiqua" panose="02040602050305030304" pitchFamily="18" charset="0"/>
              <a:cs typeface="Times New Roman" panose="02020603050405020304" pitchFamily="18" charset="0"/>
            </a:endParaRPr>
          </a:p>
        </p:txBody>
      </p:sp>
    </p:spTree>
    <p:extLst>
      <p:ext uri="{BB962C8B-B14F-4D97-AF65-F5344CB8AC3E}">
        <p14:creationId xmlns:p14="http://schemas.microsoft.com/office/powerpoint/2010/main" val="1312388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MX" sz="2800" b="1" strike="noStrike" spc="-1" dirty="0">
                <a:solidFill>
                  <a:srgbClr val="FFFFFF"/>
                </a:solidFill>
                <a:latin typeface="Book Antiqua" panose="02040602050305030304" pitchFamily="18" charset="0"/>
              </a:rPr>
              <a:t>Ítems por competencias:</a:t>
            </a:r>
            <a:r>
              <a:rPr lang="es-MX" sz="2800" b="1" spc="-1" dirty="0">
                <a:solidFill>
                  <a:srgbClr val="FFFFFF"/>
                </a:solidFill>
                <a:latin typeface="Book Antiqua" panose="02040602050305030304" pitchFamily="18" charset="0"/>
              </a:rPr>
              <a:t> </a:t>
            </a:r>
            <a:r>
              <a:rPr lang="es-MX" sz="2800" b="1" strike="noStrike" spc="-1" dirty="0">
                <a:solidFill>
                  <a:srgbClr val="FFFFFF"/>
                </a:solidFill>
                <a:latin typeface="Book Antiqua" panose="02040602050305030304" pitchFamily="18" charset="0"/>
              </a:rPr>
              <a:t>Habilidad Verbal</a:t>
            </a:r>
            <a:endParaRPr lang="es-PE" sz="2800" b="1" strike="noStrike" spc="-1" dirty="0">
              <a:solidFill>
                <a:srgbClr val="FFFFFF"/>
              </a:solidFill>
              <a:latin typeface="Book Antiqua" panose="02040602050305030304" pitchFamily="18" charset="0"/>
            </a:endParaRPr>
          </a:p>
        </p:txBody>
      </p:sp>
      <p:pic>
        <p:nvPicPr>
          <p:cNvPr id="2" name="Imagen 1">
            <a:extLst>
              <a:ext uri="{FF2B5EF4-FFF2-40B4-BE49-F238E27FC236}">
                <a16:creationId xmlns:a16="http://schemas.microsoft.com/office/drawing/2014/main" id="{3578F6DE-BC09-04DC-4DEA-30329E9C78E4}"/>
              </a:ext>
            </a:extLst>
          </p:cNvPr>
          <p:cNvPicPr>
            <a:picLocks noChangeAspect="1"/>
          </p:cNvPicPr>
          <p:nvPr/>
        </p:nvPicPr>
        <p:blipFill>
          <a:blip r:embed="rId2"/>
          <a:stretch>
            <a:fillRect/>
          </a:stretch>
        </p:blipFill>
        <p:spPr>
          <a:xfrm>
            <a:off x="726154" y="1089292"/>
            <a:ext cx="6449549" cy="4170800"/>
          </a:xfrm>
          <a:prstGeom prst="rect">
            <a:avLst/>
          </a:prstGeom>
        </p:spPr>
      </p:pic>
      <p:sp>
        <p:nvSpPr>
          <p:cNvPr id="3" name="Marcador de contenido 2">
            <a:extLst>
              <a:ext uri="{FF2B5EF4-FFF2-40B4-BE49-F238E27FC236}">
                <a16:creationId xmlns:a16="http://schemas.microsoft.com/office/drawing/2014/main" id="{D817B390-6DF4-A9C1-48F8-4E84B7759277}"/>
              </a:ext>
            </a:extLst>
          </p:cNvPr>
          <p:cNvSpPr txBox="1">
            <a:spLocks/>
          </p:cNvSpPr>
          <p:nvPr/>
        </p:nvSpPr>
        <p:spPr>
          <a:xfrm>
            <a:off x="7693151" y="2326212"/>
            <a:ext cx="2026849" cy="720000"/>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s-PE" sz="2100" b="1" dirty="0">
                <a:solidFill>
                  <a:schemeClr val="tx2"/>
                </a:solidFill>
                <a:latin typeface="Book Antiqua" panose="02040602050305030304" pitchFamily="18" charset="0"/>
                <a:cs typeface="Times New Roman" panose="02020603050405020304" pitchFamily="18" charset="0"/>
              </a:rPr>
              <a:t>Texto lineal </a:t>
            </a:r>
            <a:r>
              <a:rPr lang="es-PE" sz="2100" dirty="0">
                <a:latin typeface="Book Antiqua" panose="02040602050305030304" pitchFamily="18" charset="0"/>
                <a:cs typeface="Times New Roman" panose="02020603050405020304" pitchFamily="18" charset="0"/>
              </a:rPr>
              <a:t>(expositivo)</a:t>
            </a:r>
          </a:p>
        </p:txBody>
      </p:sp>
    </p:spTree>
    <p:extLst>
      <p:ext uri="{BB962C8B-B14F-4D97-AF65-F5344CB8AC3E}">
        <p14:creationId xmlns:p14="http://schemas.microsoft.com/office/powerpoint/2010/main" val="30118336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MX" sz="2800" b="1" strike="noStrike" spc="-1" dirty="0">
                <a:solidFill>
                  <a:srgbClr val="FFFFFF"/>
                </a:solidFill>
                <a:latin typeface="Book Antiqua" panose="02040602050305030304" pitchFamily="18" charset="0"/>
              </a:rPr>
              <a:t>Ítems por competencias:</a:t>
            </a:r>
            <a:r>
              <a:rPr lang="es-MX" sz="2800" b="1" spc="-1" dirty="0">
                <a:solidFill>
                  <a:srgbClr val="FFFFFF"/>
                </a:solidFill>
                <a:latin typeface="Book Antiqua" panose="02040602050305030304" pitchFamily="18" charset="0"/>
              </a:rPr>
              <a:t> </a:t>
            </a:r>
            <a:r>
              <a:rPr lang="es-MX" sz="2800" b="1" strike="noStrike" spc="-1" dirty="0">
                <a:solidFill>
                  <a:srgbClr val="FFFFFF"/>
                </a:solidFill>
                <a:latin typeface="Book Antiqua" panose="02040602050305030304" pitchFamily="18" charset="0"/>
              </a:rPr>
              <a:t>Habilidad Verbal</a:t>
            </a:r>
            <a:endParaRPr lang="es-PE" sz="2800" b="1" strike="noStrike" spc="-1" dirty="0">
              <a:solidFill>
                <a:srgbClr val="FFFFFF"/>
              </a:solidFill>
              <a:latin typeface="Book Antiqua" panose="02040602050305030304" pitchFamily="18" charset="0"/>
            </a:endParaRPr>
          </a:p>
        </p:txBody>
      </p:sp>
      <p:pic>
        <p:nvPicPr>
          <p:cNvPr id="10" name="Imagen 9">
            <a:extLst>
              <a:ext uri="{FF2B5EF4-FFF2-40B4-BE49-F238E27FC236}">
                <a16:creationId xmlns:a16="http://schemas.microsoft.com/office/drawing/2014/main" id="{07DDA5F5-F6E0-DA3B-C7FF-4B7061E00D4B}"/>
              </a:ext>
            </a:extLst>
          </p:cNvPr>
          <p:cNvPicPr>
            <a:picLocks noChangeAspect="1"/>
          </p:cNvPicPr>
          <p:nvPr/>
        </p:nvPicPr>
        <p:blipFill>
          <a:blip r:embed="rId2"/>
          <a:stretch>
            <a:fillRect/>
          </a:stretch>
        </p:blipFill>
        <p:spPr>
          <a:xfrm>
            <a:off x="380661" y="1651236"/>
            <a:ext cx="4787562" cy="2200345"/>
          </a:xfrm>
          <a:prstGeom prst="rect">
            <a:avLst/>
          </a:prstGeom>
        </p:spPr>
      </p:pic>
      <p:pic>
        <p:nvPicPr>
          <p:cNvPr id="12" name="Imagen 11">
            <a:extLst>
              <a:ext uri="{FF2B5EF4-FFF2-40B4-BE49-F238E27FC236}">
                <a16:creationId xmlns:a16="http://schemas.microsoft.com/office/drawing/2014/main" id="{BD2EF408-3A60-16E4-E7E8-CEA3AB28C44B}"/>
              </a:ext>
            </a:extLst>
          </p:cNvPr>
          <p:cNvPicPr>
            <a:picLocks noChangeAspect="1"/>
          </p:cNvPicPr>
          <p:nvPr/>
        </p:nvPicPr>
        <p:blipFill>
          <a:blip r:embed="rId3"/>
          <a:stretch>
            <a:fillRect/>
          </a:stretch>
        </p:blipFill>
        <p:spPr>
          <a:xfrm>
            <a:off x="5273501" y="1169815"/>
            <a:ext cx="4378338" cy="3330921"/>
          </a:xfrm>
          <a:prstGeom prst="rect">
            <a:avLst/>
          </a:prstGeom>
        </p:spPr>
      </p:pic>
      <p:sp>
        <p:nvSpPr>
          <p:cNvPr id="3" name="Marcador de contenido 2">
            <a:extLst>
              <a:ext uri="{FF2B5EF4-FFF2-40B4-BE49-F238E27FC236}">
                <a16:creationId xmlns:a16="http://schemas.microsoft.com/office/drawing/2014/main" id="{D817B390-6DF4-A9C1-48F8-4E84B7759277}"/>
              </a:ext>
            </a:extLst>
          </p:cNvPr>
          <p:cNvSpPr txBox="1">
            <a:spLocks/>
          </p:cNvSpPr>
          <p:nvPr/>
        </p:nvSpPr>
        <p:spPr>
          <a:xfrm>
            <a:off x="360000" y="4155006"/>
            <a:ext cx="5768084" cy="720000"/>
          </a:xfrm>
          <a:prstGeom prst="rect">
            <a:avLst/>
          </a:prstGeom>
        </p:spPr>
        <p:txBody>
          <a:bodyPr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s-PE" sz="2100" b="1" dirty="0">
                <a:solidFill>
                  <a:schemeClr val="tx2"/>
                </a:solidFill>
                <a:latin typeface="Book Antiqua" panose="02040602050305030304" pitchFamily="18" charset="0"/>
                <a:cs typeface="Times New Roman" panose="02020603050405020304" pitchFamily="18" charset="0"/>
              </a:rPr>
              <a:t>Texto con gráfico </a:t>
            </a:r>
            <a:r>
              <a:rPr lang="es-PE" sz="2100" dirty="0">
                <a:latin typeface="Book Antiqua" panose="02040602050305030304" pitchFamily="18" charset="0"/>
                <a:cs typeface="Times New Roman" panose="02020603050405020304" pitchFamily="18" charset="0"/>
              </a:rPr>
              <a:t>(</a:t>
            </a:r>
            <a:r>
              <a:rPr lang="es-MX" sz="2100" dirty="0">
                <a:latin typeface="Book Antiqua" panose="02040602050305030304" pitchFamily="18" charset="0"/>
                <a:cs typeface="Times New Roman" panose="02020603050405020304" pitchFamily="18" charset="0"/>
              </a:rPr>
              <a:t>infografía, cuadro estadístico, fotografía, caricatura, publicidad)</a:t>
            </a:r>
            <a:endParaRPr lang="es-PE" sz="2100" dirty="0">
              <a:latin typeface="Book Antiqua" panose="02040602050305030304" pitchFamily="18" charset="0"/>
              <a:cs typeface="Times New Roman" panose="02020603050405020304" pitchFamily="18" charset="0"/>
            </a:endParaRPr>
          </a:p>
        </p:txBody>
      </p:sp>
    </p:spTree>
    <p:extLst>
      <p:ext uri="{BB962C8B-B14F-4D97-AF65-F5344CB8AC3E}">
        <p14:creationId xmlns:p14="http://schemas.microsoft.com/office/powerpoint/2010/main" val="2273683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360000" y="270000"/>
            <a:ext cx="9360000" cy="720000"/>
          </a:xfrm>
          <a:prstGeom prst="rect">
            <a:avLst/>
          </a:prstGeom>
          <a:noFill/>
          <a:ln w="0">
            <a:noFill/>
          </a:ln>
        </p:spPr>
        <p:txBody>
          <a:bodyPr lIns="0" tIns="0" rIns="0" bIns="0" anchor="ctr" anchorCtr="0">
            <a:noAutofit/>
          </a:bodyPr>
          <a:lstStyle/>
          <a:p>
            <a:r>
              <a:rPr lang="es-MX" sz="2800" b="1" strike="noStrike" spc="-1" dirty="0">
                <a:solidFill>
                  <a:srgbClr val="FFFFFF"/>
                </a:solidFill>
                <a:latin typeface="Book Antiqua" panose="02040602050305030304" pitchFamily="18" charset="0"/>
              </a:rPr>
              <a:t>Ítems por competencias:</a:t>
            </a:r>
            <a:r>
              <a:rPr lang="es-MX" sz="2800" b="1" spc="-1" dirty="0">
                <a:solidFill>
                  <a:srgbClr val="FFFFFF"/>
                </a:solidFill>
                <a:latin typeface="Book Antiqua" panose="02040602050305030304" pitchFamily="18" charset="0"/>
              </a:rPr>
              <a:t> </a:t>
            </a:r>
            <a:r>
              <a:rPr lang="es-MX" sz="2800" b="1" strike="noStrike" spc="-1" dirty="0">
                <a:solidFill>
                  <a:srgbClr val="FFFFFF"/>
                </a:solidFill>
                <a:latin typeface="Book Antiqua" panose="02040602050305030304" pitchFamily="18" charset="0"/>
              </a:rPr>
              <a:t>Habilidad Verbal</a:t>
            </a:r>
            <a:endParaRPr lang="es-PE" sz="2800" b="1" strike="noStrike" spc="-1" dirty="0">
              <a:solidFill>
                <a:srgbClr val="FFFFFF"/>
              </a:solidFill>
              <a:latin typeface="Book Antiqua" panose="02040602050305030304" pitchFamily="18" charset="0"/>
            </a:endParaRPr>
          </a:p>
        </p:txBody>
      </p:sp>
      <p:sp>
        <p:nvSpPr>
          <p:cNvPr id="3" name="Marcador de contenido 2">
            <a:extLst>
              <a:ext uri="{FF2B5EF4-FFF2-40B4-BE49-F238E27FC236}">
                <a16:creationId xmlns:a16="http://schemas.microsoft.com/office/drawing/2014/main" id="{D817B390-6DF4-A9C1-48F8-4E84B7759277}"/>
              </a:ext>
            </a:extLst>
          </p:cNvPr>
          <p:cNvSpPr txBox="1">
            <a:spLocks/>
          </p:cNvSpPr>
          <p:nvPr/>
        </p:nvSpPr>
        <p:spPr>
          <a:xfrm>
            <a:off x="6866021" y="2326212"/>
            <a:ext cx="2853979" cy="1251178"/>
          </a:xfrm>
          <a:prstGeom prst="rect">
            <a:avLst/>
          </a:prstGeom>
        </p:spPr>
        <p:txBody>
          <a:bodyPr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s-PE" sz="2100" b="1" dirty="0">
                <a:solidFill>
                  <a:schemeClr val="tx2"/>
                </a:solidFill>
                <a:latin typeface="Book Antiqua" panose="02040602050305030304" pitchFamily="18" charset="0"/>
                <a:cs typeface="Times New Roman" panose="02020603050405020304" pitchFamily="18" charset="0"/>
              </a:rPr>
              <a:t>Texto dialéctico </a:t>
            </a:r>
            <a:r>
              <a:rPr lang="es-PE" sz="2100" dirty="0">
                <a:latin typeface="Book Antiqua" panose="02040602050305030304" pitchFamily="18" charset="0"/>
                <a:cs typeface="Times New Roman" panose="02020603050405020304" pitchFamily="18" charset="0"/>
              </a:rPr>
              <a:t>(fragmentos con dos posturas diferentes sobre un tema)</a:t>
            </a:r>
          </a:p>
        </p:txBody>
      </p:sp>
      <p:pic>
        <p:nvPicPr>
          <p:cNvPr id="6" name="Imagen 5">
            <a:extLst>
              <a:ext uri="{FF2B5EF4-FFF2-40B4-BE49-F238E27FC236}">
                <a16:creationId xmlns:a16="http://schemas.microsoft.com/office/drawing/2014/main" id="{92C48695-ABBC-B398-6AD2-360DE87F4A49}"/>
              </a:ext>
            </a:extLst>
          </p:cNvPr>
          <p:cNvPicPr>
            <a:picLocks noChangeAspect="1"/>
          </p:cNvPicPr>
          <p:nvPr/>
        </p:nvPicPr>
        <p:blipFill>
          <a:blip r:embed="rId2"/>
          <a:stretch>
            <a:fillRect/>
          </a:stretch>
        </p:blipFill>
        <p:spPr>
          <a:xfrm>
            <a:off x="360000" y="1089811"/>
            <a:ext cx="5286821" cy="4085271"/>
          </a:xfrm>
          <a:prstGeom prst="rect">
            <a:avLst/>
          </a:prstGeom>
        </p:spPr>
      </p:pic>
    </p:spTree>
    <p:extLst>
      <p:ext uri="{BB962C8B-B14F-4D97-AF65-F5344CB8AC3E}">
        <p14:creationId xmlns:p14="http://schemas.microsoft.com/office/powerpoint/2010/main" val="3805692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360000" y="270000"/>
            <a:ext cx="9360000" cy="720000"/>
          </a:xfrm>
          <a:prstGeom prst="rect">
            <a:avLst/>
          </a:prstGeom>
        </p:spPr>
        <p:txBody>
          <a:bodyPr lIns="0" tIns="0" rIns="0" bIns="0" anchor="ctr" anchorCtr="0">
            <a:normAutofit/>
          </a:bodyPr>
          <a:lstStyle/>
          <a:p>
            <a:pPr>
              <a:spcBef>
                <a:spcPct val="0"/>
              </a:spcBef>
              <a:spcAft>
                <a:spcPts val="600"/>
              </a:spcAft>
            </a:pPr>
            <a:r>
              <a:rPr lang="es-PE" sz="2800" b="1" strike="noStrike" kern="1200" spc="-1" dirty="0">
                <a:solidFill>
                  <a:srgbClr val="FFFFFF"/>
                </a:solidFill>
                <a:latin typeface="Book Antiqua" panose="02040602050305030304" pitchFamily="18" charset="0"/>
              </a:rPr>
              <a:t>Ítems por competencias:</a:t>
            </a:r>
            <a:r>
              <a:rPr lang="es-PE" sz="2800" b="1" kern="1200" spc="-1" dirty="0">
                <a:solidFill>
                  <a:srgbClr val="FFFFFF"/>
                </a:solidFill>
                <a:latin typeface="Book Antiqua" panose="02040602050305030304" pitchFamily="18" charset="0"/>
              </a:rPr>
              <a:t> </a:t>
            </a:r>
            <a:r>
              <a:rPr lang="es-PE" sz="2800" b="1" strike="noStrike" kern="1200" spc="-1" dirty="0">
                <a:solidFill>
                  <a:srgbClr val="FFFFFF"/>
                </a:solidFill>
                <a:latin typeface="Book Antiqua" panose="02040602050305030304" pitchFamily="18" charset="0"/>
              </a:rPr>
              <a:t>Habilidad Verbal</a:t>
            </a:r>
          </a:p>
        </p:txBody>
      </p:sp>
      <p:pic>
        <p:nvPicPr>
          <p:cNvPr id="9" name="Imagen 8">
            <a:extLst>
              <a:ext uri="{FF2B5EF4-FFF2-40B4-BE49-F238E27FC236}">
                <a16:creationId xmlns:a16="http://schemas.microsoft.com/office/drawing/2014/main" id="{74FF5E9E-4ED4-B462-EE72-9FF25E228A7D}"/>
              </a:ext>
            </a:extLst>
          </p:cNvPr>
          <p:cNvPicPr>
            <a:picLocks noChangeAspect="1"/>
          </p:cNvPicPr>
          <p:nvPr/>
        </p:nvPicPr>
        <p:blipFill>
          <a:blip r:embed="rId2"/>
          <a:stretch>
            <a:fillRect/>
          </a:stretch>
        </p:blipFill>
        <p:spPr>
          <a:xfrm>
            <a:off x="2262542" y="1454150"/>
            <a:ext cx="7457457" cy="3278271"/>
          </a:xfrm>
          <a:prstGeom prst="rect">
            <a:avLst/>
          </a:prstGeom>
        </p:spPr>
      </p:pic>
      <p:sp>
        <p:nvSpPr>
          <p:cNvPr id="11" name="Marcador de contenido 2">
            <a:extLst>
              <a:ext uri="{FF2B5EF4-FFF2-40B4-BE49-F238E27FC236}">
                <a16:creationId xmlns:a16="http://schemas.microsoft.com/office/drawing/2014/main" id="{64ACA6D3-1A8B-CC27-12DA-7DC5DD33F452}"/>
              </a:ext>
            </a:extLst>
          </p:cNvPr>
          <p:cNvSpPr txBox="1">
            <a:spLocks/>
          </p:cNvSpPr>
          <p:nvPr/>
        </p:nvSpPr>
        <p:spPr>
          <a:xfrm>
            <a:off x="247706" y="2775388"/>
            <a:ext cx="2046316" cy="720000"/>
          </a:xfrm>
          <a:prstGeom prst="rect">
            <a:avLst/>
          </a:prstGeom>
        </p:spPr>
        <p:txBody>
          <a:bodyPr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s-PE" sz="2100" b="1" dirty="0">
                <a:solidFill>
                  <a:schemeClr val="tx2"/>
                </a:solidFill>
                <a:latin typeface="Book Antiqua" panose="02040602050305030304" pitchFamily="18" charset="0"/>
                <a:cs typeface="Times New Roman" panose="02020603050405020304" pitchFamily="18" charset="0"/>
              </a:rPr>
              <a:t>Texto en inglés </a:t>
            </a:r>
            <a:r>
              <a:rPr lang="es-PE" sz="2100" dirty="0">
                <a:latin typeface="Book Antiqua" panose="02040602050305030304" pitchFamily="18" charset="0"/>
                <a:cs typeface="Times New Roman" panose="02020603050405020304" pitchFamily="18" charset="0"/>
              </a:rPr>
              <a:t>(escrito básico)</a:t>
            </a:r>
          </a:p>
        </p:txBody>
      </p:sp>
    </p:spTree>
    <p:extLst>
      <p:ext uri="{BB962C8B-B14F-4D97-AF65-F5344CB8AC3E}">
        <p14:creationId xmlns:p14="http://schemas.microsoft.com/office/powerpoint/2010/main" val="4612522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2"/>
          <p:cNvSpPr txBox="1"/>
          <p:nvPr/>
        </p:nvSpPr>
        <p:spPr>
          <a:xfrm>
            <a:off x="350874" y="1350000"/>
            <a:ext cx="9369126" cy="3510000"/>
          </a:xfrm>
          <a:prstGeom prst="rect">
            <a:avLst/>
          </a:prstGeom>
          <a:noFill/>
          <a:ln w="0">
            <a:noFill/>
          </a:ln>
        </p:spPr>
        <p:txBody>
          <a:bodyPr lIns="0" tIns="0" rIns="0" bIns="0">
            <a:noAutofit/>
          </a:bodyPr>
          <a:lstStyle/>
          <a:p>
            <a:pPr>
              <a:spcAft>
                <a:spcPts val="853"/>
              </a:spcAft>
            </a:pPr>
            <a:r>
              <a:rPr lang="es-PE" sz="2100" b="1" strike="noStrike" spc="-1" dirty="0">
                <a:solidFill>
                  <a:schemeClr val="tx2"/>
                </a:solidFill>
                <a:latin typeface="Book Antiqua" panose="02040602050305030304" pitchFamily="18" charset="0"/>
              </a:rPr>
              <a:t>Tipos de pregunta orientados a evaluar la comprensión lectora</a:t>
            </a:r>
          </a:p>
          <a:p>
            <a:pPr>
              <a:spcAft>
                <a:spcPts val="853"/>
              </a:spcAft>
            </a:pPr>
            <a:endParaRPr lang="es-PE" sz="700" b="1" strike="noStrike" spc="-1" dirty="0">
              <a:solidFill>
                <a:schemeClr val="tx2"/>
              </a:solidFill>
              <a:latin typeface="Book Antiqua" panose="02040602050305030304" pitchFamily="18" charset="0"/>
            </a:endParaRPr>
          </a:p>
          <a:p>
            <a:pPr>
              <a:spcAft>
                <a:spcPts val="853"/>
              </a:spcAft>
              <a:buClr>
                <a:srgbClr val="000000"/>
              </a:buClr>
            </a:pPr>
            <a:r>
              <a:rPr lang="es-PE" sz="2100" strike="noStrike" spc="-1" dirty="0">
                <a:solidFill>
                  <a:srgbClr val="1C1C1C"/>
                </a:solidFill>
                <a:latin typeface="Book Antiqua" panose="02040602050305030304" pitchFamily="18" charset="0"/>
              </a:rPr>
              <a:t>1. </a:t>
            </a:r>
            <a:r>
              <a:rPr lang="es-PE" sz="2100" spc="-1" dirty="0">
                <a:solidFill>
                  <a:srgbClr val="1C1C1C"/>
                </a:solidFill>
                <a:latin typeface="Book Antiqua" panose="02040602050305030304" pitchFamily="18" charset="0"/>
              </a:rPr>
              <a:t>Idea principal	</a:t>
            </a:r>
            <a:endParaRPr lang="es-PE" sz="2100" strike="noStrike" spc="-1" dirty="0">
              <a:solidFill>
                <a:srgbClr val="1C1C1C"/>
              </a:solidFill>
              <a:latin typeface="Book Antiqua" panose="02040602050305030304" pitchFamily="18" charset="0"/>
            </a:endParaRPr>
          </a:p>
          <a:p>
            <a:pPr>
              <a:spcAft>
                <a:spcPts val="853"/>
              </a:spcAft>
              <a:buClr>
                <a:srgbClr val="000000"/>
              </a:buClr>
            </a:pPr>
            <a:r>
              <a:rPr lang="es-PE" sz="2100" strike="noStrike" spc="-1" dirty="0">
                <a:solidFill>
                  <a:srgbClr val="1C1C1C"/>
                </a:solidFill>
                <a:latin typeface="Book Antiqua" panose="02040602050305030304" pitchFamily="18" charset="0"/>
              </a:rPr>
              <a:t>2. </a:t>
            </a:r>
            <a:r>
              <a:rPr lang="es-PE" sz="2100" spc="-1" dirty="0">
                <a:solidFill>
                  <a:srgbClr val="1C1C1C"/>
                </a:solidFill>
                <a:latin typeface="Book Antiqua" panose="02040602050305030304" pitchFamily="18" charset="0"/>
              </a:rPr>
              <a:t>Síntesis</a:t>
            </a:r>
            <a:endParaRPr lang="es-PE" sz="2100" strike="noStrike" spc="-1" dirty="0">
              <a:solidFill>
                <a:srgbClr val="1C1C1C"/>
              </a:solidFill>
              <a:latin typeface="Book Antiqua" panose="02040602050305030304" pitchFamily="18" charset="0"/>
            </a:endParaRPr>
          </a:p>
          <a:p>
            <a:pPr>
              <a:spcAft>
                <a:spcPts val="853"/>
              </a:spcAft>
              <a:buClr>
                <a:srgbClr val="000000"/>
              </a:buClr>
            </a:pPr>
            <a:r>
              <a:rPr lang="es-PE" sz="2100" strike="noStrike" spc="-1" dirty="0">
                <a:solidFill>
                  <a:srgbClr val="1C1C1C"/>
                </a:solidFill>
                <a:latin typeface="Book Antiqua" panose="02040602050305030304" pitchFamily="18" charset="0"/>
              </a:rPr>
              <a:t>3. </a:t>
            </a:r>
            <a:r>
              <a:rPr lang="es-PE" sz="2100" spc="-1" dirty="0">
                <a:solidFill>
                  <a:srgbClr val="1C1C1C"/>
                </a:solidFill>
                <a:latin typeface="Book Antiqua" panose="02040602050305030304" pitchFamily="18" charset="0"/>
              </a:rPr>
              <a:t>Sentido contextual</a:t>
            </a:r>
            <a:endParaRPr lang="es-PE" sz="2100" strike="noStrike" spc="-1" dirty="0">
              <a:solidFill>
                <a:srgbClr val="1C1C1C"/>
              </a:solidFill>
              <a:latin typeface="Book Antiqua" panose="02040602050305030304" pitchFamily="18" charset="0"/>
            </a:endParaRPr>
          </a:p>
          <a:p>
            <a:pPr>
              <a:spcAft>
                <a:spcPts val="853"/>
              </a:spcAft>
              <a:buClr>
                <a:srgbClr val="000000"/>
              </a:buClr>
            </a:pPr>
            <a:r>
              <a:rPr lang="es-PE" sz="2100" strike="noStrike" spc="-1" dirty="0">
                <a:solidFill>
                  <a:srgbClr val="1C1C1C"/>
                </a:solidFill>
                <a:latin typeface="Book Antiqua" panose="02040602050305030304" pitchFamily="18" charset="0"/>
              </a:rPr>
              <a:t>4. Compatibilidad</a:t>
            </a:r>
          </a:p>
          <a:p>
            <a:pPr>
              <a:spcAft>
                <a:spcPts val="853"/>
              </a:spcAft>
              <a:buClr>
                <a:srgbClr val="000000"/>
              </a:buClr>
            </a:pPr>
            <a:r>
              <a:rPr lang="es-PE" sz="2100" strike="noStrike" spc="-1" dirty="0">
                <a:solidFill>
                  <a:srgbClr val="1C1C1C"/>
                </a:solidFill>
                <a:latin typeface="Book Antiqua" panose="02040602050305030304" pitchFamily="18" charset="0"/>
              </a:rPr>
              <a:t>5. </a:t>
            </a:r>
            <a:r>
              <a:rPr lang="es-PE" sz="2100" spc="-1" dirty="0">
                <a:solidFill>
                  <a:srgbClr val="1C1C1C"/>
                </a:solidFill>
                <a:latin typeface="Book Antiqua" panose="02040602050305030304" pitchFamily="18" charset="0"/>
              </a:rPr>
              <a:t>Inferencia</a:t>
            </a:r>
            <a:endParaRPr lang="es-PE" sz="2100" strike="noStrike" spc="-1" dirty="0">
              <a:solidFill>
                <a:srgbClr val="1C1C1C"/>
              </a:solidFill>
              <a:latin typeface="Book Antiqua" panose="02040602050305030304" pitchFamily="18" charset="0"/>
            </a:endParaRPr>
          </a:p>
          <a:p>
            <a:pPr>
              <a:spcAft>
                <a:spcPts val="853"/>
              </a:spcAft>
              <a:buClr>
                <a:srgbClr val="000000"/>
              </a:buClr>
            </a:pPr>
            <a:r>
              <a:rPr lang="es-PE" sz="2100" strike="noStrike" spc="-1" dirty="0">
                <a:solidFill>
                  <a:srgbClr val="1C1C1C"/>
                </a:solidFill>
                <a:latin typeface="Book Antiqua" panose="02040602050305030304" pitchFamily="18" charset="0"/>
              </a:rPr>
              <a:t>6. </a:t>
            </a:r>
            <a:r>
              <a:rPr lang="es-PE" sz="2100" spc="-1" dirty="0">
                <a:solidFill>
                  <a:srgbClr val="1C1C1C"/>
                </a:solidFill>
                <a:latin typeface="Book Antiqua" panose="02040602050305030304" pitchFamily="18" charset="0"/>
              </a:rPr>
              <a:t>Extrapo</a:t>
            </a:r>
            <a:r>
              <a:rPr lang="es-PE" sz="2100" strike="noStrike" spc="-1" dirty="0">
                <a:solidFill>
                  <a:srgbClr val="1C1C1C"/>
                </a:solidFill>
                <a:latin typeface="Book Antiqua" panose="02040602050305030304" pitchFamily="18" charset="0"/>
              </a:rPr>
              <a:t>lación</a:t>
            </a:r>
          </a:p>
        </p:txBody>
      </p:sp>
      <p:sp>
        <p:nvSpPr>
          <p:cNvPr id="3" name="TextShape 1">
            <a:extLst>
              <a:ext uri="{FF2B5EF4-FFF2-40B4-BE49-F238E27FC236}">
                <a16:creationId xmlns:a16="http://schemas.microsoft.com/office/drawing/2014/main" id="{61BF0988-D534-C23D-BD2B-482E4DA43230}"/>
              </a:ext>
            </a:extLst>
          </p:cNvPr>
          <p:cNvSpPr txBox="1"/>
          <p:nvPr/>
        </p:nvSpPr>
        <p:spPr>
          <a:xfrm>
            <a:off x="360000" y="270000"/>
            <a:ext cx="9360000" cy="720000"/>
          </a:xfrm>
          <a:prstGeom prst="rect">
            <a:avLst/>
          </a:prstGeom>
        </p:spPr>
        <p:txBody>
          <a:bodyPr lIns="0" tIns="0" rIns="0" bIns="0" anchor="ctr" anchorCtr="0">
            <a:normAutofit/>
          </a:bodyPr>
          <a:lstStyle/>
          <a:p>
            <a:pPr>
              <a:spcBef>
                <a:spcPct val="0"/>
              </a:spcBef>
              <a:spcAft>
                <a:spcPts val="600"/>
              </a:spcAft>
            </a:pPr>
            <a:r>
              <a:rPr lang="es-PE" sz="2800" b="1" strike="noStrike" kern="1200" spc="-1" dirty="0">
                <a:solidFill>
                  <a:srgbClr val="FFFFFF"/>
                </a:solidFill>
                <a:latin typeface="Book Antiqua" panose="02040602050305030304" pitchFamily="18" charset="0"/>
              </a:rPr>
              <a:t>Ítems por competencias:</a:t>
            </a:r>
            <a:r>
              <a:rPr lang="es-PE" sz="2800" b="1" kern="1200" spc="-1" dirty="0">
                <a:solidFill>
                  <a:srgbClr val="FFFFFF"/>
                </a:solidFill>
                <a:latin typeface="Book Antiqua" panose="02040602050305030304" pitchFamily="18" charset="0"/>
              </a:rPr>
              <a:t> </a:t>
            </a:r>
            <a:r>
              <a:rPr lang="es-PE" sz="2800" b="1" strike="noStrike" kern="1200" spc="-1" dirty="0">
                <a:solidFill>
                  <a:srgbClr val="FFFFFF"/>
                </a:solidFill>
                <a:latin typeface="Book Antiqua" panose="02040602050305030304" pitchFamily="18" charset="0"/>
              </a:rPr>
              <a:t>Habilidad Verbal</a:t>
            </a:r>
          </a:p>
        </p:txBody>
      </p:sp>
      <p:sp>
        <p:nvSpPr>
          <p:cNvPr id="2" name="Rectángulo: esquinas redondeadas 1">
            <a:extLst>
              <a:ext uri="{FF2B5EF4-FFF2-40B4-BE49-F238E27FC236}">
                <a16:creationId xmlns:a16="http://schemas.microsoft.com/office/drawing/2014/main" id="{E2A25919-EDA0-5A7E-9AE3-513D14487C79}"/>
              </a:ext>
            </a:extLst>
          </p:cNvPr>
          <p:cNvSpPr/>
          <p:nvPr/>
        </p:nvSpPr>
        <p:spPr>
          <a:xfrm>
            <a:off x="4380613" y="1983653"/>
            <a:ext cx="3530009" cy="404214"/>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PE" dirty="0">
                <a:latin typeface="Book Antiqua" panose="02040602050305030304" pitchFamily="18" charset="0"/>
              </a:rPr>
              <a:t>Idea general del texto</a:t>
            </a:r>
          </a:p>
        </p:txBody>
      </p:sp>
      <p:sp>
        <p:nvSpPr>
          <p:cNvPr id="4" name="Rectángulo: esquinas redondeadas 3">
            <a:extLst>
              <a:ext uri="{FF2B5EF4-FFF2-40B4-BE49-F238E27FC236}">
                <a16:creationId xmlns:a16="http://schemas.microsoft.com/office/drawing/2014/main" id="{A85E4674-9CAD-7347-7C20-F3B62959979A}"/>
              </a:ext>
            </a:extLst>
          </p:cNvPr>
          <p:cNvSpPr/>
          <p:nvPr/>
        </p:nvSpPr>
        <p:spPr>
          <a:xfrm>
            <a:off x="4380613" y="2419813"/>
            <a:ext cx="3530009" cy="404214"/>
          </a:xfrm>
          <a:prstGeom prst="round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PE" dirty="0">
                <a:latin typeface="Book Antiqua" panose="02040602050305030304" pitchFamily="18" charset="0"/>
              </a:rPr>
              <a:t>Resumen total o parcial</a:t>
            </a:r>
          </a:p>
        </p:txBody>
      </p:sp>
      <p:sp>
        <p:nvSpPr>
          <p:cNvPr id="5" name="Rectángulo: esquinas redondeadas 4">
            <a:extLst>
              <a:ext uri="{FF2B5EF4-FFF2-40B4-BE49-F238E27FC236}">
                <a16:creationId xmlns:a16="http://schemas.microsoft.com/office/drawing/2014/main" id="{6F832E47-8BE8-19FC-A606-96C117E1C385}"/>
              </a:ext>
            </a:extLst>
          </p:cNvPr>
          <p:cNvSpPr/>
          <p:nvPr/>
        </p:nvSpPr>
        <p:spPr>
          <a:xfrm>
            <a:off x="4380613" y="2850858"/>
            <a:ext cx="3530009" cy="404214"/>
          </a:xfrm>
          <a:prstGeom prst="round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PE" dirty="0">
                <a:latin typeface="Book Antiqua" panose="02040602050305030304" pitchFamily="18" charset="0"/>
              </a:rPr>
              <a:t>Significado de un término</a:t>
            </a:r>
          </a:p>
        </p:txBody>
      </p:sp>
      <p:sp>
        <p:nvSpPr>
          <p:cNvPr id="6" name="Rectángulo: esquinas redondeadas 5">
            <a:extLst>
              <a:ext uri="{FF2B5EF4-FFF2-40B4-BE49-F238E27FC236}">
                <a16:creationId xmlns:a16="http://schemas.microsoft.com/office/drawing/2014/main" id="{EB206E02-AF7D-A1C9-42D2-0978260D5762}"/>
              </a:ext>
            </a:extLst>
          </p:cNvPr>
          <p:cNvSpPr/>
          <p:nvPr/>
        </p:nvSpPr>
        <p:spPr>
          <a:xfrm>
            <a:off x="4380613" y="3281891"/>
            <a:ext cx="3530009" cy="404214"/>
          </a:xfrm>
          <a:prstGeom prst="round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PE" dirty="0">
                <a:latin typeface="Book Antiqua" panose="02040602050305030304" pitchFamily="18" charset="0"/>
              </a:rPr>
              <a:t>Correspondencia de sentido</a:t>
            </a:r>
          </a:p>
        </p:txBody>
      </p:sp>
      <p:sp>
        <p:nvSpPr>
          <p:cNvPr id="7" name="Rectángulo: esquinas redondeadas 6">
            <a:extLst>
              <a:ext uri="{FF2B5EF4-FFF2-40B4-BE49-F238E27FC236}">
                <a16:creationId xmlns:a16="http://schemas.microsoft.com/office/drawing/2014/main" id="{B53C9973-D82C-DDA2-FCDC-12344D28AF5C}"/>
              </a:ext>
            </a:extLst>
          </p:cNvPr>
          <p:cNvSpPr/>
          <p:nvPr/>
        </p:nvSpPr>
        <p:spPr>
          <a:xfrm>
            <a:off x="4380613" y="3720501"/>
            <a:ext cx="3530009" cy="404214"/>
          </a:xfrm>
          <a:prstGeom prst="round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PE" dirty="0">
                <a:latin typeface="Book Antiqua" panose="02040602050305030304" pitchFamily="18" charset="0"/>
              </a:rPr>
              <a:t>Conclusión total o parcial</a:t>
            </a:r>
          </a:p>
        </p:txBody>
      </p:sp>
      <p:sp>
        <p:nvSpPr>
          <p:cNvPr id="8" name="Rectángulo: esquinas redondeadas 7">
            <a:extLst>
              <a:ext uri="{FF2B5EF4-FFF2-40B4-BE49-F238E27FC236}">
                <a16:creationId xmlns:a16="http://schemas.microsoft.com/office/drawing/2014/main" id="{184CFE96-76A3-469F-9107-4D1652477057}"/>
              </a:ext>
            </a:extLst>
          </p:cNvPr>
          <p:cNvSpPr/>
          <p:nvPr/>
        </p:nvSpPr>
        <p:spPr>
          <a:xfrm>
            <a:off x="4380613" y="4155616"/>
            <a:ext cx="3530009" cy="404214"/>
          </a:xfrm>
          <a:prstGeom prst="round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PE" dirty="0">
                <a:latin typeface="Book Antiqua" panose="02040602050305030304" pitchFamily="18" charset="0"/>
              </a:rPr>
              <a:t>Aplicación a otro ámbito</a:t>
            </a:r>
          </a:p>
        </p:txBody>
      </p:sp>
      <p:sp>
        <p:nvSpPr>
          <p:cNvPr id="10" name="Flecha: a la derecha 9">
            <a:extLst>
              <a:ext uri="{FF2B5EF4-FFF2-40B4-BE49-F238E27FC236}">
                <a16:creationId xmlns:a16="http://schemas.microsoft.com/office/drawing/2014/main" id="{FB2275D7-742A-91BE-149D-F4CA48441FD5}"/>
              </a:ext>
            </a:extLst>
          </p:cNvPr>
          <p:cNvSpPr/>
          <p:nvPr/>
        </p:nvSpPr>
        <p:spPr>
          <a:xfrm>
            <a:off x="3232298" y="2051499"/>
            <a:ext cx="244549" cy="265901"/>
          </a:xfrm>
          <a:prstGeom prst="rightArrow">
            <a:avLst/>
          </a:prstGeom>
          <a:ln>
            <a:no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s-PE"/>
          </a:p>
        </p:txBody>
      </p:sp>
      <p:sp>
        <p:nvSpPr>
          <p:cNvPr id="11" name="Flecha: a la derecha 10">
            <a:extLst>
              <a:ext uri="{FF2B5EF4-FFF2-40B4-BE49-F238E27FC236}">
                <a16:creationId xmlns:a16="http://schemas.microsoft.com/office/drawing/2014/main" id="{AFD86F2F-F227-FF6A-EC20-73C07CFA12A0}"/>
              </a:ext>
            </a:extLst>
          </p:cNvPr>
          <p:cNvSpPr/>
          <p:nvPr/>
        </p:nvSpPr>
        <p:spPr>
          <a:xfrm>
            <a:off x="3232295" y="2491702"/>
            <a:ext cx="244549" cy="265901"/>
          </a:xfrm>
          <a:prstGeom prst="rightArrow">
            <a:avLst/>
          </a:prstGeom>
          <a:ln>
            <a:no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s-PE"/>
          </a:p>
        </p:txBody>
      </p:sp>
      <p:sp>
        <p:nvSpPr>
          <p:cNvPr id="12" name="Flecha: a la derecha 11">
            <a:extLst>
              <a:ext uri="{FF2B5EF4-FFF2-40B4-BE49-F238E27FC236}">
                <a16:creationId xmlns:a16="http://schemas.microsoft.com/office/drawing/2014/main" id="{3CAAE781-D6B9-1BCC-D093-8069BEDE58F3}"/>
              </a:ext>
            </a:extLst>
          </p:cNvPr>
          <p:cNvSpPr/>
          <p:nvPr/>
        </p:nvSpPr>
        <p:spPr>
          <a:xfrm>
            <a:off x="3232297" y="2921968"/>
            <a:ext cx="244549" cy="265901"/>
          </a:xfrm>
          <a:prstGeom prst="rightArrow">
            <a:avLst/>
          </a:prstGeom>
          <a:ln>
            <a:no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s-PE"/>
          </a:p>
        </p:txBody>
      </p:sp>
      <p:sp>
        <p:nvSpPr>
          <p:cNvPr id="13" name="Flecha: a la derecha 12">
            <a:extLst>
              <a:ext uri="{FF2B5EF4-FFF2-40B4-BE49-F238E27FC236}">
                <a16:creationId xmlns:a16="http://schemas.microsoft.com/office/drawing/2014/main" id="{C85703CE-75FE-2B2C-5C4D-B417C43D141E}"/>
              </a:ext>
            </a:extLst>
          </p:cNvPr>
          <p:cNvSpPr/>
          <p:nvPr/>
        </p:nvSpPr>
        <p:spPr>
          <a:xfrm>
            <a:off x="3232296" y="3351701"/>
            <a:ext cx="244549" cy="265901"/>
          </a:xfrm>
          <a:prstGeom prst="rightArrow">
            <a:avLst/>
          </a:prstGeom>
          <a:ln>
            <a:no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s-PE"/>
          </a:p>
        </p:txBody>
      </p:sp>
      <p:sp>
        <p:nvSpPr>
          <p:cNvPr id="14" name="Flecha: a la derecha 13">
            <a:extLst>
              <a:ext uri="{FF2B5EF4-FFF2-40B4-BE49-F238E27FC236}">
                <a16:creationId xmlns:a16="http://schemas.microsoft.com/office/drawing/2014/main" id="{ECBAB1ED-F3BE-530F-DFFB-85A9D91D4D79}"/>
              </a:ext>
            </a:extLst>
          </p:cNvPr>
          <p:cNvSpPr/>
          <p:nvPr/>
        </p:nvSpPr>
        <p:spPr>
          <a:xfrm>
            <a:off x="3232294" y="3793918"/>
            <a:ext cx="244549" cy="265901"/>
          </a:xfrm>
          <a:prstGeom prst="rightArrow">
            <a:avLst/>
          </a:prstGeom>
          <a:ln>
            <a:no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s-PE"/>
          </a:p>
        </p:txBody>
      </p:sp>
      <p:sp>
        <p:nvSpPr>
          <p:cNvPr id="15" name="Flecha: a la derecha 14">
            <a:extLst>
              <a:ext uri="{FF2B5EF4-FFF2-40B4-BE49-F238E27FC236}">
                <a16:creationId xmlns:a16="http://schemas.microsoft.com/office/drawing/2014/main" id="{48F59E39-E89A-46FA-2203-475124A8141D}"/>
              </a:ext>
            </a:extLst>
          </p:cNvPr>
          <p:cNvSpPr/>
          <p:nvPr/>
        </p:nvSpPr>
        <p:spPr>
          <a:xfrm>
            <a:off x="3232293" y="4228302"/>
            <a:ext cx="244549" cy="265901"/>
          </a:xfrm>
          <a:prstGeom prst="rightArrow">
            <a:avLst/>
          </a:prstGeom>
          <a:ln>
            <a:no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16264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A2DF46-2A74-6A37-9D2A-161D2F18E302}"/>
              </a:ext>
            </a:extLst>
          </p:cNvPr>
          <p:cNvSpPr>
            <a:spLocks noGrp="1"/>
          </p:cNvSpPr>
          <p:nvPr>
            <p:ph type="title"/>
          </p:nvPr>
        </p:nvSpPr>
        <p:spPr/>
        <p:txBody>
          <a:bodyPr/>
          <a:lstStyle/>
          <a:p>
            <a:r>
              <a:rPr lang="es-PE" dirty="0">
                <a:solidFill>
                  <a:schemeClr val="bg1"/>
                </a:solidFill>
                <a:latin typeface="Book Antiqua" panose="02040602050305030304" pitchFamily="18" charset="0"/>
              </a:rPr>
              <a:t>TEXTO</a:t>
            </a:r>
            <a:r>
              <a:rPr lang="es-PE" dirty="0"/>
              <a:t> </a:t>
            </a:r>
          </a:p>
        </p:txBody>
      </p:sp>
      <p:sp>
        <p:nvSpPr>
          <p:cNvPr id="3" name="Subtítulo 2">
            <a:extLst>
              <a:ext uri="{FF2B5EF4-FFF2-40B4-BE49-F238E27FC236}">
                <a16:creationId xmlns:a16="http://schemas.microsoft.com/office/drawing/2014/main" id="{7B8C8F3F-FB66-0825-A7D1-9F58F89F3C54}"/>
              </a:ext>
            </a:extLst>
          </p:cNvPr>
          <p:cNvSpPr>
            <a:spLocks noGrp="1"/>
          </p:cNvSpPr>
          <p:nvPr>
            <p:ph type="subTitle"/>
          </p:nvPr>
        </p:nvSpPr>
        <p:spPr>
          <a:xfrm>
            <a:off x="360000" y="1350000"/>
            <a:ext cx="9486364" cy="3510000"/>
          </a:xfrm>
        </p:spPr>
        <p:txBody>
          <a:bodyPr/>
          <a:lstStyle/>
          <a:p>
            <a:pPr marL="0" indent="0">
              <a:buNone/>
            </a:pPr>
            <a:r>
              <a:rPr lang="es-PE" sz="2000" dirty="0">
                <a:latin typeface="Book Antiqua" panose="02040602050305030304" pitchFamily="18" charset="0"/>
              </a:rPr>
              <a:t>El trabajo es la actividad humana por excelencia, base de la sociedad y elemento humanizador. Es mediante el trabajo que el hombre construye su ser individual y social, fortalece la solidaridad y la identidad, así como establece una ética real, no abstracta ni ficticia.</a:t>
            </a:r>
          </a:p>
          <a:p>
            <a:pPr marL="0" indent="0">
              <a:buNone/>
            </a:pPr>
            <a:r>
              <a:rPr lang="es-PE" sz="2000" dirty="0">
                <a:latin typeface="Book Antiqua" panose="02040602050305030304" pitchFamily="18" charset="0"/>
              </a:rPr>
              <a:t>Es el trabajo, en primera instancia, la actividad transformadora del hombre sobre el medio. A partir de este </a:t>
            </a:r>
            <a:r>
              <a:rPr lang="es-PE" sz="2000" b="1" dirty="0">
                <a:latin typeface="Book Antiqua" panose="02040602050305030304" pitchFamily="18" charset="0"/>
              </a:rPr>
              <a:t>principio</a:t>
            </a:r>
            <a:r>
              <a:rPr lang="es-PE" sz="2000" dirty="0">
                <a:latin typeface="Book Antiqua" panose="02040602050305030304" pitchFamily="18" charset="0"/>
              </a:rPr>
              <a:t>, el resto de actividades, que comprende los distintos grados de división y especialización del trabajo, está también incluido. Cada actividad humana que esté relacionada con el proceso productivo, directa o indirectamente, desde la más elevada abstracción teórica hasta el más rudimentario ejercicio manual, estará definido como trabajo y, por ende, como actividad valiosa del ser humano.</a:t>
            </a:r>
          </a:p>
          <a:p>
            <a:endParaRPr lang="es-PE" dirty="0"/>
          </a:p>
        </p:txBody>
      </p:sp>
    </p:spTree>
    <p:extLst>
      <p:ext uri="{BB962C8B-B14F-4D97-AF65-F5344CB8AC3E}">
        <p14:creationId xmlns:p14="http://schemas.microsoft.com/office/powerpoint/2010/main" val="40938378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A19F0D-EC23-BA1D-6035-FADCAE2EB270}"/>
              </a:ext>
            </a:extLst>
          </p:cNvPr>
          <p:cNvSpPr>
            <a:spLocks noGrp="1"/>
          </p:cNvSpPr>
          <p:nvPr>
            <p:ph type="title"/>
          </p:nvPr>
        </p:nvSpPr>
        <p:spPr/>
        <p:txBody>
          <a:bodyPr/>
          <a:lstStyle/>
          <a:p>
            <a:r>
              <a:rPr lang="es-MX" dirty="0">
                <a:solidFill>
                  <a:schemeClr val="bg1"/>
                </a:solidFill>
                <a:latin typeface="Book Antiqua" panose="02040602050305030304" pitchFamily="18" charset="0"/>
              </a:rPr>
              <a:t>Pregunta por tema o  idea principal</a:t>
            </a:r>
            <a:endParaRPr lang="es-PE" dirty="0">
              <a:solidFill>
                <a:schemeClr val="bg1"/>
              </a:solidFill>
              <a:latin typeface="Book Antiqua" panose="02040602050305030304" pitchFamily="18" charset="0"/>
            </a:endParaRPr>
          </a:p>
        </p:txBody>
      </p:sp>
      <p:sp>
        <p:nvSpPr>
          <p:cNvPr id="3" name="Subtítulo 2">
            <a:extLst>
              <a:ext uri="{FF2B5EF4-FFF2-40B4-BE49-F238E27FC236}">
                <a16:creationId xmlns:a16="http://schemas.microsoft.com/office/drawing/2014/main" id="{C1CB60C6-8986-C1F0-D98C-7FE2B21C0C16}"/>
              </a:ext>
            </a:extLst>
          </p:cNvPr>
          <p:cNvSpPr>
            <a:spLocks noGrp="1"/>
          </p:cNvSpPr>
          <p:nvPr>
            <p:ph type="subTitle"/>
          </p:nvPr>
        </p:nvSpPr>
        <p:spPr/>
        <p:txBody>
          <a:bodyPr/>
          <a:lstStyle/>
          <a:p>
            <a:pPr marL="0" lvl="0" indent="0">
              <a:buNone/>
            </a:pPr>
            <a:r>
              <a:rPr lang="es-PE" sz="2400" dirty="0">
                <a:latin typeface="Book Antiqua" panose="02040602050305030304" pitchFamily="18" charset="0"/>
              </a:rPr>
              <a:t>¿Cuál es la idea principal del texto?</a:t>
            </a:r>
          </a:p>
          <a:p>
            <a:pPr marL="0" indent="0">
              <a:buNone/>
            </a:pPr>
            <a:r>
              <a:rPr lang="es-PE" sz="2400" dirty="0">
                <a:latin typeface="Book Antiqua" panose="02040602050305030304" pitchFamily="18" charset="0"/>
              </a:rPr>
              <a:t> </a:t>
            </a:r>
          </a:p>
          <a:p>
            <a:pPr marL="514350" lvl="0" indent="-514350">
              <a:buFont typeface="+mj-lt"/>
              <a:buAutoNum type="alphaUcPeriod"/>
            </a:pPr>
            <a:r>
              <a:rPr lang="es-PE" sz="2400" dirty="0">
                <a:latin typeface="Book Antiqua" panose="02040602050305030304" pitchFamily="18" charset="0"/>
              </a:rPr>
              <a:t>A través del trabajo, el hombre se humaniza. *</a:t>
            </a:r>
          </a:p>
          <a:p>
            <a:pPr marL="514350" lvl="0" indent="-514350">
              <a:buFont typeface="+mj-lt"/>
              <a:buAutoNum type="alphaUcPeriod"/>
            </a:pPr>
            <a:r>
              <a:rPr lang="es-PE" sz="2400" dirty="0">
                <a:latin typeface="Book Antiqua" panose="02040602050305030304" pitchFamily="18" charset="0"/>
              </a:rPr>
              <a:t>La distinción social del trabajo suele ser sesgada.</a:t>
            </a:r>
          </a:p>
          <a:p>
            <a:pPr marL="514350" lvl="0" indent="-514350">
              <a:buFont typeface="+mj-lt"/>
              <a:buAutoNum type="alphaUcPeriod"/>
            </a:pPr>
            <a:r>
              <a:rPr lang="es-PE" sz="2400" dirty="0">
                <a:latin typeface="Book Antiqua" panose="02040602050305030304" pitchFamily="18" charset="0"/>
              </a:rPr>
              <a:t>El trabajo garantiza, sobre todo, la productividad.</a:t>
            </a:r>
          </a:p>
          <a:p>
            <a:pPr marL="514350" lvl="0" indent="-514350">
              <a:buFont typeface="+mj-lt"/>
              <a:buAutoNum type="alphaUcPeriod"/>
            </a:pPr>
            <a:r>
              <a:rPr lang="es-PE" sz="2400" dirty="0">
                <a:latin typeface="Book Antiqua" panose="02040602050305030304" pitchFamily="18" charset="0"/>
              </a:rPr>
              <a:t>Los bienes materiales se logran con el trabajo.</a:t>
            </a:r>
          </a:p>
          <a:p>
            <a:pPr marL="514350" lvl="0" indent="-514350">
              <a:buFont typeface="+mj-lt"/>
              <a:buAutoNum type="alphaUcPeriod"/>
            </a:pPr>
            <a:r>
              <a:rPr lang="es-PE" sz="2400" dirty="0">
                <a:latin typeface="Book Antiqua" panose="02040602050305030304" pitchFamily="18" charset="0"/>
              </a:rPr>
              <a:t>El trabajo exige dedicación del ser humano.</a:t>
            </a:r>
            <a:endParaRPr lang="es-PE" dirty="0"/>
          </a:p>
        </p:txBody>
      </p:sp>
    </p:spTree>
    <p:extLst>
      <p:ext uri="{BB962C8B-B14F-4D97-AF65-F5344CB8AC3E}">
        <p14:creationId xmlns:p14="http://schemas.microsoft.com/office/powerpoint/2010/main" val="39181947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486154-6CA7-ECCD-AB19-3785422B82FD}"/>
              </a:ext>
            </a:extLst>
          </p:cNvPr>
          <p:cNvSpPr>
            <a:spLocks noGrp="1"/>
          </p:cNvSpPr>
          <p:nvPr>
            <p:ph type="title"/>
          </p:nvPr>
        </p:nvSpPr>
        <p:spPr/>
        <p:txBody>
          <a:bodyPr/>
          <a:lstStyle/>
          <a:p>
            <a:r>
              <a:rPr lang="es-MX" dirty="0">
                <a:solidFill>
                  <a:schemeClr val="bg1"/>
                </a:solidFill>
                <a:latin typeface="Book Antiqua" panose="02040602050305030304" pitchFamily="18" charset="0"/>
              </a:rPr>
              <a:t>Sentido contextual</a:t>
            </a:r>
            <a:endParaRPr lang="es-PE" dirty="0">
              <a:solidFill>
                <a:schemeClr val="bg1"/>
              </a:solidFill>
              <a:latin typeface="Book Antiqua" panose="02040602050305030304" pitchFamily="18" charset="0"/>
            </a:endParaRPr>
          </a:p>
        </p:txBody>
      </p:sp>
      <p:sp>
        <p:nvSpPr>
          <p:cNvPr id="3" name="Subtítulo 2">
            <a:extLst>
              <a:ext uri="{FF2B5EF4-FFF2-40B4-BE49-F238E27FC236}">
                <a16:creationId xmlns:a16="http://schemas.microsoft.com/office/drawing/2014/main" id="{68CD166D-9BAE-3EE3-DD2D-68AC60B05C28}"/>
              </a:ext>
            </a:extLst>
          </p:cNvPr>
          <p:cNvSpPr>
            <a:spLocks noGrp="1"/>
          </p:cNvSpPr>
          <p:nvPr>
            <p:ph type="subTitle"/>
          </p:nvPr>
        </p:nvSpPr>
        <p:spPr/>
        <p:txBody>
          <a:bodyPr/>
          <a:lstStyle/>
          <a:p>
            <a:pPr marL="0" lvl="0" indent="0">
              <a:buNone/>
            </a:pPr>
            <a:r>
              <a:rPr lang="es-PE" sz="2400" dirty="0">
                <a:latin typeface="Book Antiqua" panose="02040602050305030304" pitchFamily="18" charset="0"/>
              </a:rPr>
              <a:t>En el texto, el término PRINCIPIO puede ser entendido como</a:t>
            </a:r>
          </a:p>
          <a:p>
            <a:pPr marL="0" indent="0">
              <a:buNone/>
            </a:pPr>
            <a:endParaRPr lang="es-PE" sz="2400" dirty="0">
              <a:latin typeface="Book Antiqua" panose="02040602050305030304" pitchFamily="18" charset="0"/>
            </a:endParaRPr>
          </a:p>
          <a:p>
            <a:pPr marL="457200" indent="-457200">
              <a:buFont typeface="+mj-lt"/>
              <a:buAutoNum type="alphaUcPeriod"/>
            </a:pPr>
            <a:r>
              <a:rPr lang="es-PE" sz="2400" dirty="0">
                <a:latin typeface="Book Antiqua" panose="02040602050305030304" pitchFamily="18" charset="0"/>
              </a:rPr>
              <a:t>base. *	</a:t>
            </a:r>
          </a:p>
          <a:p>
            <a:pPr marL="457200" indent="-457200">
              <a:buFont typeface="+mj-lt"/>
              <a:buAutoNum type="alphaUcPeriod"/>
            </a:pPr>
            <a:r>
              <a:rPr lang="es-PE" sz="2400" dirty="0">
                <a:latin typeface="Book Antiqua" panose="02040602050305030304" pitchFamily="18" charset="0"/>
              </a:rPr>
              <a:t>columna.	</a:t>
            </a:r>
          </a:p>
          <a:p>
            <a:pPr marL="457200" indent="-457200">
              <a:buFont typeface="+mj-lt"/>
              <a:buAutoNum type="alphaUcPeriod"/>
            </a:pPr>
            <a:r>
              <a:rPr lang="es-PE" sz="2400" dirty="0">
                <a:latin typeface="Book Antiqua" panose="02040602050305030304" pitchFamily="18" charset="0"/>
              </a:rPr>
              <a:t>estructura.	</a:t>
            </a:r>
          </a:p>
          <a:p>
            <a:pPr marL="457200" indent="-457200">
              <a:buFont typeface="+mj-lt"/>
              <a:buAutoNum type="alphaUcPeriod"/>
            </a:pPr>
            <a:r>
              <a:rPr lang="es-PE" sz="2400" dirty="0">
                <a:latin typeface="Book Antiqua" panose="02040602050305030304" pitchFamily="18" charset="0"/>
              </a:rPr>
              <a:t>fundación.	</a:t>
            </a:r>
          </a:p>
          <a:p>
            <a:pPr marL="457200" indent="-457200">
              <a:buFont typeface="+mj-lt"/>
              <a:buAutoNum type="alphaUcPeriod"/>
            </a:pPr>
            <a:r>
              <a:rPr lang="es-PE" sz="2400" dirty="0">
                <a:latin typeface="Book Antiqua" panose="02040602050305030304" pitchFamily="18" charset="0"/>
              </a:rPr>
              <a:t>introducción.</a:t>
            </a:r>
          </a:p>
        </p:txBody>
      </p:sp>
      <p:sp>
        <p:nvSpPr>
          <p:cNvPr id="5" name="CuadroTexto 4">
            <a:extLst>
              <a:ext uri="{FF2B5EF4-FFF2-40B4-BE49-F238E27FC236}">
                <a16:creationId xmlns:a16="http://schemas.microsoft.com/office/drawing/2014/main" id="{B08ECF3E-FC6B-DC3E-8B10-268A1D49E80D}"/>
              </a:ext>
            </a:extLst>
          </p:cNvPr>
          <p:cNvSpPr txBox="1"/>
          <p:nvPr/>
        </p:nvSpPr>
        <p:spPr>
          <a:xfrm>
            <a:off x="4840356" y="3105000"/>
            <a:ext cx="5042452" cy="1323439"/>
          </a:xfrm>
          <a:prstGeom prst="rect">
            <a:avLst/>
          </a:prstGeom>
          <a:noFill/>
          <a:ln>
            <a:solidFill>
              <a:srgbClr val="FF0000"/>
            </a:solidFill>
          </a:ln>
        </p:spPr>
        <p:txBody>
          <a:bodyPr wrap="square">
            <a:spAutoFit/>
          </a:bodyPr>
          <a:lstStyle/>
          <a:p>
            <a:pPr marL="0" indent="0" algn="just" eaLnBrk="1" hangingPunct="1">
              <a:buFont typeface="Wingdings" panose="05000000000000000000" pitchFamily="2" charset="2"/>
              <a:buNone/>
            </a:pPr>
            <a:r>
              <a:rPr lang="es-ES" altLang="es-PE" sz="1600" dirty="0">
                <a:latin typeface="Book Antiqua" panose="02040602050305030304" pitchFamily="18" charset="0"/>
              </a:rPr>
              <a:t>Se recomienda elegir una palabra que tenga varias acepciones con algún grado de afinidad. </a:t>
            </a:r>
          </a:p>
          <a:p>
            <a:pPr marL="0" indent="0" algn="just" eaLnBrk="1" hangingPunct="1">
              <a:buFont typeface="Wingdings" panose="05000000000000000000" pitchFamily="2" charset="2"/>
              <a:buNone/>
            </a:pPr>
            <a:r>
              <a:rPr lang="es-ES" altLang="es-PE" sz="1600" dirty="0">
                <a:latin typeface="Book Antiqua" panose="02040602050305030304" pitchFamily="18" charset="0"/>
              </a:rPr>
              <a:t>Entre los distractores, no debe figurar un significado muy alejado porque sería descartado muy fácilmente y no se cumpliría con el objetivo del ítem.</a:t>
            </a:r>
          </a:p>
        </p:txBody>
      </p:sp>
    </p:spTree>
    <p:extLst>
      <p:ext uri="{BB962C8B-B14F-4D97-AF65-F5344CB8AC3E}">
        <p14:creationId xmlns:p14="http://schemas.microsoft.com/office/powerpoint/2010/main" val="35816836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A2F8C1-C2C1-2F18-0D78-CC8160A5DAB6}"/>
              </a:ext>
            </a:extLst>
          </p:cNvPr>
          <p:cNvSpPr>
            <a:spLocks noGrp="1"/>
          </p:cNvSpPr>
          <p:nvPr>
            <p:ph type="title"/>
          </p:nvPr>
        </p:nvSpPr>
        <p:spPr/>
        <p:txBody>
          <a:bodyPr/>
          <a:lstStyle/>
          <a:p>
            <a:r>
              <a:rPr lang="es-MX" dirty="0">
                <a:solidFill>
                  <a:schemeClr val="bg1"/>
                </a:solidFill>
                <a:latin typeface="Book Antiqua" panose="02040602050305030304" pitchFamily="18" charset="0"/>
              </a:rPr>
              <a:t>Inferencia</a:t>
            </a:r>
            <a:endParaRPr lang="es-PE" dirty="0">
              <a:solidFill>
                <a:schemeClr val="bg1"/>
              </a:solidFill>
              <a:latin typeface="Book Antiqua" panose="02040602050305030304" pitchFamily="18" charset="0"/>
            </a:endParaRPr>
          </a:p>
        </p:txBody>
      </p:sp>
      <p:sp>
        <p:nvSpPr>
          <p:cNvPr id="3" name="Subtítulo 2">
            <a:extLst>
              <a:ext uri="{FF2B5EF4-FFF2-40B4-BE49-F238E27FC236}">
                <a16:creationId xmlns:a16="http://schemas.microsoft.com/office/drawing/2014/main" id="{DB1CC601-C0E3-87EC-2141-58D5FCA1CCB7}"/>
              </a:ext>
            </a:extLst>
          </p:cNvPr>
          <p:cNvSpPr>
            <a:spLocks noGrp="1"/>
          </p:cNvSpPr>
          <p:nvPr>
            <p:ph type="subTitle"/>
          </p:nvPr>
        </p:nvSpPr>
        <p:spPr>
          <a:xfrm>
            <a:off x="360000" y="1350000"/>
            <a:ext cx="6881309" cy="3510000"/>
          </a:xfrm>
        </p:spPr>
        <p:txBody>
          <a:bodyPr/>
          <a:lstStyle/>
          <a:p>
            <a:pPr marL="0" lvl="0" indent="0">
              <a:buNone/>
            </a:pPr>
            <a:r>
              <a:rPr lang="es-PE" sz="2400" dirty="0">
                <a:latin typeface="Book Antiqua" panose="02040602050305030304" pitchFamily="18" charset="0"/>
              </a:rPr>
              <a:t>Se infiere que, para el autor del texto, una de las siguientes actividades no podría considerarse trabajo.</a:t>
            </a:r>
          </a:p>
          <a:p>
            <a:pPr marL="0" indent="0">
              <a:buNone/>
            </a:pPr>
            <a:endParaRPr lang="es-PE" sz="2400" dirty="0">
              <a:latin typeface="Book Antiqua" panose="02040602050305030304" pitchFamily="18" charset="0"/>
            </a:endParaRPr>
          </a:p>
          <a:p>
            <a:pPr marL="457200" indent="-457200">
              <a:buFont typeface="+mj-lt"/>
              <a:buAutoNum type="alphaUcPeriod"/>
            </a:pPr>
            <a:r>
              <a:rPr lang="es-PE" sz="2400" dirty="0">
                <a:latin typeface="Book Antiqua" panose="02040602050305030304" pitchFamily="18" charset="0"/>
              </a:rPr>
              <a:t>Lustrar su calzado. *	</a:t>
            </a:r>
          </a:p>
          <a:p>
            <a:pPr marL="457200" indent="-457200">
              <a:buFont typeface="+mj-lt"/>
              <a:buAutoNum type="alphaUcPeriod"/>
            </a:pPr>
            <a:r>
              <a:rPr lang="es-PE" sz="2400" dirty="0">
                <a:latin typeface="Book Antiqua" panose="02040602050305030304" pitchFamily="18" charset="0"/>
              </a:rPr>
              <a:t>Presentar un proyecto.</a:t>
            </a:r>
          </a:p>
          <a:p>
            <a:pPr marL="457200" indent="-457200">
              <a:buFont typeface="+mj-lt"/>
              <a:buAutoNum type="alphaUcPeriod"/>
            </a:pPr>
            <a:r>
              <a:rPr lang="es-PE" sz="2400" dirty="0">
                <a:latin typeface="Book Antiqua" panose="02040602050305030304" pitchFamily="18" charset="0"/>
              </a:rPr>
              <a:t>Sustentar su tesis.	</a:t>
            </a:r>
          </a:p>
          <a:p>
            <a:pPr marL="457200" indent="-457200">
              <a:buFont typeface="+mj-lt"/>
              <a:buAutoNum type="alphaUcPeriod"/>
            </a:pPr>
            <a:r>
              <a:rPr lang="es-PE" sz="2400" dirty="0">
                <a:latin typeface="Book Antiqua" panose="02040602050305030304" pitchFamily="18" charset="0"/>
              </a:rPr>
              <a:t>Editar una revista.</a:t>
            </a:r>
          </a:p>
          <a:p>
            <a:pPr marL="457200" indent="-457200">
              <a:buFont typeface="+mj-lt"/>
              <a:buAutoNum type="alphaUcPeriod"/>
            </a:pPr>
            <a:r>
              <a:rPr lang="es-PE" sz="2400" dirty="0">
                <a:latin typeface="Book Antiqua" panose="02040602050305030304" pitchFamily="18" charset="0"/>
              </a:rPr>
              <a:t>Vender baratijas.</a:t>
            </a:r>
          </a:p>
          <a:p>
            <a:endParaRPr lang="es-PE" dirty="0"/>
          </a:p>
        </p:txBody>
      </p:sp>
      <p:sp>
        <p:nvSpPr>
          <p:cNvPr id="5" name="CuadroTexto 4">
            <a:extLst>
              <a:ext uri="{FF2B5EF4-FFF2-40B4-BE49-F238E27FC236}">
                <a16:creationId xmlns:a16="http://schemas.microsoft.com/office/drawing/2014/main" id="{166C653C-B0D6-195D-8B93-84F689CB4B97}"/>
              </a:ext>
            </a:extLst>
          </p:cNvPr>
          <p:cNvSpPr txBox="1"/>
          <p:nvPr/>
        </p:nvSpPr>
        <p:spPr>
          <a:xfrm>
            <a:off x="4791363" y="3628052"/>
            <a:ext cx="5038436" cy="1384995"/>
          </a:xfrm>
          <a:prstGeom prst="rect">
            <a:avLst/>
          </a:prstGeom>
          <a:noFill/>
          <a:ln>
            <a:solidFill>
              <a:srgbClr val="FF0000"/>
            </a:solidFill>
          </a:ln>
        </p:spPr>
        <p:txBody>
          <a:bodyPr wrap="square">
            <a:spAutoFit/>
          </a:bodyPr>
          <a:lstStyle/>
          <a:p>
            <a:pPr algn="just" eaLnBrk="1" hangingPunct="1">
              <a:buFont typeface="Wingdings" panose="05000000000000000000" pitchFamily="2" charset="2"/>
              <a:buNone/>
            </a:pPr>
            <a:r>
              <a:rPr lang="es-ES" altLang="es-PE" sz="1400" dirty="0">
                <a:latin typeface="Book Antiqua" panose="02040602050305030304" pitchFamily="18" charset="0"/>
              </a:rPr>
              <a:t>Dado que la inferencia se inserta en la compresión intratextual, </a:t>
            </a:r>
            <a:r>
              <a:rPr lang="es-ES" altLang="es-PE" sz="1400" dirty="0">
                <a:solidFill>
                  <a:srgbClr val="C00000"/>
                </a:solidFill>
                <a:latin typeface="Book Antiqua" panose="02040602050305030304" pitchFamily="18" charset="0"/>
              </a:rPr>
              <a:t>la clave debe ser un enunciado implícito del texto</a:t>
            </a:r>
            <a:r>
              <a:rPr lang="es-ES" altLang="es-PE" sz="1400" dirty="0">
                <a:latin typeface="Book Antiqua" panose="02040602050305030304" pitchFamily="18" charset="0"/>
              </a:rPr>
              <a:t> que se obtenga en virtud de un razonamiento plausible. </a:t>
            </a:r>
          </a:p>
          <a:p>
            <a:pPr algn="just" eaLnBrk="1" hangingPunct="1">
              <a:buFont typeface="Wingdings" panose="05000000000000000000" pitchFamily="2" charset="2"/>
              <a:buNone/>
            </a:pPr>
            <a:endParaRPr lang="es-ES" altLang="es-PE" sz="1400" dirty="0">
              <a:latin typeface="Book Antiqua" panose="02040602050305030304" pitchFamily="18" charset="0"/>
            </a:endParaRPr>
          </a:p>
          <a:p>
            <a:pPr algn="just" eaLnBrk="1" hangingPunct="1">
              <a:buFont typeface="Wingdings" panose="05000000000000000000" pitchFamily="2" charset="2"/>
              <a:buNone/>
            </a:pPr>
            <a:r>
              <a:rPr lang="es-ES" altLang="es-PE" sz="1400" dirty="0">
                <a:solidFill>
                  <a:srgbClr val="C00000"/>
                </a:solidFill>
                <a:latin typeface="Book Antiqua" panose="02040602050305030304" pitchFamily="18" charset="0"/>
              </a:rPr>
              <a:t>El enunciado del ítem no debe ser abierto</a:t>
            </a:r>
            <a:r>
              <a:rPr lang="es-ES" altLang="es-PE" sz="1400" dirty="0">
                <a:latin typeface="Book Antiqua" panose="02040602050305030304" pitchFamily="18" charset="0"/>
              </a:rPr>
              <a:t>: «Se infiere del texto que…», «Se colige que…» son enunciados defectuosos.</a:t>
            </a:r>
          </a:p>
        </p:txBody>
      </p:sp>
    </p:spTree>
    <p:extLst>
      <p:ext uri="{BB962C8B-B14F-4D97-AF65-F5344CB8AC3E}">
        <p14:creationId xmlns:p14="http://schemas.microsoft.com/office/powerpoint/2010/main" val="24066892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4E2DBB-C42E-F4FA-58D7-004C43ACFC34}"/>
              </a:ext>
            </a:extLst>
          </p:cNvPr>
          <p:cNvSpPr>
            <a:spLocks noGrp="1"/>
          </p:cNvSpPr>
          <p:nvPr>
            <p:ph type="title"/>
          </p:nvPr>
        </p:nvSpPr>
        <p:spPr/>
        <p:txBody>
          <a:bodyPr/>
          <a:lstStyle/>
          <a:p>
            <a:r>
              <a:rPr lang="es-MX" dirty="0">
                <a:solidFill>
                  <a:schemeClr val="bg1"/>
                </a:solidFill>
                <a:latin typeface="Book Antiqua" panose="02040602050305030304" pitchFamily="18" charset="0"/>
              </a:rPr>
              <a:t>Incompatibilidad</a:t>
            </a:r>
            <a:endParaRPr lang="es-PE" dirty="0">
              <a:solidFill>
                <a:schemeClr val="bg1"/>
              </a:solidFill>
              <a:latin typeface="Book Antiqua" panose="02040602050305030304" pitchFamily="18" charset="0"/>
            </a:endParaRPr>
          </a:p>
        </p:txBody>
      </p:sp>
      <p:sp>
        <p:nvSpPr>
          <p:cNvPr id="3" name="Subtítulo 2">
            <a:extLst>
              <a:ext uri="{FF2B5EF4-FFF2-40B4-BE49-F238E27FC236}">
                <a16:creationId xmlns:a16="http://schemas.microsoft.com/office/drawing/2014/main" id="{D6CE69C4-BAF5-6A6C-30E1-98C38B12615B}"/>
              </a:ext>
            </a:extLst>
          </p:cNvPr>
          <p:cNvSpPr>
            <a:spLocks noGrp="1"/>
          </p:cNvSpPr>
          <p:nvPr>
            <p:ph type="subTitle"/>
          </p:nvPr>
        </p:nvSpPr>
        <p:spPr>
          <a:xfrm>
            <a:off x="360000" y="1350000"/>
            <a:ext cx="8146691" cy="3510000"/>
          </a:xfrm>
        </p:spPr>
        <p:txBody>
          <a:bodyPr/>
          <a:lstStyle/>
          <a:p>
            <a:pPr marL="0" lvl="0" indent="0">
              <a:buNone/>
            </a:pPr>
            <a:r>
              <a:rPr lang="es-PE" sz="2000" dirty="0">
                <a:latin typeface="Book Antiqua" panose="02040602050305030304" pitchFamily="18" charset="0"/>
              </a:rPr>
              <a:t>¿Cuál de las siguientes expresiones es incompatible con el texto?</a:t>
            </a:r>
          </a:p>
          <a:p>
            <a:pPr marL="0" indent="0">
              <a:buNone/>
            </a:pPr>
            <a:endParaRPr lang="es-PE" sz="2000" dirty="0">
              <a:latin typeface="Book Antiqua" panose="02040602050305030304" pitchFamily="18" charset="0"/>
            </a:endParaRPr>
          </a:p>
          <a:p>
            <a:pPr marL="457200" lvl="0" indent="-457200">
              <a:buFont typeface="+mj-lt"/>
              <a:buAutoNum type="alphaUcPeriod"/>
            </a:pPr>
            <a:r>
              <a:rPr lang="es-PE" sz="2000" dirty="0">
                <a:latin typeface="Book Antiqua" panose="02040602050305030304" pitchFamily="18" charset="0"/>
              </a:rPr>
              <a:t>Las abstracciones teóricas no se consideran trabajo. *</a:t>
            </a:r>
          </a:p>
          <a:p>
            <a:pPr marL="457200" lvl="0" indent="-457200">
              <a:buFont typeface="+mj-lt"/>
              <a:buAutoNum type="alphaUcPeriod"/>
            </a:pPr>
            <a:r>
              <a:rPr lang="es-PE" sz="2000" dirty="0">
                <a:latin typeface="Book Antiqua" panose="02040602050305030304" pitchFamily="18" charset="0"/>
              </a:rPr>
              <a:t>El trabajo favorece la identidad personal y social.</a:t>
            </a:r>
          </a:p>
          <a:p>
            <a:pPr marL="457200" lvl="0" indent="-457200">
              <a:buFont typeface="+mj-lt"/>
              <a:buAutoNum type="alphaUcPeriod"/>
            </a:pPr>
            <a:r>
              <a:rPr lang="es-PE" sz="2000" dirty="0">
                <a:latin typeface="Book Antiqua" panose="02040602050305030304" pitchFamily="18" charset="0"/>
              </a:rPr>
              <a:t>La ética social real está ligada al trabajo del hombre.</a:t>
            </a:r>
          </a:p>
          <a:p>
            <a:pPr marL="457200" lvl="0" indent="-457200">
              <a:buFont typeface="+mj-lt"/>
              <a:buAutoNum type="alphaUcPeriod"/>
            </a:pPr>
            <a:r>
              <a:rPr lang="es-PE" sz="2000" dirty="0">
                <a:latin typeface="Book Antiqua" panose="02040602050305030304" pitchFamily="18" charset="0"/>
              </a:rPr>
              <a:t>La actividad rudimentaria puede tener sentido social.</a:t>
            </a:r>
          </a:p>
          <a:p>
            <a:pPr marL="457200" lvl="0" indent="-457200">
              <a:buFont typeface="+mj-lt"/>
              <a:buAutoNum type="alphaUcPeriod"/>
            </a:pPr>
            <a:r>
              <a:rPr lang="es-PE" sz="2000" dirty="0">
                <a:latin typeface="Book Antiqua" panose="02040602050305030304" pitchFamily="18" charset="0"/>
              </a:rPr>
              <a:t>El trabajo es la actividad humana por excelencia.</a:t>
            </a:r>
          </a:p>
          <a:p>
            <a:endParaRPr lang="es-PE" dirty="0"/>
          </a:p>
        </p:txBody>
      </p:sp>
      <p:sp>
        <p:nvSpPr>
          <p:cNvPr id="5" name="CuadroTexto 4">
            <a:extLst>
              <a:ext uri="{FF2B5EF4-FFF2-40B4-BE49-F238E27FC236}">
                <a16:creationId xmlns:a16="http://schemas.microsoft.com/office/drawing/2014/main" id="{936DECF9-8E2B-E588-A8C0-F2174E9E2903}"/>
              </a:ext>
            </a:extLst>
          </p:cNvPr>
          <p:cNvSpPr txBox="1"/>
          <p:nvPr/>
        </p:nvSpPr>
        <p:spPr>
          <a:xfrm>
            <a:off x="7138037" y="3536561"/>
            <a:ext cx="2737308" cy="1323439"/>
          </a:xfrm>
          <a:prstGeom prst="rect">
            <a:avLst/>
          </a:prstGeom>
          <a:noFill/>
          <a:ln>
            <a:solidFill>
              <a:srgbClr val="FF0000"/>
            </a:solidFill>
          </a:ln>
        </p:spPr>
        <p:txBody>
          <a:bodyPr wrap="square">
            <a:spAutoFit/>
          </a:bodyPr>
          <a:lstStyle/>
          <a:p>
            <a:pPr eaLnBrk="1" hangingPunct="1"/>
            <a:r>
              <a:rPr lang="es-ES" altLang="es-PE" sz="1600" dirty="0"/>
              <a:t>El enunciado incompatible debe  constituir la </a:t>
            </a:r>
            <a:r>
              <a:rPr lang="es-ES" altLang="es-PE" sz="1600" dirty="0">
                <a:solidFill>
                  <a:srgbClr val="C00000"/>
                </a:solidFill>
              </a:rPr>
              <a:t>negación de una idea explícita del texto o de una idea que se infiera</a:t>
            </a:r>
            <a:r>
              <a:rPr lang="es-ES" altLang="es-PE" sz="1600" dirty="0"/>
              <a:t>. </a:t>
            </a:r>
          </a:p>
        </p:txBody>
      </p:sp>
    </p:spTree>
    <p:extLst>
      <p:ext uri="{BB962C8B-B14F-4D97-AF65-F5344CB8AC3E}">
        <p14:creationId xmlns:p14="http://schemas.microsoft.com/office/powerpoint/2010/main" val="8422875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9CDE41-640E-5ABE-2695-E3FDE05C4B07}"/>
              </a:ext>
            </a:extLst>
          </p:cNvPr>
          <p:cNvSpPr>
            <a:spLocks noGrp="1"/>
          </p:cNvSpPr>
          <p:nvPr>
            <p:ph type="title"/>
          </p:nvPr>
        </p:nvSpPr>
        <p:spPr/>
        <p:txBody>
          <a:bodyPr/>
          <a:lstStyle/>
          <a:p>
            <a:r>
              <a:rPr lang="es-MX" dirty="0">
                <a:solidFill>
                  <a:schemeClr val="bg1"/>
                </a:solidFill>
                <a:latin typeface="Book Antiqua" panose="02040602050305030304" pitchFamily="18" charset="0"/>
              </a:rPr>
              <a:t>Extrapolación</a:t>
            </a:r>
            <a:r>
              <a:rPr lang="es-MX" dirty="0"/>
              <a:t> </a:t>
            </a:r>
            <a:endParaRPr lang="es-PE" dirty="0"/>
          </a:p>
        </p:txBody>
      </p:sp>
      <p:sp>
        <p:nvSpPr>
          <p:cNvPr id="3" name="Subtítulo 2">
            <a:extLst>
              <a:ext uri="{FF2B5EF4-FFF2-40B4-BE49-F238E27FC236}">
                <a16:creationId xmlns:a16="http://schemas.microsoft.com/office/drawing/2014/main" id="{2EF7064C-34FD-A097-30F5-4F2B66C06F78}"/>
              </a:ext>
            </a:extLst>
          </p:cNvPr>
          <p:cNvSpPr>
            <a:spLocks noGrp="1"/>
          </p:cNvSpPr>
          <p:nvPr>
            <p:ph type="subTitle"/>
          </p:nvPr>
        </p:nvSpPr>
        <p:spPr>
          <a:xfrm>
            <a:off x="360000" y="1350000"/>
            <a:ext cx="7130691" cy="3510000"/>
          </a:xfrm>
        </p:spPr>
        <p:txBody>
          <a:bodyPr/>
          <a:lstStyle/>
          <a:p>
            <a:pPr marL="0" indent="0">
              <a:buNone/>
            </a:pPr>
            <a:r>
              <a:rPr lang="es-MX" sz="1800" dirty="0">
                <a:latin typeface="Book Antiqua" panose="02040602050305030304" pitchFamily="18" charset="0"/>
              </a:rPr>
              <a:t>Si el jefe de una oficina, en su trato diario, se muestra intolerante y poco cooperativo con sus subordinados puede entenderse que</a:t>
            </a:r>
          </a:p>
          <a:p>
            <a:pPr marL="0" indent="0">
              <a:buNone/>
            </a:pPr>
            <a:endParaRPr lang="es-MX" sz="1800" dirty="0">
              <a:latin typeface="Book Antiqua" panose="02040602050305030304" pitchFamily="18" charset="0"/>
            </a:endParaRPr>
          </a:p>
          <a:p>
            <a:pPr marL="457200" indent="-457200">
              <a:buAutoNum type="alphaUcPeriod"/>
            </a:pPr>
            <a:r>
              <a:rPr lang="es-MX" sz="1800" dirty="0">
                <a:latin typeface="Book Antiqua" panose="02040602050305030304" pitchFamily="18" charset="0"/>
              </a:rPr>
              <a:t>no ha comprendido a cabalidad el concepto de trabajo. *</a:t>
            </a:r>
          </a:p>
          <a:p>
            <a:pPr marL="457200" indent="-457200">
              <a:buAutoNum type="alphaUcPeriod"/>
            </a:pPr>
            <a:r>
              <a:rPr lang="es-MX" sz="1800" dirty="0">
                <a:latin typeface="Book Antiqua" panose="02040602050305030304" pitchFamily="18" charset="0"/>
              </a:rPr>
              <a:t> se siente agobiado porque tiene muchas tareas a su cargo.</a:t>
            </a:r>
          </a:p>
          <a:p>
            <a:pPr marL="457200" indent="-457200">
              <a:buAutoNum type="alphaUcPeriod"/>
            </a:pPr>
            <a:r>
              <a:rPr lang="es-MX" sz="1800" dirty="0">
                <a:latin typeface="Book Antiqua" panose="02040602050305030304" pitchFamily="18" charset="0"/>
              </a:rPr>
              <a:t>sus subordinados son personas ineficientes en su labor.</a:t>
            </a:r>
          </a:p>
          <a:p>
            <a:pPr marL="457200" indent="-457200">
              <a:buAutoNum type="alphaUcPeriod"/>
            </a:pPr>
            <a:r>
              <a:rPr lang="es-MX" sz="1800" dirty="0">
                <a:latin typeface="Book Antiqua" panose="02040602050305030304" pitchFamily="18" charset="0"/>
              </a:rPr>
              <a:t>su labor es especializada y requiere ser disciplinado y estricto. </a:t>
            </a:r>
          </a:p>
          <a:p>
            <a:pPr marL="457200" indent="-457200">
              <a:buAutoNum type="alphaUcPeriod"/>
            </a:pPr>
            <a:r>
              <a:rPr lang="es-MX" sz="1800" dirty="0">
                <a:latin typeface="Book Antiqua" panose="02040602050305030304" pitchFamily="18" charset="0"/>
              </a:rPr>
              <a:t>únicamente se ha dedicado a construir su ser individual.</a:t>
            </a:r>
            <a:endParaRPr lang="es-PE" sz="1800" dirty="0">
              <a:latin typeface="Book Antiqua" panose="02040602050305030304" pitchFamily="18" charset="0"/>
            </a:endParaRPr>
          </a:p>
        </p:txBody>
      </p:sp>
    </p:spTree>
    <p:extLst>
      <p:ext uri="{BB962C8B-B14F-4D97-AF65-F5344CB8AC3E}">
        <p14:creationId xmlns:p14="http://schemas.microsoft.com/office/powerpoint/2010/main" val="30085093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94334-BBB7-3DB7-06F1-AD60F88BE2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76D4F9A-17BB-C6B0-5E4C-1DBBC95E398B}"/>
              </a:ext>
            </a:extLst>
          </p:cNvPr>
          <p:cNvSpPr>
            <a:spLocks noGrp="1"/>
          </p:cNvSpPr>
          <p:nvPr>
            <p:ph type="title"/>
          </p:nvPr>
        </p:nvSpPr>
        <p:spPr/>
        <p:txBody>
          <a:bodyPr/>
          <a:lstStyle/>
          <a:p>
            <a:r>
              <a:rPr lang="es-MX" dirty="0">
                <a:solidFill>
                  <a:schemeClr val="bg1"/>
                </a:solidFill>
                <a:latin typeface="Book Antiqua" panose="02040602050305030304" pitchFamily="18" charset="0"/>
              </a:rPr>
              <a:t>Extrapolación</a:t>
            </a:r>
            <a:r>
              <a:rPr lang="es-MX" dirty="0"/>
              <a:t> </a:t>
            </a:r>
            <a:endParaRPr lang="es-PE" dirty="0"/>
          </a:p>
        </p:txBody>
      </p:sp>
      <p:sp>
        <p:nvSpPr>
          <p:cNvPr id="3" name="Subtítulo 2">
            <a:extLst>
              <a:ext uri="{FF2B5EF4-FFF2-40B4-BE49-F238E27FC236}">
                <a16:creationId xmlns:a16="http://schemas.microsoft.com/office/drawing/2014/main" id="{11888174-DD58-A91D-AC8D-D3976E4AA3C4}"/>
              </a:ext>
            </a:extLst>
          </p:cNvPr>
          <p:cNvSpPr>
            <a:spLocks noGrp="1"/>
          </p:cNvSpPr>
          <p:nvPr>
            <p:ph type="subTitle"/>
          </p:nvPr>
        </p:nvSpPr>
        <p:spPr>
          <a:xfrm>
            <a:off x="360000" y="1071418"/>
            <a:ext cx="9292000" cy="4074909"/>
          </a:xfrm>
        </p:spPr>
        <p:txBody>
          <a:bodyPr/>
          <a:lstStyle/>
          <a:p>
            <a:pPr algn="just"/>
            <a:r>
              <a:rPr lang="es-ES" altLang="es-PE" sz="1800" dirty="0"/>
              <a:t>Se puede realizar de dos maneras:</a:t>
            </a:r>
          </a:p>
          <a:p>
            <a:pPr algn="just"/>
            <a:endParaRPr lang="es-ES" altLang="es-PE" sz="1800" dirty="0"/>
          </a:p>
          <a:p>
            <a:pPr marL="342900" indent="-342900" algn="just">
              <a:buAutoNum type="arabicPeriod"/>
            </a:pPr>
            <a:r>
              <a:rPr lang="es-ES" altLang="es-PE" sz="1800" dirty="0"/>
              <a:t>Extrapolación cognitiva</a:t>
            </a:r>
          </a:p>
          <a:p>
            <a:pPr algn="just"/>
            <a:r>
              <a:rPr lang="es-ES" altLang="es-PE" sz="1800" dirty="0"/>
              <a:t>Haciendo un viraje en el pensamiento del autor para determinar la consecuencia de tal operación. </a:t>
            </a:r>
            <a:r>
              <a:rPr lang="es-ES" altLang="es-PE" sz="1800" dirty="0">
                <a:solidFill>
                  <a:srgbClr val="C00000"/>
                </a:solidFill>
              </a:rPr>
              <a:t>Por ejemplo: Un autor se adhiere al misticismo y es supersticioso. Se puede extrapolar qué ocurriría si el autor se adhiriese a un pensamiento científico riguroso (</a:t>
            </a:r>
            <a:r>
              <a:rPr lang="es-ES" altLang="es-PE" sz="1800" dirty="0">
                <a:solidFill>
                  <a:srgbClr val="C00000"/>
                </a:solidFill>
                <a:sym typeface="Wingdings" panose="05000000000000000000" pitchFamily="2" charset="2"/>
              </a:rPr>
              <a:t> abandonaría la superstición).</a:t>
            </a:r>
          </a:p>
          <a:p>
            <a:pPr algn="just"/>
            <a:endParaRPr lang="es-ES" altLang="es-PE" sz="1800" dirty="0">
              <a:solidFill>
                <a:srgbClr val="C00000"/>
              </a:solidFill>
              <a:sym typeface="Wingdings" panose="05000000000000000000" pitchFamily="2" charset="2"/>
            </a:endParaRPr>
          </a:p>
          <a:p>
            <a:r>
              <a:rPr lang="es-ES" altLang="es-PE" sz="1800" dirty="0">
                <a:sym typeface="Wingdings" panose="05000000000000000000" pitchFamily="2" charset="2"/>
              </a:rPr>
              <a:t>2. </a:t>
            </a:r>
            <a:r>
              <a:rPr lang="es-ES" altLang="es-PE" sz="1800" dirty="0"/>
              <a:t>Situar el texto en otro escenario (temporal, geográfico, social, disciplinario) para determinar la consecuencia de tal operación. </a:t>
            </a:r>
            <a:r>
              <a:rPr lang="es-ES" altLang="es-PE" sz="1800" dirty="0">
                <a:solidFill>
                  <a:srgbClr val="C00000"/>
                </a:solidFill>
              </a:rPr>
              <a:t>Por ejemplo, un texto que detalla las consecuencias de la pobreza en una región determinada, las mismas se pueden extrapolar a otra región que sea pobre.</a:t>
            </a:r>
          </a:p>
          <a:p>
            <a:endParaRPr lang="es-ES" altLang="es-PE" sz="1800" dirty="0">
              <a:solidFill>
                <a:srgbClr val="C00000"/>
              </a:solidFill>
            </a:endParaRPr>
          </a:p>
          <a:p>
            <a:endParaRPr lang="es-ES" altLang="es-PE" sz="1800" dirty="0">
              <a:solidFill>
                <a:srgbClr val="00B050"/>
              </a:solidFill>
            </a:endParaRPr>
          </a:p>
          <a:p>
            <a:r>
              <a:rPr lang="es-ES" altLang="es-PE" sz="1800" dirty="0">
                <a:solidFill>
                  <a:srgbClr val="00B050"/>
                </a:solidFill>
              </a:rPr>
              <a:t>No se recomienda que el traslado conceptual implique algo absurdo.</a:t>
            </a:r>
          </a:p>
          <a:p>
            <a:pPr algn="just"/>
            <a:endParaRPr lang="es-ES" altLang="es-PE" sz="1800" dirty="0"/>
          </a:p>
        </p:txBody>
      </p:sp>
    </p:spTree>
    <p:extLst>
      <p:ext uri="{BB962C8B-B14F-4D97-AF65-F5344CB8AC3E}">
        <p14:creationId xmlns:p14="http://schemas.microsoft.com/office/powerpoint/2010/main" val="32011570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2"/>
          <p:cNvSpPr txBox="1"/>
          <p:nvPr/>
        </p:nvSpPr>
        <p:spPr>
          <a:xfrm>
            <a:off x="350874" y="1350000"/>
            <a:ext cx="9369126" cy="3510000"/>
          </a:xfrm>
          <a:prstGeom prst="rect">
            <a:avLst/>
          </a:prstGeom>
          <a:noFill/>
          <a:ln w="0">
            <a:noFill/>
          </a:ln>
        </p:spPr>
        <p:txBody>
          <a:bodyPr lIns="0" tIns="0" rIns="0" bIns="0">
            <a:noAutofit/>
          </a:bodyPr>
          <a:lstStyle/>
          <a:p>
            <a:pPr>
              <a:spcAft>
                <a:spcPts val="853"/>
              </a:spcAft>
            </a:pPr>
            <a:r>
              <a:rPr lang="es-MX" sz="2100" b="1" spc="-1" dirty="0">
                <a:solidFill>
                  <a:srgbClr val="FF0000"/>
                </a:solidFill>
                <a:latin typeface="Times New Roman" panose="02020603050405020304" pitchFamily="18" charset="0"/>
                <a:cs typeface="Times New Roman" panose="02020603050405020304" pitchFamily="18" charset="0"/>
              </a:rPr>
              <a:t>Pregunta tradicional</a:t>
            </a:r>
          </a:p>
          <a:p>
            <a:pPr>
              <a:spcAft>
                <a:spcPts val="853"/>
              </a:spcAft>
            </a:pPr>
            <a:endParaRPr lang="es-MX" sz="2100" spc="-1" dirty="0">
              <a:latin typeface="Times New Roman" panose="02020603050405020304" pitchFamily="18" charset="0"/>
              <a:cs typeface="Times New Roman" panose="02020603050405020304" pitchFamily="18" charset="0"/>
            </a:endParaRPr>
          </a:p>
          <a:p>
            <a:pPr>
              <a:spcAft>
                <a:spcPts val="853"/>
              </a:spcAft>
            </a:pPr>
            <a:r>
              <a:rPr lang="es-MX" sz="2100" spc="-1" dirty="0">
                <a:latin typeface="Times New Roman" panose="02020603050405020304" pitchFamily="18" charset="0"/>
                <a:cs typeface="Times New Roman" panose="02020603050405020304" pitchFamily="18" charset="0"/>
              </a:rPr>
              <a:t>Los prefijos </a:t>
            </a:r>
            <a:r>
              <a:rPr lang="es-MX" sz="2100" i="1" spc="-1" dirty="0">
                <a:latin typeface="Times New Roman" panose="02020603050405020304" pitchFamily="18" charset="0"/>
                <a:cs typeface="Times New Roman" panose="02020603050405020304" pitchFamily="18" charset="0"/>
              </a:rPr>
              <a:t>a</a:t>
            </a:r>
            <a:r>
              <a:rPr lang="es-MX" sz="2100" spc="-1" dirty="0">
                <a:latin typeface="Times New Roman" panose="02020603050405020304" pitchFamily="18" charset="0"/>
                <a:cs typeface="Times New Roman" panose="02020603050405020304" pitchFamily="18" charset="0"/>
              </a:rPr>
              <a:t>-, </a:t>
            </a:r>
            <a:r>
              <a:rPr lang="es-MX" sz="2100" i="1" spc="-1" dirty="0">
                <a:latin typeface="Times New Roman" panose="02020603050405020304" pitchFamily="18" charset="0"/>
                <a:cs typeface="Times New Roman" panose="02020603050405020304" pitchFamily="18" charset="0"/>
              </a:rPr>
              <a:t>ex</a:t>
            </a:r>
            <a:r>
              <a:rPr lang="es-MX" sz="2100" spc="-1" dirty="0">
                <a:latin typeface="Times New Roman" panose="02020603050405020304" pitchFamily="18" charset="0"/>
                <a:cs typeface="Times New Roman" panose="02020603050405020304" pitchFamily="18" charset="0"/>
              </a:rPr>
              <a:t>- e </a:t>
            </a:r>
            <a:r>
              <a:rPr lang="es-MX" sz="2100" i="1" spc="-1" dirty="0">
                <a:latin typeface="Times New Roman" panose="02020603050405020304" pitchFamily="18" charset="0"/>
                <a:cs typeface="Times New Roman" panose="02020603050405020304" pitchFamily="18" charset="0"/>
              </a:rPr>
              <a:t>in-</a:t>
            </a:r>
            <a:r>
              <a:rPr lang="es-MX" sz="2100" spc="-1" dirty="0">
                <a:latin typeface="Times New Roman" panose="02020603050405020304" pitchFamily="18" charset="0"/>
                <a:cs typeface="Times New Roman" panose="02020603050405020304" pitchFamily="18" charset="0"/>
              </a:rPr>
              <a:t> denotan</a:t>
            </a:r>
          </a:p>
          <a:p>
            <a:pPr>
              <a:spcAft>
                <a:spcPts val="853"/>
              </a:spcAft>
            </a:pPr>
            <a:r>
              <a:rPr lang="es-MX" sz="2100" spc="-1" dirty="0">
                <a:latin typeface="Times New Roman" panose="02020603050405020304" pitchFamily="18" charset="0"/>
                <a:cs typeface="Times New Roman" panose="02020603050405020304" pitchFamily="18" charset="0"/>
              </a:rPr>
              <a:t>A. privación.</a:t>
            </a:r>
          </a:p>
          <a:p>
            <a:pPr>
              <a:spcAft>
                <a:spcPts val="853"/>
              </a:spcAft>
            </a:pPr>
            <a:r>
              <a:rPr lang="es-MX" sz="2100" spc="-1" dirty="0">
                <a:latin typeface="Times New Roman" panose="02020603050405020304" pitchFamily="18" charset="0"/>
                <a:cs typeface="Times New Roman" panose="02020603050405020304" pitchFamily="18" charset="0"/>
              </a:rPr>
              <a:t>B. cualidad.</a:t>
            </a:r>
          </a:p>
          <a:p>
            <a:pPr>
              <a:spcAft>
                <a:spcPts val="853"/>
              </a:spcAft>
            </a:pPr>
            <a:r>
              <a:rPr lang="es-MX" sz="2100" spc="-1" dirty="0">
                <a:latin typeface="Times New Roman" panose="02020603050405020304" pitchFamily="18" charset="0"/>
                <a:cs typeface="Times New Roman" panose="02020603050405020304" pitchFamily="18" charset="0"/>
              </a:rPr>
              <a:t>C. gradación.</a:t>
            </a:r>
          </a:p>
          <a:p>
            <a:pPr>
              <a:spcAft>
                <a:spcPts val="853"/>
              </a:spcAft>
            </a:pPr>
            <a:r>
              <a:rPr lang="es-MX" sz="2100" spc="-1" dirty="0">
                <a:latin typeface="Times New Roman" panose="02020603050405020304" pitchFamily="18" charset="0"/>
                <a:cs typeface="Times New Roman" panose="02020603050405020304" pitchFamily="18" charset="0"/>
              </a:rPr>
              <a:t>D. oposición.</a:t>
            </a:r>
          </a:p>
        </p:txBody>
      </p:sp>
      <p:sp>
        <p:nvSpPr>
          <p:cNvPr id="2" name="TextShape 1">
            <a:extLst>
              <a:ext uri="{FF2B5EF4-FFF2-40B4-BE49-F238E27FC236}">
                <a16:creationId xmlns:a16="http://schemas.microsoft.com/office/drawing/2014/main" id="{48B9ABDE-8093-C22D-C448-65C3896D30D3}"/>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por competencias: Lenguaje</a:t>
            </a:r>
            <a:endParaRPr lang="es-PE" sz="2800" b="1" strike="noStrike" spc="-1" dirty="0">
              <a:solidFill>
                <a:srgbClr val="FFFFFF"/>
              </a:solidFill>
              <a:latin typeface="Book Antiqua" panose="02040602050305030304" pitchFamily="18" charset="0"/>
            </a:endParaRPr>
          </a:p>
        </p:txBody>
      </p:sp>
      <p:sp>
        <p:nvSpPr>
          <p:cNvPr id="3" name="4 CuadroTexto">
            <a:extLst>
              <a:ext uri="{FF2B5EF4-FFF2-40B4-BE49-F238E27FC236}">
                <a16:creationId xmlns:a16="http://schemas.microsoft.com/office/drawing/2014/main" id="{F1E37E06-775D-E360-FC15-AECF2724B879}"/>
              </a:ext>
            </a:extLst>
          </p:cNvPr>
          <p:cNvSpPr txBox="1"/>
          <p:nvPr/>
        </p:nvSpPr>
        <p:spPr>
          <a:xfrm>
            <a:off x="2679032" y="4094922"/>
            <a:ext cx="7040968" cy="765077"/>
          </a:xfrm>
          <a:prstGeom prst="rect">
            <a:avLst/>
          </a:prstGeom>
          <a:noFill/>
        </p:spPr>
        <p:txBody>
          <a:bodyPr wrap="square" rtlCol="0">
            <a:noAutofit/>
          </a:bodyPr>
          <a:lstStyle/>
          <a:p>
            <a:r>
              <a:rPr lang="es-MX" sz="2000" b="1" dirty="0">
                <a:latin typeface="Times New Roman" panose="02020603050405020304" pitchFamily="18" charset="0"/>
                <a:cs typeface="Times New Roman" panose="02020603050405020304" pitchFamily="18" charset="0"/>
              </a:rPr>
              <a:t>Solución. </a:t>
            </a:r>
            <a:r>
              <a:rPr lang="es-PE" sz="2000" dirty="0">
                <a:latin typeface="Times New Roman" panose="02020603050405020304" pitchFamily="18" charset="0"/>
                <a:cs typeface="Times New Roman" panose="02020603050405020304" pitchFamily="18" charset="0"/>
              </a:rPr>
              <a:t>Los prefijos </a:t>
            </a:r>
            <a:r>
              <a:rPr lang="es-PE" sz="2000" i="1" dirty="0" err="1">
                <a:latin typeface="Times New Roman" panose="02020603050405020304" pitchFamily="18" charset="0"/>
                <a:cs typeface="Times New Roman" panose="02020603050405020304" pitchFamily="18" charset="0"/>
              </a:rPr>
              <a:t>an</a:t>
            </a:r>
            <a:r>
              <a:rPr lang="es-PE" sz="2000" i="1" dirty="0">
                <a:latin typeface="Times New Roman" panose="02020603050405020304" pitchFamily="18" charset="0"/>
                <a:cs typeface="Times New Roman" panose="02020603050405020304" pitchFamily="18" charset="0"/>
              </a:rPr>
              <a:t>-</a:t>
            </a:r>
            <a:r>
              <a:rPr lang="es-PE" sz="2000" dirty="0">
                <a:latin typeface="Times New Roman" panose="02020603050405020304" pitchFamily="18" charset="0"/>
                <a:cs typeface="Times New Roman" panose="02020603050405020304" pitchFamily="18" charset="0"/>
              </a:rPr>
              <a:t>, </a:t>
            </a:r>
            <a:r>
              <a:rPr lang="es-PE" sz="2000" i="1" dirty="0">
                <a:latin typeface="Times New Roman" panose="02020603050405020304" pitchFamily="18" charset="0"/>
                <a:cs typeface="Times New Roman" panose="02020603050405020304" pitchFamily="18" charset="0"/>
              </a:rPr>
              <a:t>ex-</a:t>
            </a:r>
            <a:r>
              <a:rPr lang="es-PE" sz="2000" dirty="0">
                <a:latin typeface="Times New Roman" panose="02020603050405020304" pitchFamily="18" charset="0"/>
                <a:cs typeface="Times New Roman" panose="02020603050405020304" pitchFamily="18" charset="0"/>
              </a:rPr>
              <a:t> e </a:t>
            </a:r>
            <a:r>
              <a:rPr lang="es-PE" sz="2000" i="1" dirty="0">
                <a:latin typeface="Times New Roman" panose="02020603050405020304" pitchFamily="18" charset="0"/>
                <a:cs typeface="Times New Roman" panose="02020603050405020304" pitchFamily="18" charset="0"/>
              </a:rPr>
              <a:t>in-</a:t>
            </a:r>
            <a:r>
              <a:rPr lang="es-PE" sz="2000" dirty="0">
                <a:latin typeface="Times New Roman" panose="02020603050405020304" pitchFamily="18" charset="0"/>
                <a:cs typeface="Times New Roman" panose="02020603050405020304" pitchFamily="18" charset="0"/>
              </a:rPr>
              <a:t> denotan privación.</a:t>
            </a:r>
            <a:endParaRPr lang="es-MX" sz="2000" dirty="0">
              <a:latin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914B75D9-3E05-2275-CD42-6AC29EC312D8}"/>
              </a:ext>
            </a:extLst>
          </p:cNvPr>
          <p:cNvSpPr txBox="1"/>
          <p:nvPr/>
        </p:nvSpPr>
        <p:spPr>
          <a:xfrm>
            <a:off x="1842561" y="2689502"/>
            <a:ext cx="246185" cy="415498"/>
          </a:xfrm>
          <a:prstGeom prst="rect">
            <a:avLst/>
          </a:prstGeom>
          <a:noFill/>
        </p:spPr>
        <p:txBody>
          <a:bodyPr wrap="square" rtlCol="0">
            <a:spAutoFit/>
          </a:bodyPr>
          <a:lstStyle/>
          <a:p>
            <a:r>
              <a:rPr lang="es-PE" sz="21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85923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2"/>
          <p:cNvSpPr txBox="1"/>
          <p:nvPr/>
        </p:nvSpPr>
        <p:spPr>
          <a:xfrm>
            <a:off x="350874" y="1350000"/>
            <a:ext cx="9369126" cy="3510000"/>
          </a:xfrm>
          <a:prstGeom prst="rect">
            <a:avLst/>
          </a:prstGeom>
          <a:noFill/>
          <a:ln w="0">
            <a:noFill/>
          </a:ln>
        </p:spPr>
        <p:txBody>
          <a:bodyPr lIns="0" tIns="0" rIns="0" bIns="0">
            <a:noAutofit/>
          </a:bodyPr>
          <a:lstStyle/>
          <a:p>
            <a:pPr>
              <a:spcAft>
                <a:spcPts val="853"/>
              </a:spcAft>
            </a:pPr>
            <a:r>
              <a:rPr lang="es-MX" sz="2100" spc="-1" dirty="0">
                <a:latin typeface="Times New Roman" panose="02020603050405020304" pitchFamily="18" charset="0"/>
                <a:cs typeface="Times New Roman" panose="02020603050405020304" pitchFamily="18" charset="0"/>
              </a:rPr>
              <a:t>Los prefijos son elementos que añaden precisiones al significado de la raíz de una palabra. En el enunciado </a:t>
            </a:r>
            <a:r>
              <a:rPr lang="es-MX" sz="2100" i="1" spc="-1" dirty="0">
                <a:latin typeface="Times New Roman" panose="02020603050405020304" pitchFamily="18" charset="0"/>
                <a:cs typeface="Times New Roman" panose="02020603050405020304" pitchFamily="18" charset="0"/>
              </a:rPr>
              <a:t>Su </a:t>
            </a:r>
            <a:r>
              <a:rPr lang="es-MX" sz="2100" i="1" u="sng" spc="-1" dirty="0">
                <a:latin typeface="Times New Roman" panose="02020603050405020304" pitchFamily="18" charset="0"/>
                <a:cs typeface="Times New Roman" panose="02020603050405020304" pitchFamily="18" charset="0"/>
              </a:rPr>
              <a:t>analfabetismo</a:t>
            </a:r>
            <a:r>
              <a:rPr lang="es-MX" sz="2100" i="1" spc="-1" dirty="0">
                <a:latin typeface="Times New Roman" panose="02020603050405020304" pitchFamily="18" charset="0"/>
                <a:cs typeface="Times New Roman" panose="02020603050405020304" pitchFamily="18" charset="0"/>
              </a:rPr>
              <a:t> no lo </a:t>
            </a:r>
            <a:r>
              <a:rPr lang="es-MX" sz="2100" i="1" u="sng" spc="-1" dirty="0">
                <a:latin typeface="Times New Roman" panose="02020603050405020304" pitchFamily="18" charset="0"/>
                <a:cs typeface="Times New Roman" panose="02020603050405020304" pitchFamily="18" charset="0"/>
              </a:rPr>
              <a:t>exculpaba</a:t>
            </a:r>
            <a:r>
              <a:rPr lang="es-MX" sz="2100" i="1" spc="-1" dirty="0">
                <a:latin typeface="Times New Roman" panose="02020603050405020304" pitchFamily="18" charset="0"/>
                <a:cs typeface="Times New Roman" panose="02020603050405020304" pitchFamily="18" charset="0"/>
              </a:rPr>
              <a:t> de ser sospechoso. Además, su </a:t>
            </a:r>
            <a:r>
              <a:rPr lang="es-MX" sz="2100" i="1" u="sng" spc="-1" dirty="0">
                <a:latin typeface="Times New Roman" panose="02020603050405020304" pitchFamily="18" charset="0"/>
                <a:cs typeface="Times New Roman" panose="02020603050405020304" pitchFamily="18" charset="0"/>
              </a:rPr>
              <a:t>incomunicación</a:t>
            </a:r>
            <a:r>
              <a:rPr lang="es-MX" sz="2100" i="1" spc="-1" dirty="0">
                <a:latin typeface="Times New Roman" panose="02020603050405020304" pitchFamily="18" charset="0"/>
                <a:cs typeface="Times New Roman" panose="02020603050405020304" pitchFamily="18" charset="0"/>
              </a:rPr>
              <a:t> en momentos clave concentraba la atención general en él</a:t>
            </a:r>
            <a:r>
              <a:rPr lang="es-MX" sz="2100" spc="-1" dirty="0">
                <a:latin typeface="Times New Roman" panose="02020603050405020304" pitchFamily="18" charset="0"/>
                <a:cs typeface="Times New Roman" panose="02020603050405020304" pitchFamily="18" charset="0"/>
              </a:rPr>
              <a:t>, las palabras destacadas contienen prefijos que denotan</a:t>
            </a:r>
          </a:p>
          <a:p>
            <a:pPr>
              <a:spcAft>
                <a:spcPts val="853"/>
              </a:spcAft>
            </a:pPr>
            <a:r>
              <a:rPr lang="es-MX" sz="2100" spc="-1" dirty="0">
                <a:latin typeface="Times New Roman" panose="02020603050405020304" pitchFamily="18" charset="0"/>
                <a:cs typeface="Times New Roman" panose="02020603050405020304" pitchFamily="18" charset="0"/>
              </a:rPr>
              <a:t>A. privación.</a:t>
            </a:r>
          </a:p>
          <a:p>
            <a:pPr>
              <a:spcAft>
                <a:spcPts val="853"/>
              </a:spcAft>
            </a:pPr>
            <a:r>
              <a:rPr lang="es-MX" sz="2100" spc="-1" dirty="0">
                <a:latin typeface="Times New Roman" panose="02020603050405020304" pitchFamily="18" charset="0"/>
                <a:cs typeface="Times New Roman" panose="02020603050405020304" pitchFamily="18" charset="0"/>
              </a:rPr>
              <a:t>B. cualidad.</a:t>
            </a:r>
          </a:p>
          <a:p>
            <a:pPr>
              <a:spcAft>
                <a:spcPts val="853"/>
              </a:spcAft>
            </a:pPr>
            <a:r>
              <a:rPr lang="es-MX" sz="2100" spc="-1" dirty="0">
                <a:latin typeface="Times New Roman" panose="02020603050405020304" pitchFamily="18" charset="0"/>
                <a:cs typeface="Times New Roman" panose="02020603050405020304" pitchFamily="18" charset="0"/>
              </a:rPr>
              <a:t>C. gradación.</a:t>
            </a:r>
          </a:p>
          <a:p>
            <a:pPr>
              <a:spcAft>
                <a:spcPts val="853"/>
              </a:spcAft>
            </a:pPr>
            <a:r>
              <a:rPr lang="es-MX" sz="2100" spc="-1" dirty="0">
                <a:latin typeface="Times New Roman" panose="02020603050405020304" pitchFamily="18" charset="0"/>
                <a:cs typeface="Times New Roman" panose="02020603050405020304" pitchFamily="18" charset="0"/>
              </a:rPr>
              <a:t>D. oposición.</a:t>
            </a:r>
          </a:p>
        </p:txBody>
      </p:sp>
      <p:sp>
        <p:nvSpPr>
          <p:cNvPr id="2" name="TextShape 1">
            <a:extLst>
              <a:ext uri="{FF2B5EF4-FFF2-40B4-BE49-F238E27FC236}">
                <a16:creationId xmlns:a16="http://schemas.microsoft.com/office/drawing/2014/main" id="{48B9ABDE-8093-C22D-C448-65C3896D30D3}"/>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por competencias: Lenguaje</a:t>
            </a:r>
            <a:endParaRPr lang="es-PE" sz="2800" b="1" strike="noStrike" spc="-1" dirty="0">
              <a:solidFill>
                <a:srgbClr val="FFFFFF"/>
              </a:solidFill>
              <a:latin typeface="Book Antiqua" panose="02040602050305030304" pitchFamily="18" charset="0"/>
            </a:endParaRPr>
          </a:p>
        </p:txBody>
      </p:sp>
      <p:sp>
        <p:nvSpPr>
          <p:cNvPr id="3" name="4 CuadroTexto">
            <a:extLst>
              <a:ext uri="{FF2B5EF4-FFF2-40B4-BE49-F238E27FC236}">
                <a16:creationId xmlns:a16="http://schemas.microsoft.com/office/drawing/2014/main" id="{F1E37E06-775D-E360-FC15-AECF2724B879}"/>
              </a:ext>
            </a:extLst>
          </p:cNvPr>
          <p:cNvSpPr txBox="1"/>
          <p:nvPr/>
        </p:nvSpPr>
        <p:spPr>
          <a:xfrm>
            <a:off x="2679032" y="3577388"/>
            <a:ext cx="7040968" cy="1282611"/>
          </a:xfrm>
          <a:prstGeom prst="rect">
            <a:avLst/>
          </a:prstGeom>
          <a:noFill/>
        </p:spPr>
        <p:txBody>
          <a:bodyPr wrap="square" rtlCol="0">
            <a:noAutofit/>
          </a:bodyPr>
          <a:lstStyle/>
          <a:p>
            <a:r>
              <a:rPr lang="es-MX" sz="2000" b="1" dirty="0">
                <a:latin typeface="Times New Roman" panose="02020603050405020304" pitchFamily="18" charset="0"/>
                <a:cs typeface="Times New Roman" panose="02020603050405020304" pitchFamily="18" charset="0"/>
              </a:rPr>
              <a:t>Solución. </a:t>
            </a:r>
            <a:r>
              <a:rPr lang="es-PE" sz="2000" dirty="0">
                <a:latin typeface="Times New Roman" panose="02020603050405020304" pitchFamily="18" charset="0"/>
                <a:cs typeface="Times New Roman" panose="02020603050405020304" pitchFamily="18" charset="0"/>
              </a:rPr>
              <a:t>Las palabras destacadas coinciden en el sentido privativo que muestran debido al prefijo adjunto a sus raíces. Los prefijos que las caracterizan son </a:t>
            </a:r>
            <a:r>
              <a:rPr lang="es-PE" sz="2000" i="1" dirty="0" err="1">
                <a:latin typeface="Times New Roman" panose="02020603050405020304" pitchFamily="18" charset="0"/>
                <a:cs typeface="Times New Roman" panose="02020603050405020304" pitchFamily="18" charset="0"/>
              </a:rPr>
              <a:t>an</a:t>
            </a:r>
            <a:r>
              <a:rPr lang="es-PE" sz="2000" i="1" dirty="0">
                <a:latin typeface="Times New Roman" panose="02020603050405020304" pitchFamily="18" charset="0"/>
                <a:cs typeface="Times New Roman" panose="02020603050405020304" pitchFamily="18" charset="0"/>
              </a:rPr>
              <a:t>-</a:t>
            </a:r>
            <a:r>
              <a:rPr lang="es-PE" sz="2000" dirty="0">
                <a:latin typeface="Times New Roman" panose="02020603050405020304" pitchFamily="18" charset="0"/>
                <a:cs typeface="Times New Roman" panose="02020603050405020304" pitchFamily="18" charset="0"/>
              </a:rPr>
              <a:t>, </a:t>
            </a:r>
            <a:r>
              <a:rPr lang="es-PE" sz="2000" i="1" dirty="0">
                <a:latin typeface="Times New Roman" panose="02020603050405020304" pitchFamily="18" charset="0"/>
                <a:cs typeface="Times New Roman" panose="02020603050405020304" pitchFamily="18" charset="0"/>
              </a:rPr>
              <a:t>ex-</a:t>
            </a:r>
            <a:r>
              <a:rPr lang="es-PE" sz="2000" dirty="0">
                <a:latin typeface="Times New Roman" panose="02020603050405020304" pitchFamily="18" charset="0"/>
                <a:cs typeface="Times New Roman" panose="02020603050405020304" pitchFamily="18" charset="0"/>
              </a:rPr>
              <a:t> e </a:t>
            </a:r>
            <a:r>
              <a:rPr lang="es-PE" sz="2000" i="1" dirty="0">
                <a:latin typeface="Times New Roman" panose="02020603050405020304" pitchFamily="18" charset="0"/>
                <a:cs typeface="Times New Roman" panose="02020603050405020304" pitchFamily="18" charset="0"/>
              </a:rPr>
              <a:t>in-</a:t>
            </a:r>
            <a:r>
              <a:rPr lang="es-PE" sz="2000" dirty="0">
                <a:latin typeface="Times New Roman" panose="02020603050405020304" pitchFamily="18" charset="0"/>
                <a:cs typeface="Times New Roman" panose="02020603050405020304" pitchFamily="18" charset="0"/>
              </a:rPr>
              <a:t> , todos indican privación cuando se ligan a sus respectivas raíces.</a:t>
            </a:r>
            <a:endParaRPr lang="es-MX" sz="2000" dirty="0">
              <a:latin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914B75D9-3E05-2275-CD42-6AC29EC312D8}"/>
              </a:ext>
            </a:extLst>
          </p:cNvPr>
          <p:cNvSpPr txBox="1"/>
          <p:nvPr/>
        </p:nvSpPr>
        <p:spPr>
          <a:xfrm>
            <a:off x="1789552" y="2689502"/>
            <a:ext cx="246185" cy="415498"/>
          </a:xfrm>
          <a:prstGeom prst="rect">
            <a:avLst/>
          </a:prstGeom>
          <a:noFill/>
        </p:spPr>
        <p:txBody>
          <a:bodyPr wrap="square" rtlCol="0">
            <a:spAutoFit/>
          </a:bodyPr>
          <a:lstStyle/>
          <a:p>
            <a:r>
              <a:rPr lang="es-PE" sz="21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4399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2"/>
          <p:cNvSpPr txBox="1"/>
          <p:nvPr/>
        </p:nvSpPr>
        <p:spPr>
          <a:xfrm>
            <a:off x="360624" y="1328734"/>
            <a:ext cx="9369126" cy="3510000"/>
          </a:xfrm>
          <a:prstGeom prst="rect">
            <a:avLst/>
          </a:prstGeom>
          <a:noFill/>
          <a:ln w="0">
            <a:noFill/>
          </a:ln>
        </p:spPr>
        <p:txBody>
          <a:bodyPr lIns="0" tIns="0" rIns="0" bIns="0">
            <a:noAutofit/>
          </a:bodyPr>
          <a:lstStyle/>
          <a:p>
            <a:pPr>
              <a:spcAft>
                <a:spcPts val="853"/>
              </a:spcAft>
            </a:pPr>
            <a:r>
              <a:rPr lang="es-MX" sz="2000" b="1" spc="-1" dirty="0">
                <a:solidFill>
                  <a:srgbClr val="FF0000"/>
                </a:solidFill>
                <a:latin typeface="Times New Roman" panose="02020603050405020304" pitchFamily="18" charset="0"/>
                <a:cs typeface="Times New Roman" panose="02020603050405020304" pitchFamily="18" charset="0"/>
              </a:rPr>
              <a:t>Pregunta tradicional</a:t>
            </a:r>
          </a:p>
          <a:p>
            <a:pPr>
              <a:spcAft>
                <a:spcPts val="853"/>
              </a:spcAft>
            </a:pPr>
            <a:r>
              <a:rPr lang="es-MX" sz="2000" spc="-1" dirty="0">
                <a:latin typeface="Times New Roman" panose="02020603050405020304" pitchFamily="18" charset="0"/>
                <a:cs typeface="Times New Roman" panose="02020603050405020304" pitchFamily="18" charset="0"/>
              </a:rPr>
              <a:t>Los pares de palabras </a:t>
            </a:r>
            <a:r>
              <a:rPr lang="es-MX" sz="2000" i="1" spc="-1" dirty="0">
                <a:latin typeface="Times New Roman" panose="02020603050405020304" pitchFamily="18" charset="0"/>
                <a:cs typeface="Times New Roman" panose="02020603050405020304" pitchFamily="18" charset="0"/>
              </a:rPr>
              <a:t>célibes</a:t>
            </a:r>
            <a:r>
              <a:rPr lang="es-MX" sz="2000" spc="-1" dirty="0">
                <a:latin typeface="Times New Roman" panose="02020603050405020304" pitchFamily="18" charset="0"/>
                <a:cs typeface="Times New Roman" panose="02020603050405020304" pitchFamily="18" charset="0"/>
              </a:rPr>
              <a:t> y </a:t>
            </a:r>
            <a:r>
              <a:rPr lang="es-MX" sz="2000" i="1" spc="-1" dirty="0">
                <a:latin typeface="Times New Roman" panose="02020603050405020304" pitchFamily="18" charset="0"/>
                <a:cs typeface="Times New Roman" panose="02020603050405020304" pitchFamily="18" charset="0"/>
              </a:rPr>
              <a:t>solteros</a:t>
            </a:r>
            <a:r>
              <a:rPr lang="es-MX" sz="2000" spc="-1" dirty="0">
                <a:latin typeface="Times New Roman" panose="02020603050405020304" pitchFamily="18" charset="0"/>
                <a:cs typeface="Times New Roman" panose="02020603050405020304" pitchFamily="18" charset="0"/>
              </a:rPr>
              <a:t> e </a:t>
            </a:r>
            <a:r>
              <a:rPr lang="es-MX" sz="2000" i="1" spc="-1" dirty="0">
                <a:latin typeface="Times New Roman" panose="02020603050405020304" pitchFamily="18" charset="0"/>
                <a:cs typeface="Times New Roman" panose="02020603050405020304" pitchFamily="18" charset="0"/>
              </a:rPr>
              <a:t>inmune</a:t>
            </a:r>
            <a:r>
              <a:rPr lang="es-MX" sz="2000" spc="-1" dirty="0">
                <a:latin typeface="Times New Roman" panose="02020603050405020304" pitchFamily="18" charset="0"/>
                <a:cs typeface="Times New Roman" panose="02020603050405020304" pitchFamily="18" charset="0"/>
              </a:rPr>
              <a:t> y </a:t>
            </a:r>
            <a:r>
              <a:rPr lang="es-MX" sz="2000" i="1" spc="-1" dirty="0">
                <a:latin typeface="Times New Roman" panose="02020603050405020304" pitchFamily="18" charset="0"/>
                <a:cs typeface="Times New Roman" panose="02020603050405020304" pitchFamily="18" charset="0"/>
              </a:rPr>
              <a:t>vulnerable</a:t>
            </a:r>
            <a:r>
              <a:rPr lang="es-MX" sz="2000" spc="-1" dirty="0">
                <a:latin typeface="Times New Roman" panose="02020603050405020304" pitchFamily="18" charset="0"/>
                <a:cs typeface="Times New Roman" panose="02020603050405020304" pitchFamily="18" charset="0"/>
              </a:rPr>
              <a:t> presentan relaciones semánticas de </a:t>
            </a:r>
          </a:p>
          <a:p>
            <a:pPr>
              <a:spcAft>
                <a:spcPts val="853"/>
              </a:spcAft>
            </a:pPr>
            <a:endParaRPr lang="es-MX" sz="300" i="1" spc="-1" dirty="0">
              <a:latin typeface="Times New Roman" panose="02020603050405020304" pitchFamily="18" charset="0"/>
              <a:cs typeface="Times New Roman" panose="02020603050405020304" pitchFamily="18" charset="0"/>
            </a:endParaRPr>
          </a:p>
          <a:p>
            <a:pPr>
              <a:lnSpc>
                <a:spcPct val="75000"/>
              </a:lnSpc>
              <a:spcAft>
                <a:spcPts val="853"/>
              </a:spcAft>
            </a:pPr>
            <a:r>
              <a:rPr lang="es-MX" sz="2000" spc="-1" dirty="0">
                <a:latin typeface="Times New Roman" panose="02020603050405020304" pitchFamily="18" charset="0"/>
                <a:cs typeface="Times New Roman" panose="02020603050405020304" pitchFamily="18" charset="0"/>
              </a:rPr>
              <a:t>A. sinonimia y antonimia.</a:t>
            </a:r>
          </a:p>
          <a:p>
            <a:pPr>
              <a:lnSpc>
                <a:spcPct val="75000"/>
              </a:lnSpc>
              <a:spcAft>
                <a:spcPts val="853"/>
              </a:spcAft>
            </a:pPr>
            <a:r>
              <a:rPr lang="es-MX" sz="2000" spc="-1" dirty="0">
                <a:latin typeface="Times New Roman" panose="02020603050405020304" pitchFamily="18" charset="0"/>
                <a:cs typeface="Times New Roman" panose="02020603050405020304" pitchFamily="18" charset="0"/>
              </a:rPr>
              <a:t>B. paronimia y sinonimia. </a:t>
            </a:r>
          </a:p>
          <a:p>
            <a:pPr>
              <a:lnSpc>
                <a:spcPct val="75000"/>
              </a:lnSpc>
              <a:spcAft>
                <a:spcPts val="853"/>
              </a:spcAft>
            </a:pPr>
            <a:r>
              <a:rPr lang="es-MX" sz="2000" spc="-1" dirty="0">
                <a:latin typeface="Times New Roman" panose="02020603050405020304" pitchFamily="18" charset="0"/>
                <a:cs typeface="Times New Roman" panose="02020603050405020304" pitchFamily="18" charset="0"/>
              </a:rPr>
              <a:t>C. homonimia y paronimia.</a:t>
            </a:r>
          </a:p>
          <a:p>
            <a:pPr>
              <a:lnSpc>
                <a:spcPct val="75000"/>
              </a:lnSpc>
              <a:spcAft>
                <a:spcPts val="853"/>
              </a:spcAft>
            </a:pPr>
            <a:r>
              <a:rPr lang="es-MX" sz="2000" spc="-1" dirty="0">
                <a:latin typeface="Times New Roman" panose="02020603050405020304" pitchFamily="18" charset="0"/>
                <a:cs typeface="Times New Roman" panose="02020603050405020304" pitchFamily="18" charset="0"/>
              </a:rPr>
              <a:t>D. meronimia e hiponimia.</a:t>
            </a:r>
          </a:p>
        </p:txBody>
      </p:sp>
      <p:sp>
        <p:nvSpPr>
          <p:cNvPr id="2" name="TextShape 1">
            <a:extLst>
              <a:ext uri="{FF2B5EF4-FFF2-40B4-BE49-F238E27FC236}">
                <a16:creationId xmlns:a16="http://schemas.microsoft.com/office/drawing/2014/main" id="{48B9ABDE-8093-C22D-C448-65C3896D30D3}"/>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por competencias: Lenguaje</a:t>
            </a:r>
            <a:endParaRPr lang="es-PE" sz="2800" b="1" strike="noStrike" spc="-1" dirty="0">
              <a:solidFill>
                <a:srgbClr val="FFFFFF"/>
              </a:solidFill>
              <a:latin typeface="Book Antiqua" panose="02040602050305030304" pitchFamily="18" charset="0"/>
            </a:endParaRPr>
          </a:p>
        </p:txBody>
      </p:sp>
      <p:sp>
        <p:nvSpPr>
          <p:cNvPr id="3" name="4 CuadroTexto">
            <a:extLst>
              <a:ext uri="{FF2B5EF4-FFF2-40B4-BE49-F238E27FC236}">
                <a16:creationId xmlns:a16="http://schemas.microsoft.com/office/drawing/2014/main" id="{F1E37E06-775D-E360-FC15-AECF2724B879}"/>
              </a:ext>
            </a:extLst>
          </p:cNvPr>
          <p:cNvSpPr txBox="1"/>
          <p:nvPr/>
        </p:nvSpPr>
        <p:spPr>
          <a:xfrm>
            <a:off x="4220309" y="3593798"/>
            <a:ext cx="5499692" cy="1244936"/>
          </a:xfrm>
          <a:prstGeom prst="rect">
            <a:avLst/>
          </a:prstGeom>
          <a:noFill/>
        </p:spPr>
        <p:txBody>
          <a:bodyPr wrap="square" rtlCol="0">
            <a:noAutofit/>
          </a:bodyPr>
          <a:lstStyle/>
          <a:p>
            <a:r>
              <a:rPr lang="es-MX" sz="2000" b="1" dirty="0">
                <a:latin typeface="Times New Roman" panose="02020603050405020304" pitchFamily="18" charset="0"/>
                <a:cs typeface="Times New Roman" panose="02020603050405020304" pitchFamily="18" charset="0"/>
              </a:rPr>
              <a:t>Solución. </a:t>
            </a:r>
            <a:r>
              <a:rPr lang="es-MX" sz="2000" dirty="0">
                <a:latin typeface="Times New Roman" panose="02020603050405020304" pitchFamily="18" charset="0"/>
                <a:cs typeface="Times New Roman" panose="02020603050405020304" pitchFamily="18" charset="0"/>
              </a:rPr>
              <a:t>Las relaciones que se establecen entre los términos destacados son de sinonimia y de antonimia.</a:t>
            </a:r>
          </a:p>
        </p:txBody>
      </p:sp>
      <p:sp>
        <p:nvSpPr>
          <p:cNvPr id="4" name="CuadroTexto 3">
            <a:extLst>
              <a:ext uri="{FF2B5EF4-FFF2-40B4-BE49-F238E27FC236}">
                <a16:creationId xmlns:a16="http://schemas.microsoft.com/office/drawing/2014/main" id="{223D3293-3345-9E5B-7817-6B0500117C85}"/>
              </a:ext>
            </a:extLst>
          </p:cNvPr>
          <p:cNvSpPr txBox="1"/>
          <p:nvPr/>
        </p:nvSpPr>
        <p:spPr>
          <a:xfrm>
            <a:off x="3071222" y="2419777"/>
            <a:ext cx="246185" cy="415498"/>
          </a:xfrm>
          <a:prstGeom prst="rect">
            <a:avLst/>
          </a:prstGeom>
          <a:noFill/>
        </p:spPr>
        <p:txBody>
          <a:bodyPr wrap="square" rtlCol="0">
            <a:spAutoFit/>
          </a:bodyPr>
          <a:lstStyle/>
          <a:p>
            <a:r>
              <a:rPr lang="es-PE" sz="21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00724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2"/>
          <p:cNvSpPr txBox="1"/>
          <p:nvPr/>
        </p:nvSpPr>
        <p:spPr>
          <a:xfrm>
            <a:off x="350874" y="1350000"/>
            <a:ext cx="9369126" cy="3510000"/>
          </a:xfrm>
          <a:prstGeom prst="rect">
            <a:avLst/>
          </a:prstGeom>
          <a:noFill/>
          <a:ln w="0">
            <a:noFill/>
          </a:ln>
        </p:spPr>
        <p:txBody>
          <a:bodyPr lIns="0" tIns="0" rIns="0" bIns="0">
            <a:noAutofit/>
          </a:bodyPr>
          <a:lstStyle/>
          <a:p>
            <a:pPr>
              <a:spcAft>
                <a:spcPts val="853"/>
              </a:spcAft>
            </a:pPr>
            <a:r>
              <a:rPr lang="es-MX" sz="2000" spc="-1" dirty="0">
                <a:latin typeface="Times New Roman" panose="02020603050405020304" pitchFamily="18" charset="0"/>
                <a:cs typeface="Times New Roman" panose="02020603050405020304" pitchFamily="18" charset="0"/>
              </a:rPr>
              <a:t>Lea el siguiente fragmento y elija la alternativa que indique la correcta relación semántica entre los términos destacados: </a:t>
            </a:r>
            <a:r>
              <a:rPr lang="es-MX" sz="2000" i="1" spc="-1" dirty="0">
                <a:latin typeface="Times New Roman" panose="02020603050405020304" pitchFamily="18" charset="0"/>
                <a:cs typeface="Times New Roman" panose="02020603050405020304" pitchFamily="18" charset="0"/>
              </a:rPr>
              <a:t>En la fiesta coincidió con algunos hombres </a:t>
            </a:r>
            <a:r>
              <a:rPr lang="es-MX" sz="2000" i="1" u="sng" spc="-1" dirty="0">
                <a:latin typeface="Times New Roman" panose="02020603050405020304" pitchFamily="18" charset="0"/>
                <a:cs typeface="Times New Roman" panose="02020603050405020304" pitchFamily="18" charset="0"/>
              </a:rPr>
              <a:t>célibes</a:t>
            </a:r>
            <a:r>
              <a:rPr lang="es-MX" sz="2000" i="1" spc="-1" dirty="0">
                <a:latin typeface="Times New Roman" panose="02020603050405020304" pitchFamily="18" charset="0"/>
                <a:cs typeface="Times New Roman" panose="02020603050405020304" pitchFamily="18" charset="0"/>
              </a:rPr>
              <a:t> que había conocido en la reunión vespertina. Había muchos invitados, entre ellos mujeres hermosas que motivaban el despliegue seductor de los </a:t>
            </a:r>
            <a:r>
              <a:rPr lang="es-MX" sz="2000" i="1" u="sng" spc="-1" dirty="0">
                <a:latin typeface="Times New Roman" panose="02020603050405020304" pitchFamily="18" charset="0"/>
                <a:cs typeface="Times New Roman" panose="02020603050405020304" pitchFamily="18" charset="0"/>
              </a:rPr>
              <a:t>solteros</a:t>
            </a:r>
            <a:r>
              <a:rPr lang="es-MX" sz="2000" i="1" spc="-1" dirty="0">
                <a:latin typeface="Times New Roman" panose="02020603050405020304" pitchFamily="18" charset="0"/>
                <a:cs typeface="Times New Roman" panose="02020603050405020304" pitchFamily="18" charset="0"/>
              </a:rPr>
              <a:t>. Él, en cambio, permanecía </a:t>
            </a:r>
            <a:r>
              <a:rPr lang="es-MX" sz="2000" i="1" u="sng" spc="-1" dirty="0">
                <a:latin typeface="Times New Roman" panose="02020603050405020304" pitchFamily="18" charset="0"/>
                <a:cs typeface="Times New Roman" panose="02020603050405020304" pitchFamily="18" charset="0"/>
              </a:rPr>
              <a:t>inmune</a:t>
            </a:r>
            <a:r>
              <a:rPr lang="es-MX" sz="2000" i="1" spc="-1" dirty="0">
                <a:latin typeface="Times New Roman" panose="02020603050405020304" pitchFamily="18" charset="0"/>
                <a:cs typeface="Times New Roman" panose="02020603050405020304" pitchFamily="18" charset="0"/>
              </a:rPr>
              <a:t> a las miradas y gestos femeninos; su época </a:t>
            </a:r>
            <a:r>
              <a:rPr lang="es-MX" sz="2000" i="1" u="sng" spc="-1" dirty="0">
                <a:latin typeface="Times New Roman" panose="02020603050405020304" pitchFamily="18" charset="0"/>
                <a:cs typeface="Times New Roman" panose="02020603050405020304" pitchFamily="18" charset="0"/>
              </a:rPr>
              <a:t>vulnerable</a:t>
            </a:r>
            <a:r>
              <a:rPr lang="es-MX" sz="2000" i="1" spc="-1" dirty="0">
                <a:latin typeface="Times New Roman" panose="02020603050405020304" pitchFamily="18" charset="0"/>
                <a:cs typeface="Times New Roman" panose="02020603050405020304" pitchFamily="18" charset="0"/>
              </a:rPr>
              <a:t> lo había curtido bastante.</a:t>
            </a:r>
          </a:p>
          <a:p>
            <a:pPr>
              <a:spcAft>
                <a:spcPts val="853"/>
              </a:spcAft>
            </a:pPr>
            <a:endParaRPr lang="es-MX" sz="300" i="1" spc="-1" dirty="0">
              <a:latin typeface="Times New Roman" panose="02020603050405020304" pitchFamily="18" charset="0"/>
              <a:cs typeface="Times New Roman" panose="02020603050405020304" pitchFamily="18" charset="0"/>
            </a:endParaRPr>
          </a:p>
          <a:p>
            <a:pPr>
              <a:lnSpc>
                <a:spcPct val="75000"/>
              </a:lnSpc>
              <a:spcAft>
                <a:spcPts val="853"/>
              </a:spcAft>
            </a:pPr>
            <a:r>
              <a:rPr lang="es-MX" sz="2000" spc="-1" dirty="0">
                <a:latin typeface="Times New Roman" panose="02020603050405020304" pitchFamily="18" charset="0"/>
                <a:cs typeface="Times New Roman" panose="02020603050405020304" pitchFamily="18" charset="0"/>
              </a:rPr>
              <a:t>A. Sinonimia y antonimia.</a:t>
            </a:r>
          </a:p>
          <a:p>
            <a:pPr>
              <a:lnSpc>
                <a:spcPct val="75000"/>
              </a:lnSpc>
              <a:spcAft>
                <a:spcPts val="853"/>
              </a:spcAft>
            </a:pPr>
            <a:r>
              <a:rPr lang="es-MX" sz="2000" spc="-1" dirty="0">
                <a:latin typeface="Times New Roman" panose="02020603050405020304" pitchFamily="18" charset="0"/>
                <a:cs typeface="Times New Roman" panose="02020603050405020304" pitchFamily="18" charset="0"/>
              </a:rPr>
              <a:t>B. Paronimia y sinonimia </a:t>
            </a:r>
          </a:p>
          <a:p>
            <a:pPr>
              <a:lnSpc>
                <a:spcPct val="75000"/>
              </a:lnSpc>
              <a:spcAft>
                <a:spcPts val="853"/>
              </a:spcAft>
            </a:pPr>
            <a:r>
              <a:rPr lang="es-MX" sz="2000" spc="-1" dirty="0">
                <a:latin typeface="Times New Roman" panose="02020603050405020304" pitchFamily="18" charset="0"/>
                <a:cs typeface="Times New Roman" panose="02020603050405020304" pitchFamily="18" charset="0"/>
              </a:rPr>
              <a:t>C. Homonimia y paronimia</a:t>
            </a:r>
          </a:p>
          <a:p>
            <a:pPr>
              <a:lnSpc>
                <a:spcPct val="75000"/>
              </a:lnSpc>
              <a:spcAft>
                <a:spcPts val="853"/>
              </a:spcAft>
            </a:pPr>
            <a:r>
              <a:rPr lang="es-MX" sz="2000" spc="-1" dirty="0">
                <a:latin typeface="Times New Roman" panose="02020603050405020304" pitchFamily="18" charset="0"/>
                <a:cs typeface="Times New Roman" panose="02020603050405020304" pitchFamily="18" charset="0"/>
              </a:rPr>
              <a:t>D. Meronimia e hiponimia</a:t>
            </a:r>
          </a:p>
        </p:txBody>
      </p:sp>
      <p:sp>
        <p:nvSpPr>
          <p:cNvPr id="2" name="TextShape 1">
            <a:extLst>
              <a:ext uri="{FF2B5EF4-FFF2-40B4-BE49-F238E27FC236}">
                <a16:creationId xmlns:a16="http://schemas.microsoft.com/office/drawing/2014/main" id="{48B9ABDE-8093-C22D-C448-65C3896D30D3}"/>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por competencias: Lenguaje</a:t>
            </a:r>
            <a:endParaRPr lang="es-PE" sz="2800" b="1" strike="noStrike" spc="-1" dirty="0">
              <a:solidFill>
                <a:srgbClr val="FFFFFF"/>
              </a:solidFill>
              <a:latin typeface="Book Antiqua" panose="02040602050305030304" pitchFamily="18" charset="0"/>
            </a:endParaRPr>
          </a:p>
        </p:txBody>
      </p:sp>
      <p:sp>
        <p:nvSpPr>
          <p:cNvPr id="3" name="4 CuadroTexto">
            <a:extLst>
              <a:ext uri="{FF2B5EF4-FFF2-40B4-BE49-F238E27FC236}">
                <a16:creationId xmlns:a16="http://schemas.microsoft.com/office/drawing/2014/main" id="{F1E37E06-775D-E360-FC15-AECF2724B879}"/>
              </a:ext>
            </a:extLst>
          </p:cNvPr>
          <p:cNvSpPr txBox="1"/>
          <p:nvPr/>
        </p:nvSpPr>
        <p:spPr>
          <a:xfrm>
            <a:off x="4220307" y="3593798"/>
            <a:ext cx="5499693" cy="1244936"/>
          </a:xfrm>
          <a:prstGeom prst="rect">
            <a:avLst/>
          </a:prstGeom>
          <a:noFill/>
        </p:spPr>
        <p:txBody>
          <a:bodyPr wrap="square" rtlCol="0">
            <a:noAutofit/>
          </a:bodyPr>
          <a:lstStyle/>
          <a:p>
            <a:r>
              <a:rPr lang="es-MX" sz="2000" b="1" dirty="0">
                <a:latin typeface="Times New Roman" panose="02020603050405020304" pitchFamily="18" charset="0"/>
                <a:cs typeface="Times New Roman" panose="02020603050405020304" pitchFamily="18" charset="0"/>
              </a:rPr>
              <a:t>Solución. </a:t>
            </a:r>
            <a:r>
              <a:rPr lang="es-MX" sz="2000" dirty="0">
                <a:latin typeface="Times New Roman" panose="02020603050405020304" pitchFamily="18" charset="0"/>
                <a:cs typeface="Times New Roman" panose="02020603050405020304" pitchFamily="18" charset="0"/>
              </a:rPr>
              <a:t>Las relaciones que se establecen entre los términos destacados son de sinonimia, pues </a:t>
            </a:r>
            <a:r>
              <a:rPr lang="es-MX" sz="2000" i="1" dirty="0">
                <a:latin typeface="Times New Roman" panose="02020603050405020304" pitchFamily="18" charset="0"/>
                <a:cs typeface="Times New Roman" panose="02020603050405020304" pitchFamily="18" charset="0"/>
              </a:rPr>
              <a:t>célibes</a:t>
            </a:r>
            <a:r>
              <a:rPr lang="es-MX" sz="2000" dirty="0">
                <a:latin typeface="Times New Roman" panose="02020603050405020304" pitchFamily="18" charset="0"/>
                <a:cs typeface="Times New Roman" panose="02020603050405020304" pitchFamily="18" charset="0"/>
              </a:rPr>
              <a:t> y </a:t>
            </a:r>
            <a:r>
              <a:rPr lang="es-MX" sz="2000" i="1" dirty="0">
                <a:latin typeface="Times New Roman" panose="02020603050405020304" pitchFamily="18" charset="0"/>
                <a:cs typeface="Times New Roman" panose="02020603050405020304" pitchFamily="18" charset="0"/>
              </a:rPr>
              <a:t>solteros</a:t>
            </a:r>
            <a:r>
              <a:rPr lang="es-MX" sz="2000" dirty="0">
                <a:latin typeface="Times New Roman" panose="02020603050405020304" pitchFamily="18" charset="0"/>
                <a:cs typeface="Times New Roman" panose="02020603050405020304" pitchFamily="18" charset="0"/>
              </a:rPr>
              <a:t> tienen un significado parecido, y de antonimia, porque </a:t>
            </a:r>
            <a:r>
              <a:rPr lang="es-MX" sz="2000" i="1" dirty="0">
                <a:latin typeface="Times New Roman" panose="02020603050405020304" pitchFamily="18" charset="0"/>
                <a:cs typeface="Times New Roman" panose="02020603050405020304" pitchFamily="18" charset="0"/>
              </a:rPr>
              <a:t>inmune</a:t>
            </a:r>
            <a:r>
              <a:rPr lang="es-MX" sz="2000" dirty="0">
                <a:latin typeface="Times New Roman" panose="02020603050405020304" pitchFamily="18" charset="0"/>
                <a:cs typeface="Times New Roman" panose="02020603050405020304" pitchFamily="18" charset="0"/>
              </a:rPr>
              <a:t> y </a:t>
            </a:r>
            <a:r>
              <a:rPr lang="es-MX" sz="2000" i="1" dirty="0">
                <a:latin typeface="Times New Roman" panose="02020603050405020304" pitchFamily="18" charset="0"/>
                <a:cs typeface="Times New Roman" panose="02020603050405020304" pitchFamily="18" charset="0"/>
              </a:rPr>
              <a:t>vulnerable</a:t>
            </a:r>
            <a:r>
              <a:rPr lang="es-MX" sz="2000" dirty="0">
                <a:latin typeface="Times New Roman" panose="02020603050405020304" pitchFamily="18" charset="0"/>
                <a:cs typeface="Times New Roman" panose="02020603050405020304" pitchFamily="18" charset="0"/>
              </a:rPr>
              <a:t> presentan significados opuestos.</a:t>
            </a:r>
          </a:p>
        </p:txBody>
      </p:sp>
      <p:sp>
        <p:nvSpPr>
          <p:cNvPr id="4" name="CuadroTexto 3">
            <a:extLst>
              <a:ext uri="{FF2B5EF4-FFF2-40B4-BE49-F238E27FC236}">
                <a16:creationId xmlns:a16="http://schemas.microsoft.com/office/drawing/2014/main" id="{223D3293-3345-9E5B-7817-6B0500117C85}"/>
              </a:ext>
            </a:extLst>
          </p:cNvPr>
          <p:cNvSpPr txBox="1"/>
          <p:nvPr/>
        </p:nvSpPr>
        <p:spPr>
          <a:xfrm>
            <a:off x="3063984" y="3035424"/>
            <a:ext cx="246185" cy="415498"/>
          </a:xfrm>
          <a:prstGeom prst="rect">
            <a:avLst/>
          </a:prstGeom>
          <a:noFill/>
        </p:spPr>
        <p:txBody>
          <a:bodyPr wrap="square" rtlCol="0">
            <a:spAutoFit/>
          </a:bodyPr>
          <a:lstStyle/>
          <a:p>
            <a:r>
              <a:rPr lang="es-PE" sz="21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2173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2"/>
          <p:cNvSpPr txBox="1"/>
          <p:nvPr/>
        </p:nvSpPr>
        <p:spPr>
          <a:xfrm>
            <a:off x="350874" y="1350000"/>
            <a:ext cx="9369126" cy="3510000"/>
          </a:xfrm>
          <a:prstGeom prst="rect">
            <a:avLst/>
          </a:prstGeom>
          <a:noFill/>
          <a:ln w="0">
            <a:noFill/>
          </a:ln>
        </p:spPr>
        <p:txBody>
          <a:bodyPr lIns="0" tIns="0" rIns="0" bIns="0">
            <a:noAutofit/>
          </a:bodyPr>
          <a:lstStyle/>
          <a:p>
            <a:pPr>
              <a:spcAft>
                <a:spcPts val="853"/>
              </a:spcAft>
            </a:pPr>
            <a:r>
              <a:rPr lang="es-MX" sz="2100" b="1" spc="-1" dirty="0">
                <a:solidFill>
                  <a:srgbClr val="FF0000"/>
                </a:solidFill>
                <a:latin typeface="Times New Roman" panose="02020603050405020304" pitchFamily="18" charset="0"/>
                <a:cs typeface="Times New Roman" panose="02020603050405020304" pitchFamily="18" charset="0"/>
              </a:rPr>
              <a:t>Pregunta tradicional</a:t>
            </a:r>
          </a:p>
          <a:p>
            <a:pPr>
              <a:spcAft>
                <a:spcPts val="853"/>
              </a:spcAft>
            </a:pPr>
            <a:r>
              <a:rPr lang="es-MX" sz="2100" spc="-1" dirty="0">
                <a:latin typeface="Times New Roman" panose="02020603050405020304" pitchFamily="18" charset="0"/>
                <a:cs typeface="Times New Roman" panose="02020603050405020304" pitchFamily="18" charset="0"/>
              </a:rPr>
              <a:t>Según la normativa lingüística, ¿qué alternativa presenta los verbos </a:t>
            </a:r>
            <a:r>
              <a:rPr lang="es-MX" sz="2100" i="1" spc="-1" dirty="0">
                <a:latin typeface="Times New Roman" panose="02020603050405020304" pitchFamily="18" charset="0"/>
                <a:cs typeface="Times New Roman" panose="02020603050405020304" pitchFamily="18" charset="0"/>
              </a:rPr>
              <a:t>vaciar</a:t>
            </a:r>
            <a:r>
              <a:rPr lang="es-MX" sz="2100" spc="-1" dirty="0">
                <a:latin typeface="Times New Roman" panose="02020603050405020304" pitchFamily="18" charset="0"/>
                <a:cs typeface="Times New Roman" panose="02020603050405020304" pitchFamily="18" charset="0"/>
              </a:rPr>
              <a:t>, </a:t>
            </a:r>
            <a:r>
              <a:rPr lang="es-MX" sz="2100" i="1" spc="-1" dirty="0">
                <a:latin typeface="Times New Roman" panose="02020603050405020304" pitchFamily="18" charset="0"/>
                <a:cs typeface="Times New Roman" panose="02020603050405020304" pitchFamily="18" charset="0"/>
              </a:rPr>
              <a:t>conducir</a:t>
            </a:r>
            <a:r>
              <a:rPr lang="es-MX" sz="2100" spc="-1" dirty="0">
                <a:latin typeface="Times New Roman" panose="02020603050405020304" pitchFamily="18" charset="0"/>
                <a:cs typeface="Times New Roman" panose="02020603050405020304" pitchFamily="18" charset="0"/>
              </a:rPr>
              <a:t> y </a:t>
            </a:r>
            <a:r>
              <a:rPr lang="es-MX" sz="2100" i="1" spc="-1" dirty="0">
                <a:latin typeface="Times New Roman" panose="02020603050405020304" pitchFamily="18" charset="0"/>
                <a:cs typeface="Times New Roman" panose="02020603050405020304" pitchFamily="18" charset="0"/>
              </a:rPr>
              <a:t>satisfacer</a:t>
            </a:r>
            <a:r>
              <a:rPr lang="es-MX" sz="2100" spc="-1" dirty="0">
                <a:latin typeface="Times New Roman" panose="02020603050405020304" pitchFamily="18" charset="0"/>
                <a:cs typeface="Times New Roman" panose="02020603050405020304" pitchFamily="18" charset="0"/>
              </a:rPr>
              <a:t> conjugados en pretérito perfecto del modo indicativo?</a:t>
            </a:r>
          </a:p>
          <a:p>
            <a:pPr>
              <a:spcAft>
                <a:spcPts val="853"/>
              </a:spcAft>
            </a:pPr>
            <a:r>
              <a:rPr lang="es-MX" sz="2100" spc="-1" dirty="0">
                <a:latin typeface="Times New Roman" panose="02020603050405020304" pitchFamily="18" charset="0"/>
                <a:cs typeface="Times New Roman" panose="02020603050405020304" pitchFamily="18" charset="0"/>
              </a:rPr>
              <a:t>A. vaciaron – condujiste – satisfizo</a:t>
            </a:r>
          </a:p>
          <a:p>
            <a:pPr>
              <a:spcAft>
                <a:spcPts val="853"/>
              </a:spcAft>
            </a:pPr>
            <a:r>
              <a:rPr lang="es-MX" sz="2100" spc="-1" dirty="0">
                <a:latin typeface="Times New Roman" panose="02020603050405020304" pitchFamily="18" charset="0"/>
                <a:cs typeface="Times New Roman" panose="02020603050405020304" pitchFamily="18" charset="0"/>
              </a:rPr>
              <a:t>B. vaciaron – </a:t>
            </a:r>
            <a:r>
              <a:rPr lang="es-MX" sz="2100" spc="-1" dirty="0" err="1">
                <a:latin typeface="Times New Roman" panose="02020603050405020304" pitchFamily="18" charset="0"/>
                <a:cs typeface="Times New Roman" panose="02020603050405020304" pitchFamily="18" charset="0"/>
              </a:rPr>
              <a:t>conduciste</a:t>
            </a:r>
            <a:r>
              <a:rPr lang="es-MX" sz="2100" spc="-1" dirty="0">
                <a:latin typeface="Times New Roman" panose="02020603050405020304" pitchFamily="18" charset="0"/>
                <a:cs typeface="Times New Roman" panose="02020603050405020304" pitchFamily="18" charset="0"/>
              </a:rPr>
              <a:t> – satisfizo </a:t>
            </a:r>
          </a:p>
          <a:p>
            <a:pPr>
              <a:spcAft>
                <a:spcPts val="853"/>
              </a:spcAft>
            </a:pPr>
            <a:r>
              <a:rPr lang="es-MX" sz="2100" spc="-1" dirty="0">
                <a:latin typeface="Times New Roman" panose="02020603050405020304" pitchFamily="18" charset="0"/>
                <a:cs typeface="Times New Roman" panose="02020603050405020304" pitchFamily="18" charset="0"/>
              </a:rPr>
              <a:t>C. </a:t>
            </a:r>
            <a:r>
              <a:rPr lang="es-MX" sz="2100" spc="-1" dirty="0" err="1">
                <a:latin typeface="Times New Roman" panose="02020603050405020304" pitchFamily="18" charset="0"/>
                <a:cs typeface="Times New Roman" panose="02020603050405020304" pitchFamily="18" charset="0"/>
              </a:rPr>
              <a:t>vacearon</a:t>
            </a:r>
            <a:r>
              <a:rPr lang="es-MX" sz="2100" spc="-1" dirty="0">
                <a:latin typeface="Times New Roman" panose="02020603050405020304" pitchFamily="18" charset="0"/>
                <a:cs typeface="Times New Roman" panose="02020603050405020304" pitchFamily="18" charset="0"/>
              </a:rPr>
              <a:t> – condujiste – </a:t>
            </a:r>
            <a:r>
              <a:rPr lang="es-MX" sz="2100" spc="-1" dirty="0" err="1">
                <a:latin typeface="Times New Roman" panose="02020603050405020304" pitchFamily="18" charset="0"/>
                <a:cs typeface="Times New Roman" panose="02020603050405020304" pitchFamily="18" charset="0"/>
              </a:rPr>
              <a:t>satisfació</a:t>
            </a:r>
            <a:endParaRPr lang="es-MX" sz="2100" spc="-1" dirty="0">
              <a:latin typeface="Times New Roman" panose="02020603050405020304" pitchFamily="18" charset="0"/>
              <a:cs typeface="Times New Roman" panose="02020603050405020304" pitchFamily="18" charset="0"/>
            </a:endParaRPr>
          </a:p>
          <a:p>
            <a:pPr>
              <a:spcAft>
                <a:spcPts val="853"/>
              </a:spcAft>
            </a:pPr>
            <a:r>
              <a:rPr lang="es-MX" sz="2100" spc="-1" dirty="0">
                <a:latin typeface="Times New Roman" panose="02020603050405020304" pitchFamily="18" charset="0"/>
                <a:cs typeface="Times New Roman" panose="02020603050405020304" pitchFamily="18" charset="0"/>
              </a:rPr>
              <a:t>D. </a:t>
            </a:r>
            <a:r>
              <a:rPr lang="es-MX" sz="2100" spc="-1" dirty="0" err="1">
                <a:latin typeface="Times New Roman" panose="02020603050405020304" pitchFamily="18" charset="0"/>
                <a:cs typeface="Times New Roman" panose="02020603050405020304" pitchFamily="18" charset="0"/>
              </a:rPr>
              <a:t>vacearon</a:t>
            </a:r>
            <a:r>
              <a:rPr lang="es-MX" sz="2100" spc="-1" dirty="0">
                <a:latin typeface="Times New Roman" panose="02020603050405020304" pitchFamily="18" charset="0"/>
                <a:cs typeface="Times New Roman" panose="02020603050405020304" pitchFamily="18" charset="0"/>
              </a:rPr>
              <a:t> – </a:t>
            </a:r>
            <a:r>
              <a:rPr lang="es-MX" sz="2100" spc="-1" dirty="0" err="1">
                <a:latin typeface="Times New Roman" panose="02020603050405020304" pitchFamily="18" charset="0"/>
                <a:cs typeface="Times New Roman" panose="02020603050405020304" pitchFamily="18" charset="0"/>
              </a:rPr>
              <a:t>conduciste</a:t>
            </a:r>
            <a:r>
              <a:rPr lang="es-MX" sz="2100" spc="-1" dirty="0">
                <a:latin typeface="Times New Roman" panose="02020603050405020304" pitchFamily="18" charset="0"/>
                <a:cs typeface="Times New Roman" panose="02020603050405020304" pitchFamily="18" charset="0"/>
              </a:rPr>
              <a:t> – </a:t>
            </a:r>
            <a:r>
              <a:rPr lang="es-MX" sz="2100" spc="-1" dirty="0" err="1">
                <a:latin typeface="Times New Roman" panose="02020603050405020304" pitchFamily="18" charset="0"/>
                <a:cs typeface="Times New Roman" panose="02020603050405020304" pitchFamily="18" charset="0"/>
              </a:rPr>
              <a:t>satisfació</a:t>
            </a:r>
            <a:endParaRPr lang="es-MX" sz="2100" spc="-1" dirty="0">
              <a:latin typeface="Times New Roman" panose="02020603050405020304" pitchFamily="18" charset="0"/>
              <a:cs typeface="Times New Roman" panose="02020603050405020304" pitchFamily="18" charset="0"/>
            </a:endParaRPr>
          </a:p>
          <a:p>
            <a:pPr>
              <a:spcAft>
                <a:spcPts val="853"/>
              </a:spcAft>
            </a:pPr>
            <a:endParaRPr lang="es-MX" sz="2100" spc="-1" dirty="0">
              <a:latin typeface="Book Antiqua" panose="02040602050305030304" pitchFamily="18" charset="0"/>
            </a:endParaRPr>
          </a:p>
        </p:txBody>
      </p:sp>
      <p:sp>
        <p:nvSpPr>
          <p:cNvPr id="2" name="TextShape 1">
            <a:extLst>
              <a:ext uri="{FF2B5EF4-FFF2-40B4-BE49-F238E27FC236}">
                <a16:creationId xmlns:a16="http://schemas.microsoft.com/office/drawing/2014/main" id="{48B9ABDE-8093-C22D-C448-65C3896D30D3}"/>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por competencias: Lenguaje</a:t>
            </a:r>
            <a:endParaRPr lang="es-PE" sz="2800" b="1" strike="noStrike" spc="-1" dirty="0">
              <a:solidFill>
                <a:srgbClr val="FFFFFF"/>
              </a:solidFill>
              <a:latin typeface="Book Antiqua" panose="02040602050305030304" pitchFamily="18" charset="0"/>
            </a:endParaRPr>
          </a:p>
        </p:txBody>
      </p:sp>
      <p:sp>
        <p:nvSpPr>
          <p:cNvPr id="3" name="4 CuadroTexto">
            <a:extLst>
              <a:ext uri="{FF2B5EF4-FFF2-40B4-BE49-F238E27FC236}">
                <a16:creationId xmlns:a16="http://schemas.microsoft.com/office/drawing/2014/main" id="{F1E37E06-775D-E360-FC15-AECF2724B879}"/>
              </a:ext>
            </a:extLst>
          </p:cNvPr>
          <p:cNvSpPr txBox="1"/>
          <p:nvPr/>
        </p:nvSpPr>
        <p:spPr>
          <a:xfrm>
            <a:off x="4735774" y="3657600"/>
            <a:ext cx="4984226" cy="1202400"/>
          </a:xfrm>
          <a:prstGeom prst="rect">
            <a:avLst/>
          </a:prstGeom>
          <a:noFill/>
        </p:spPr>
        <p:txBody>
          <a:bodyPr wrap="square" rtlCol="0">
            <a:noAutofit/>
          </a:bodyPr>
          <a:lstStyle/>
          <a:p>
            <a:r>
              <a:rPr lang="es-MX" sz="2000" b="1" dirty="0">
                <a:latin typeface="Times New Roman" panose="02020603050405020304" pitchFamily="18" charset="0"/>
                <a:cs typeface="Times New Roman" panose="02020603050405020304" pitchFamily="18" charset="0"/>
              </a:rPr>
              <a:t>Solución. </a:t>
            </a:r>
            <a:r>
              <a:rPr lang="es-PE" sz="2000" dirty="0">
                <a:latin typeface="Times New Roman" panose="02020603050405020304" pitchFamily="18" charset="0"/>
                <a:cs typeface="Times New Roman" panose="02020603050405020304" pitchFamily="18" charset="0"/>
              </a:rPr>
              <a:t>Los verbos </a:t>
            </a:r>
            <a:r>
              <a:rPr lang="es-PE" sz="2000" i="1" dirty="0">
                <a:latin typeface="Times New Roman" panose="02020603050405020304" pitchFamily="18" charset="0"/>
                <a:cs typeface="Times New Roman" panose="02020603050405020304" pitchFamily="18" charset="0"/>
              </a:rPr>
              <a:t>vaciar</a:t>
            </a:r>
            <a:r>
              <a:rPr lang="es-PE" sz="2000" dirty="0">
                <a:latin typeface="Times New Roman" panose="02020603050405020304" pitchFamily="18" charset="0"/>
                <a:cs typeface="Times New Roman" panose="02020603050405020304" pitchFamily="18" charset="0"/>
              </a:rPr>
              <a:t>, </a:t>
            </a:r>
            <a:r>
              <a:rPr lang="es-PE" sz="2000" i="1" dirty="0">
                <a:latin typeface="Times New Roman" panose="02020603050405020304" pitchFamily="18" charset="0"/>
                <a:cs typeface="Times New Roman" panose="02020603050405020304" pitchFamily="18" charset="0"/>
              </a:rPr>
              <a:t>conducir</a:t>
            </a:r>
            <a:r>
              <a:rPr lang="es-PE" sz="2000" dirty="0">
                <a:latin typeface="Times New Roman" panose="02020603050405020304" pitchFamily="18" charset="0"/>
                <a:cs typeface="Times New Roman" panose="02020603050405020304" pitchFamily="18" charset="0"/>
              </a:rPr>
              <a:t> y </a:t>
            </a:r>
            <a:r>
              <a:rPr lang="es-PE" sz="2000" i="1" dirty="0">
                <a:latin typeface="Times New Roman" panose="02020603050405020304" pitchFamily="18" charset="0"/>
                <a:cs typeface="Times New Roman" panose="02020603050405020304" pitchFamily="18" charset="0"/>
              </a:rPr>
              <a:t>satisfacer</a:t>
            </a:r>
            <a:r>
              <a:rPr lang="es-PE" sz="2000" dirty="0">
                <a:latin typeface="Times New Roman" panose="02020603050405020304" pitchFamily="18" charset="0"/>
                <a:cs typeface="Times New Roman" panose="02020603050405020304" pitchFamily="18" charset="0"/>
              </a:rPr>
              <a:t> se realizan como </a:t>
            </a:r>
            <a:r>
              <a:rPr lang="es-PE" sz="2000" i="1" dirty="0">
                <a:latin typeface="Times New Roman" panose="02020603050405020304" pitchFamily="18" charset="0"/>
                <a:cs typeface="Times New Roman" panose="02020603050405020304" pitchFamily="18" charset="0"/>
              </a:rPr>
              <a:t>vaciaron</a:t>
            </a:r>
            <a:r>
              <a:rPr lang="es-PE" sz="2000" dirty="0">
                <a:latin typeface="Times New Roman" panose="02020603050405020304" pitchFamily="18" charset="0"/>
                <a:cs typeface="Times New Roman" panose="02020603050405020304" pitchFamily="18" charset="0"/>
              </a:rPr>
              <a:t>, </a:t>
            </a:r>
            <a:r>
              <a:rPr lang="es-PE" sz="2000" i="1" dirty="0">
                <a:latin typeface="Times New Roman" panose="02020603050405020304" pitchFamily="18" charset="0"/>
                <a:cs typeface="Times New Roman" panose="02020603050405020304" pitchFamily="18" charset="0"/>
              </a:rPr>
              <a:t>condujiste</a:t>
            </a:r>
            <a:r>
              <a:rPr lang="es-PE" sz="2000" dirty="0">
                <a:latin typeface="Times New Roman" panose="02020603050405020304" pitchFamily="18" charset="0"/>
                <a:cs typeface="Times New Roman" panose="02020603050405020304" pitchFamily="18" charset="0"/>
              </a:rPr>
              <a:t> y </a:t>
            </a:r>
            <a:r>
              <a:rPr lang="es-PE" sz="2000" i="1" dirty="0">
                <a:latin typeface="Times New Roman" panose="02020603050405020304" pitchFamily="18" charset="0"/>
                <a:cs typeface="Times New Roman" panose="02020603050405020304" pitchFamily="18" charset="0"/>
              </a:rPr>
              <a:t>satisfizo</a:t>
            </a:r>
            <a:r>
              <a:rPr lang="es-PE" sz="2000" dirty="0">
                <a:latin typeface="Times New Roman" panose="02020603050405020304" pitchFamily="18" charset="0"/>
                <a:cs typeface="Times New Roman" panose="02020603050405020304" pitchFamily="18" charset="0"/>
              </a:rPr>
              <a:t>.</a:t>
            </a:r>
            <a:endParaRPr lang="es-MX" sz="2000" dirty="0">
              <a:latin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223D3293-3345-9E5B-7817-6B0500117C85}"/>
              </a:ext>
            </a:extLst>
          </p:cNvPr>
          <p:cNvSpPr txBox="1"/>
          <p:nvPr/>
        </p:nvSpPr>
        <p:spPr>
          <a:xfrm>
            <a:off x="4157917" y="2530586"/>
            <a:ext cx="246185" cy="415498"/>
          </a:xfrm>
          <a:prstGeom prst="rect">
            <a:avLst/>
          </a:prstGeom>
          <a:noFill/>
        </p:spPr>
        <p:txBody>
          <a:bodyPr wrap="square" rtlCol="0">
            <a:spAutoFit/>
          </a:bodyPr>
          <a:lstStyle/>
          <a:p>
            <a:r>
              <a:rPr lang="es-PE" sz="21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1092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2"/>
          <p:cNvSpPr txBox="1"/>
          <p:nvPr/>
        </p:nvSpPr>
        <p:spPr>
          <a:xfrm>
            <a:off x="350874" y="1350000"/>
            <a:ext cx="9369126" cy="3510000"/>
          </a:xfrm>
          <a:prstGeom prst="rect">
            <a:avLst/>
          </a:prstGeom>
          <a:noFill/>
          <a:ln w="0">
            <a:noFill/>
          </a:ln>
        </p:spPr>
        <p:txBody>
          <a:bodyPr lIns="0" tIns="0" rIns="0" bIns="0">
            <a:noAutofit/>
          </a:bodyPr>
          <a:lstStyle/>
          <a:p>
            <a:pPr>
              <a:spcAft>
                <a:spcPts val="853"/>
              </a:spcAft>
            </a:pPr>
            <a:r>
              <a:rPr lang="es-MX" sz="2100" spc="-1" dirty="0">
                <a:latin typeface="Times New Roman" panose="02020603050405020304" pitchFamily="18" charset="0"/>
                <a:cs typeface="Times New Roman" panose="02020603050405020304" pitchFamily="18" charset="0"/>
              </a:rPr>
              <a:t>Complete el siguiente enunciado con las flexiones verbales normativamente correctas. Dijiste que se te __________ los frenos. ¿Cómo __________, entonces, por esa avenida transitada? Al policía no le __________ tu explicación.</a:t>
            </a:r>
          </a:p>
          <a:p>
            <a:pPr>
              <a:spcAft>
                <a:spcPts val="853"/>
              </a:spcAft>
            </a:pPr>
            <a:r>
              <a:rPr lang="es-MX" sz="2100" spc="-1" dirty="0">
                <a:latin typeface="Times New Roman" panose="02020603050405020304" pitchFamily="18" charset="0"/>
                <a:cs typeface="Times New Roman" panose="02020603050405020304" pitchFamily="18" charset="0"/>
              </a:rPr>
              <a:t>A. vaciaron – condujiste – satisfizo</a:t>
            </a:r>
          </a:p>
          <a:p>
            <a:pPr>
              <a:spcAft>
                <a:spcPts val="853"/>
              </a:spcAft>
            </a:pPr>
            <a:r>
              <a:rPr lang="es-MX" sz="2100" spc="-1" dirty="0">
                <a:latin typeface="Times New Roman" panose="02020603050405020304" pitchFamily="18" charset="0"/>
                <a:cs typeface="Times New Roman" panose="02020603050405020304" pitchFamily="18" charset="0"/>
              </a:rPr>
              <a:t>B. vaciaron – </a:t>
            </a:r>
            <a:r>
              <a:rPr lang="es-MX" sz="2100" spc="-1" dirty="0" err="1">
                <a:latin typeface="Times New Roman" panose="02020603050405020304" pitchFamily="18" charset="0"/>
                <a:cs typeface="Times New Roman" panose="02020603050405020304" pitchFamily="18" charset="0"/>
              </a:rPr>
              <a:t>conduciste</a:t>
            </a:r>
            <a:r>
              <a:rPr lang="es-MX" sz="2100" spc="-1" dirty="0">
                <a:latin typeface="Times New Roman" panose="02020603050405020304" pitchFamily="18" charset="0"/>
                <a:cs typeface="Times New Roman" panose="02020603050405020304" pitchFamily="18" charset="0"/>
              </a:rPr>
              <a:t> – satisfizo </a:t>
            </a:r>
          </a:p>
          <a:p>
            <a:pPr>
              <a:spcAft>
                <a:spcPts val="853"/>
              </a:spcAft>
            </a:pPr>
            <a:r>
              <a:rPr lang="es-MX" sz="2100" spc="-1" dirty="0">
                <a:latin typeface="Times New Roman" panose="02020603050405020304" pitchFamily="18" charset="0"/>
                <a:cs typeface="Times New Roman" panose="02020603050405020304" pitchFamily="18" charset="0"/>
              </a:rPr>
              <a:t>C. </a:t>
            </a:r>
            <a:r>
              <a:rPr lang="es-MX" sz="2100" spc="-1" dirty="0" err="1">
                <a:latin typeface="Times New Roman" panose="02020603050405020304" pitchFamily="18" charset="0"/>
                <a:cs typeface="Times New Roman" panose="02020603050405020304" pitchFamily="18" charset="0"/>
              </a:rPr>
              <a:t>vacearon</a:t>
            </a:r>
            <a:r>
              <a:rPr lang="es-MX" sz="2100" spc="-1" dirty="0">
                <a:latin typeface="Times New Roman" panose="02020603050405020304" pitchFamily="18" charset="0"/>
                <a:cs typeface="Times New Roman" panose="02020603050405020304" pitchFamily="18" charset="0"/>
              </a:rPr>
              <a:t> – condujiste – </a:t>
            </a:r>
            <a:r>
              <a:rPr lang="es-MX" sz="2100" spc="-1" dirty="0" err="1">
                <a:latin typeface="Times New Roman" panose="02020603050405020304" pitchFamily="18" charset="0"/>
                <a:cs typeface="Times New Roman" panose="02020603050405020304" pitchFamily="18" charset="0"/>
              </a:rPr>
              <a:t>satisfació</a:t>
            </a:r>
            <a:endParaRPr lang="es-MX" sz="2100" spc="-1" dirty="0">
              <a:latin typeface="Times New Roman" panose="02020603050405020304" pitchFamily="18" charset="0"/>
              <a:cs typeface="Times New Roman" panose="02020603050405020304" pitchFamily="18" charset="0"/>
            </a:endParaRPr>
          </a:p>
          <a:p>
            <a:pPr>
              <a:spcAft>
                <a:spcPts val="853"/>
              </a:spcAft>
            </a:pPr>
            <a:r>
              <a:rPr lang="es-MX" sz="2100" spc="-1" dirty="0">
                <a:latin typeface="Times New Roman" panose="02020603050405020304" pitchFamily="18" charset="0"/>
                <a:cs typeface="Times New Roman" panose="02020603050405020304" pitchFamily="18" charset="0"/>
              </a:rPr>
              <a:t>D. </a:t>
            </a:r>
            <a:r>
              <a:rPr lang="es-MX" sz="2100" spc="-1" dirty="0" err="1">
                <a:latin typeface="Times New Roman" panose="02020603050405020304" pitchFamily="18" charset="0"/>
                <a:cs typeface="Times New Roman" panose="02020603050405020304" pitchFamily="18" charset="0"/>
              </a:rPr>
              <a:t>vacearon</a:t>
            </a:r>
            <a:r>
              <a:rPr lang="es-MX" sz="2100" spc="-1" dirty="0">
                <a:latin typeface="Times New Roman" panose="02020603050405020304" pitchFamily="18" charset="0"/>
                <a:cs typeface="Times New Roman" panose="02020603050405020304" pitchFamily="18" charset="0"/>
              </a:rPr>
              <a:t> – </a:t>
            </a:r>
            <a:r>
              <a:rPr lang="es-MX" sz="2100" spc="-1" dirty="0" err="1">
                <a:latin typeface="Times New Roman" panose="02020603050405020304" pitchFamily="18" charset="0"/>
                <a:cs typeface="Times New Roman" panose="02020603050405020304" pitchFamily="18" charset="0"/>
              </a:rPr>
              <a:t>conduciste</a:t>
            </a:r>
            <a:r>
              <a:rPr lang="es-MX" sz="2100" spc="-1" dirty="0">
                <a:latin typeface="Times New Roman" panose="02020603050405020304" pitchFamily="18" charset="0"/>
                <a:cs typeface="Times New Roman" panose="02020603050405020304" pitchFamily="18" charset="0"/>
              </a:rPr>
              <a:t> – </a:t>
            </a:r>
            <a:r>
              <a:rPr lang="es-MX" sz="2100" spc="-1" dirty="0" err="1">
                <a:latin typeface="Times New Roman" panose="02020603050405020304" pitchFamily="18" charset="0"/>
                <a:cs typeface="Times New Roman" panose="02020603050405020304" pitchFamily="18" charset="0"/>
              </a:rPr>
              <a:t>satisfació</a:t>
            </a:r>
            <a:endParaRPr lang="es-MX" sz="2100" spc="-1" dirty="0">
              <a:latin typeface="Times New Roman" panose="02020603050405020304" pitchFamily="18" charset="0"/>
              <a:cs typeface="Times New Roman" panose="02020603050405020304" pitchFamily="18" charset="0"/>
            </a:endParaRPr>
          </a:p>
          <a:p>
            <a:pPr>
              <a:spcAft>
                <a:spcPts val="853"/>
              </a:spcAft>
            </a:pPr>
            <a:endParaRPr lang="es-MX" sz="2100" spc="-1" dirty="0">
              <a:latin typeface="Book Antiqua" panose="02040602050305030304" pitchFamily="18" charset="0"/>
            </a:endParaRPr>
          </a:p>
        </p:txBody>
      </p:sp>
      <p:sp>
        <p:nvSpPr>
          <p:cNvPr id="2" name="TextShape 1">
            <a:extLst>
              <a:ext uri="{FF2B5EF4-FFF2-40B4-BE49-F238E27FC236}">
                <a16:creationId xmlns:a16="http://schemas.microsoft.com/office/drawing/2014/main" id="{48B9ABDE-8093-C22D-C448-65C3896D30D3}"/>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por competencias: Lenguaje</a:t>
            </a:r>
            <a:endParaRPr lang="es-PE" sz="2800" b="1" strike="noStrike" spc="-1" dirty="0">
              <a:solidFill>
                <a:srgbClr val="FFFFFF"/>
              </a:solidFill>
              <a:latin typeface="Book Antiqua" panose="02040602050305030304" pitchFamily="18" charset="0"/>
            </a:endParaRPr>
          </a:p>
        </p:txBody>
      </p:sp>
      <p:sp>
        <p:nvSpPr>
          <p:cNvPr id="3" name="4 CuadroTexto">
            <a:extLst>
              <a:ext uri="{FF2B5EF4-FFF2-40B4-BE49-F238E27FC236}">
                <a16:creationId xmlns:a16="http://schemas.microsoft.com/office/drawing/2014/main" id="{F1E37E06-775D-E360-FC15-AECF2724B879}"/>
              </a:ext>
            </a:extLst>
          </p:cNvPr>
          <p:cNvSpPr txBox="1"/>
          <p:nvPr/>
        </p:nvSpPr>
        <p:spPr>
          <a:xfrm>
            <a:off x="4735774" y="3128212"/>
            <a:ext cx="4984226" cy="1731788"/>
          </a:xfrm>
          <a:prstGeom prst="rect">
            <a:avLst/>
          </a:prstGeom>
          <a:noFill/>
        </p:spPr>
        <p:txBody>
          <a:bodyPr wrap="square" rtlCol="0">
            <a:noAutofit/>
          </a:bodyPr>
          <a:lstStyle/>
          <a:p>
            <a:r>
              <a:rPr lang="es-MX" sz="2000" b="1" dirty="0">
                <a:latin typeface="Times New Roman" panose="02020603050405020304" pitchFamily="18" charset="0"/>
                <a:cs typeface="Times New Roman" panose="02020603050405020304" pitchFamily="18" charset="0"/>
              </a:rPr>
              <a:t>Solución. </a:t>
            </a:r>
            <a:r>
              <a:rPr lang="es-PE" sz="2000" dirty="0">
                <a:latin typeface="Times New Roman" panose="02020603050405020304" pitchFamily="18" charset="0"/>
                <a:cs typeface="Times New Roman" panose="02020603050405020304" pitchFamily="18" charset="0"/>
              </a:rPr>
              <a:t>La adecuada conjugación demanda las formas </a:t>
            </a:r>
            <a:r>
              <a:rPr lang="es-PE" sz="2000" i="1" dirty="0">
                <a:latin typeface="Times New Roman" panose="02020603050405020304" pitchFamily="18" charset="0"/>
                <a:cs typeface="Times New Roman" panose="02020603050405020304" pitchFamily="18" charset="0"/>
              </a:rPr>
              <a:t>vaciaron</a:t>
            </a:r>
            <a:r>
              <a:rPr lang="es-PE" sz="2000" dirty="0">
                <a:latin typeface="Times New Roman" panose="02020603050405020304" pitchFamily="18" charset="0"/>
                <a:cs typeface="Times New Roman" panose="02020603050405020304" pitchFamily="18" charset="0"/>
              </a:rPr>
              <a:t>, </a:t>
            </a:r>
            <a:r>
              <a:rPr lang="es-PE" sz="2000" i="1" dirty="0">
                <a:latin typeface="Times New Roman" panose="02020603050405020304" pitchFamily="18" charset="0"/>
                <a:cs typeface="Times New Roman" panose="02020603050405020304" pitchFamily="18" charset="0"/>
              </a:rPr>
              <a:t>condujiste</a:t>
            </a:r>
            <a:r>
              <a:rPr lang="es-PE" sz="2000" dirty="0">
                <a:latin typeface="Times New Roman" panose="02020603050405020304" pitchFamily="18" charset="0"/>
                <a:cs typeface="Times New Roman" panose="02020603050405020304" pitchFamily="18" charset="0"/>
              </a:rPr>
              <a:t> y </a:t>
            </a:r>
            <a:r>
              <a:rPr lang="es-PE" sz="2000" i="1" dirty="0">
                <a:latin typeface="Times New Roman" panose="02020603050405020304" pitchFamily="18" charset="0"/>
                <a:cs typeface="Times New Roman" panose="02020603050405020304" pitchFamily="18" charset="0"/>
              </a:rPr>
              <a:t>satisfizo</a:t>
            </a:r>
            <a:r>
              <a:rPr lang="es-PE" sz="2000" dirty="0">
                <a:latin typeface="Times New Roman" panose="02020603050405020304" pitchFamily="18" charset="0"/>
                <a:cs typeface="Times New Roman" panose="02020603050405020304" pitchFamily="18" charset="0"/>
              </a:rPr>
              <a:t>. El verbo </a:t>
            </a:r>
            <a:r>
              <a:rPr lang="es-PE" sz="2000" i="1" dirty="0">
                <a:latin typeface="Times New Roman" panose="02020603050405020304" pitchFamily="18" charset="0"/>
                <a:cs typeface="Times New Roman" panose="02020603050405020304" pitchFamily="18" charset="0"/>
              </a:rPr>
              <a:t>vaciar</a:t>
            </a:r>
            <a:r>
              <a:rPr lang="es-PE" sz="2000" dirty="0">
                <a:latin typeface="Times New Roman" panose="02020603050405020304" pitchFamily="18" charset="0"/>
                <a:cs typeface="Times New Roman" panose="02020603050405020304" pitchFamily="18" charset="0"/>
              </a:rPr>
              <a:t> se conjuga como </a:t>
            </a:r>
            <a:r>
              <a:rPr lang="es-PE" sz="2000" i="1" dirty="0">
                <a:latin typeface="Times New Roman" panose="02020603050405020304" pitchFamily="18" charset="0"/>
                <a:cs typeface="Times New Roman" panose="02020603050405020304" pitchFamily="18" charset="0"/>
              </a:rPr>
              <a:t>enviar</a:t>
            </a:r>
            <a:r>
              <a:rPr lang="es-PE" sz="2000" dirty="0">
                <a:latin typeface="Times New Roman" panose="02020603050405020304" pitchFamily="18" charset="0"/>
                <a:cs typeface="Times New Roman" panose="02020603050405020304" pitchFamily="18" charset="0"/>
              </a:rPr>
              <a:t>, el verbo </a:t>
            </a:r>
            <a:r>
              <a:rPr lang="es-PE" sz="2000" i="1" dirty="0">
                <a:latin typeface="Times New Roman" panose="02020603050405020304" pitchFamily="18" charset="0"/>
                <a:cs typeface="Times New Roman" panose="02020603050405020304" pitchFamily="18" charset="0"/>
              </a:rPr>
              <a:t>conducir</a:t>
            </a:r>
            <a:r>
              <a:rPr lang="es-PE" sz="2000" dirty="0">
                <a:latin typeface="Times New Roman" panose="02020603050405020304" pitchFamily="18" charset="0"/>
                <a:cs typeface="Times New Roman" panose="02020603050405020304" pitchFamily="18" charset="0"/>
              </a:rPr>
              <a:t> hace lo propio como </a:t>
            </a:r>
            <a:r>
              <a:rPr lang="es-PE" sz="2000" i="1" dirty="0">
                <a:latin typeface="Times New Roman" panose="02020603050405020304" pitchFamily="18" charset="0"/>
                <a:cs typeface="Times New Roman" panose="02020603050405020304" pitchFamily="18" charset="0"/>
              </a:rPr>
              <a:t>reducir</a:t>
            </a:r>
            <a:r>
              <a:rPr lang="es-PE" sz="2000" dirty="0">
                <a:latin typeface="Times New Roman" panose="02020603050405020304" pitchFamily="18" charset="0"/>
                <a:cs typeface="Times New Roman" panose="02020603050405020304" pitchFamily="18" charset="0"/>
              </a:rPr>
              <a:t> y </a:t>
            </a:r>
            <a:r>
              <a:rPr lang="es-PE" sz="2000" i="1" dirty="0">
                <a:latin typeface="Times New Roman" panose="02020603050405020304" pitchFamily="18" charset="0"/>
                <a:cs typeface="Times New Roman" panose="02020603050405020304" pitchFamily="18" charset="0"/>
              </a:rPr>
              <a:t>satisfacer</a:t>
            </a:r>
            <a:r>
              <a:rPr lang="es-PE" sz="2000" dirty="0">
                <a:latin typeface="Times New Roman" panose="02020603050405020304" pitchFamily="18" charset="0"/>
                <a:cs typeface="Times New Roman" panose="02020603050405020304" pitchFamily="18" charset="0"/>
              </a:rPr>
              <a:t> lo hace como </a:t>
            </a:r>
            <a:r>
              <a:rPr lang="es-PE" sz="2000" i="1" dirty="0">
                <a:latin typeface="Times New Roman" panose="02020603050405020304" pitchFamily="18" charset="0"/>
                <a:cs typeface="Times New Roman" panose="02020603050405020304" pitchFamily="18" charset="0"/>
              </a:rPr>
              <a:t>hacer</a:t>
            </a:r>
            <a:r>
              <a:rPr lang="es-PE" sz="2000" dirty="0">
                <a:latin typeface="Times New Roman" panose="02020603050405020304" pitchFamily="18" charset="0"/>
                <a:cs typeface="Times New Roman" panose="02020603050405020304" pitchFamily="18" charset="0"/>
              </a:rPr>
              <a:t>.</a:t>
            </a:r>
            <a:endParaRPr lang="es-MX" sz="2000" dirty="0">
              <a:latin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223D3293-3345-9E5B-7817-6B0500117C85}"/>
              </a:ext>
            </a:extLst>
          </p:cNvPr>
          <p:cNvSpPr txBox="1"/>
          <p:nvPr/>
        </p:nvSpPr>
        <p:spPr>
          <a:xfrm>
            <a:off x="4176470" y="2419777"/>
            <a:ext cx="246185" cy="415498"/>
          </a:xfrm>
          <a:prstGeom prst="rect">
            <a:avLst/>
          </a:prstGeom>
          <a:noFill/>
        </p:spPr>
        <p:txBody>
          <a:bodyPr wrap="square" rtlCol="0">
            <a:spAutoFit/>
          </a:bodyPr>
          <a:lstStyle/>
          <a:p>
            <a:r>
              <a:rPr lang="es-PE" sz="21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45861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2"/>
          <p:cNvSpPr txBox="1"/>
          <p:nvPr/>
        </p:nvSpPr>
        <p:spPr>
          <a:xfrm>
            <a:off x="350874" y="1350000"/>
            <a:ext cx="9369126" cy="3510000"/>
          </a:xfrm>
          <a:prstGeom prst="rect">
            <a:avLst/>
          </a:prstGeom>
          <a:noFill/>
          <a:ln w="0">
            <a:noFill/>
          </a:ln>
        </p:spPr>
        <p:txBody>
          <a:bodyPr lIns="0" tIns="0" rIns="0" bIns="0">
            <a:noAutofit/>
          </a:bodyPr>
          <a:lstStyle/>
          <a:p>
            <a:r>
              <a:rPr lang="es-MX" sz="2000" b="1" spc="-1" dirty="0">
                <a:solidFill>
                  <a:srgbClr val="FF0000"/>
                </a:solidFill>
                <a:latin typeface="Times New Roman" panose="02020603050405020304" pitchFamily="18" charset="0"/>
                <a:cs typeface="Times New Roman" panose="02020603050405020304" pitchFamily="18" charset="0"/>
              </a:rPr>
              <a:t>Pregunta tradicional</a:t>
            </a:r>
          </a:p>
          <a:p>
            <a:pPr lvl="0"/>
            <a:r>
              <a:rPr lang="es-MX" sz="2000" dirty="0">
                <a:latin typeface="Times New Roman" panose="02020603050405020304" pitchFamily="18" charset="0"/>
                <a:cs typeface="Times New Roman" panose="02020603050405020304" pitchFamily="18" charset="0"/>
              </a:rPr>
              <a:t>La figura literaria que consiste en reiterar una o más palabras al inicio de un enunciado (oraciones, frases) con fines expresivos se denomina</a:t>
            </a:r>
          </a:p>
          <a:p>
            <a:pPr lvl="0" algn="just"/>
            <a:endParaRPr lang="es-MX" sz="2000" dirty="0">
              <a:latin typeface="Times New Roman" panose="02020603050405020304" pitchFamily="18" charset="0"/>
              <a:cs typeface="Times New Roman" panose="02020603050405020304" pitchFamily="18" charset="0"/>
            </a:endParaRPr>
          </a:p>
          <a:p>
            <a:pPr lvl="0" algn="just"/>
            <a:r>
              <a:rPr lang="es-MX" sz="2000" dirty="0">
                <a:latin typeface="Times New Roman" panose="02020603050405020304" pitchFamily="18" charset="0"/>
                <a:cs typeface="Times New Roman" panose="02020603050405020304" pitchFamily="18" charset="0"/>
              </a:rPr>
              <a:t>A. anáfora.</a:t>
            </a:r>
          </a:p>
          <a:p>
            <a:pPr lvl="0" algn="just"/>
            <a:r>
              <a:rPr lang="es-MX" sz="2000" dirty="0">
                <a:latin typeface="Times New Roman" panose="02020603050405020304" pitchFamily="18" charset="0"/>
                <a:cs typeface="Times New Roman" panose="02020603050405020304" pitchFamily="18" charset="0"/>
              </a:rPr>
              <a:t>B. hipérbaton.</a:t>
            </a:r>
          </a:p>
          <a:p>
            <a:pPr lvl="0" algn="just"/>
            <a:r>
              <a:rPr lang="es-MX" sz="2000" dirty="0">
                <a:latin typeface="Times New Roman" panose="02020603050405020304" pitchFamily="18" charset="0"/>
                <a:cs typeface="Times New Roman" panose="02020603050405020304" pitchFamily="18" charset="0"/>
              </a:rPr>
              <a:t>C. metáfora.</a:t>
            </a:r>
          </a:p>
          <a:p>
            <a:pPr lvl="0" algn="just"/>
            <a:r>
              <a:rPr lang="es-MX" sz="2000" dirty="0">
                <a:latin typeface="Times New Roman" panose="02020603050405020304" pitchFamily="18" charset="0"/>
                <a:cs typeface="Times New Roman" panose="02020603050405020304" pitchFamily="18" charset="0"/>
              </a:rPr>
              <a:t>D. símil.</a:t>
            </a:r>
          </a:p>
        </p:txBody>
      </p:sp>
      <p:sp>
        <p:nvSpPr>
          <p:cNvPr id="2" name="TextShape 1">
            <a:extLst>
              <a:ext uri="{FF2B5EF4-FFF2-40B4-BE49-F238E27FC236}">
                <a16:creationId xmlns:a16="http://schemas.microsoft.com/office/drawing/2014/main" id="{48B9ABDE-8093-C22D-C448-65C3896D30D3}"/>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por competencias: Literatura</a:t>
            </a:r>
            <a:endParaRPr lang="es-PE" sz="2800" b="1" strike="noStrike" spc="-1" dirty="0">
              <a:solidFill>
                <a:srgbClr val="FFFFFF"/>
              </a:solidFill>
              <a:latin typeface="Book Antiqua" panose="02040602050305030304" pitchFamily="18" charset="0"/>
            </a:endParaRPr>
          </a:p>
        </p:txBody>
      </p:sp>
      <p:sp>
        <p:nvSpPr>
          <p:cNvPr id="3" name="4 CuadroTexto">
            <a:extLst>
              <a:ext uri="{FF2B5EF4-FFF2-40B4-BE49-F238E27FC236}">
                <a16:creationId xmlns:a16="http://schemas.microsoft.com/office/drawing/2014/main" id="{F1E37E06-775D-E360-FC15-AECF2724B879}"/>
              </a:ext>
            </a:extLst>
          </p:cNvPr>
          <p:cNvSpPr txBox="1"/>
          <p:nvPr/>
        </p:nvSpPr>
        <p:spPr>
          <a:xfrm>
            <a:off x="5374104" y="3015918"/>
            <a:ext cx="4345895" cy="1074820"/>
          </a:xfrm>
          <a:prstGeom prst="rect">
            <a:avLst/>
          </a:prstGeom>
          <a:noFill/>
        </p:spPr>
        <p:txBody>
          <a:bodyPr wrap="square" rtlCol="0">
            <a:noAutofit/>
          </a:bodyPr>
          <a:lstStyle/>
          <a:p>
            <a:r>
              <a:rPr lang="es-MX" sz="2000" b="1" dirty="0">
                <a:latin typeface="Times New Roman" panose="02020603050405020304" pitchFamily="18" charset="0"/>
                <a:cs typeface="Times New Roman" panose="02020603050405020304" pitchFamily="18" charset="0"/>
              </a:rPr>
              <a:t>Solución. </a:t>
            </a:r>
            <a:r>
              <a:rPr lang="es-MX" sz="2000" dirty="0">
                <a:latin typeface="Times New Roman" panose="02020603050405020304" pitchFamily="18" charset="0"/>
                <a:cs typeface="Times New Roman" panose="02020603050405020304" pitchFamily="18" charset="0"/>
              </a:rPr>
              <a:t>Se trata de una anáfora, pues ella repite una o más palabras al inicio de distintos tipos de enunciados.</a:t>
            </a:r>
          </a:p>
        </p:txBody>
      </p:sp>
      <p:sp>
        <p:nvSpPr>
          <p:cNvPr id="4" name="CuadroTexto 3">
            <a:extLst>
              <a:ext uri="{FF2B5EF4-FFF2-40B4-BE49-F238E27FC236}">
                <a16:creationId xmlns:a16="http://schemas.microsoft.com/office/drawing/2014/main" id="{536C688D-E185-6352-566F-8AA0E77F69DC}"/>
              </a:ext>
            </a:extLst>
          </p:cNvPr>
          <p:cNvSpPr txBox="1"/>
          <p:nvPr/>
        </p:nvSpPr>
        <p:spPr>
          <a:xfrm>
            <a:off x="1504011" y="2419777"/>
            <a:ext cx="303586" cy="415498"/>
          </a:xfrm>
          <a:prstGeom prst="rect">
            <a:avLst/>
          </a:prstGeom>
          <a:noFill/>
        </p:spPr>
        <p:txBody>
          <a:bodyPr wrap="square" rtlCol="0">
            <a:spAutoFit/>
          </a:bodyPr>
          <a:lstStyle/>
          <a:p>
            <a:r>
              <a:rPr lang="es-PE" sz="21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5775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2"/>
          <p:cNvSpPr txBox="1"/>
          <p:nvPr/>
        </p:nvSpPr>
        <p:spPr>
          <a:xfrm>
            <a:off x="350874" y="1272800"/>
            <a:ext cx="9369126" cy="3510000"/>
          </a:xfrm>
          <a:prstGeom prst="rect">
            <a:avLst/>
          </a:prstGeom>
          <a:noFill/>
          <a:ln w="0">
            <a:noFill/>
          </a:ln>
        </p:spPr>
        <p:txBody>
          <a:bodyPr lIns="0" tIns="0" rIns="0" bIns="0">
            <a:noAutofit/>
          </a:bodyPr>
          <a:lstStyle/>
          <a:p>
            <a:pPr lvl="0" algn="just">
              <a:lnSpc>
                <a:spcPct val="125000"/>
              </a:lnSpc>
            </a:pPr>
            <a:r>
              <a:rPr lang="es-MX" sz="2000" i="1" dirty="0">
                <a:latin typeface="Times New Roman" panose="02020603050405020304" pitchFamily="18" charset="0"/>
                <a:cs typeface="Times New Roman" panose="02020603050405020304" pitchFamily="18" charset="0"/>
              </a:rPr>
              <a:t>¡Adiós, hermanos san pedros,</a:t>
            </a:r>
          </a:p>
          <a:p>
            <a:pPr lvl="0" algn="just">
              <a:lnSpc>
                <a:spcPct val="125000"/>
              </a:lnSpc>
            </a:pPr>
            <a:r>
              <a:rPr lang="es-MX" sz="2000" i="1" dirty="0" err="1">
                <a:latin typeface="Times New Roman" panose="02020603050405020304" pitchFamily="18" charset="0"/>
                <a:cs typeface="Times New Roman" panose="02020603050405020304" pitchFamily="18" charset="0"/>
              </a:rPr>
              <a:t>heráclitos</a:t>
            </a:r>
            <a:r>
              <a:rPr lang="es-MX" sz="2000" i="1" dirty="0">
                <a:latin typeface="Times New Roman" panose="02020603050405020304" pitchFamily="18" charset="0"/>
                <a:cs typeface="Times New Roman" panose="02020603050405020304" pitchFamily="18" charset="0"/>
              </a:rPr>
              <a:t>, </a:t>
            </a:r>
            <a:r>
              <a:rPr lang="es-MX" sz="2000" i="1" dirty="0" err="1">
                <a:latin typeface="Times New Roman" panose="02020603050405020304" pitchFamily="18" charset="0"/>
                <a:cs typeface="Times New Roman" panose="02020603050405020304" pitchFamily="18" charset="0"/>
              </a:rPr>
              <a:t>erasmos</a:t>
            </a:r>
            <a:r>
              <a:rPr lang="es-MX" sz="2000" i="1" dirty="0">
                <a:latin typeface="Times New Roman" panose="02020603050405020304" pitchFamily="18" charset="0"/>
                <a:cs typeface="Times New Roman" panose="02020603050405020304" pitchFamily="18" charset="0"/>
              </a:rPr>
              <a:t>, </a:t>
            </a:r>
            <a:r>
              <a:rPr lang="es-MX" sz="2000" i="1" dirty="0" err="1">
                <a:latin typeface="Times New Roman" panose="02020603050405020304" pitchFamily="18" charset="0"/>
                <a:cs typeface="Times New Roman" panose="02020603050405020304" pitchFamily="18" charset="0"/>
              </a:rPr>
              <a:t>espinozas</a:t>
            </a:r>
            <a:r>
              <a:rPr lang="es-MX" sz="2000" i="1" dirty="0">
                <a:latin typeface="Times New Roman" panose="02020603050405020304" pitchFamily="18" charset="0"/>
                <a:cs typeface="Times New Roman" panose="02020603050405020304" pitchFamily="18" charset="0"/>
              </a:rPr>
              <a:t>!</a:t>
            </a:r>
          </a:p>
          <a:p>
            <a:pPr lvl="0" algn="just">
              <a:lnSpc>
                <a:spcPct val="125000"/>
              </a:lnSpc>
            </a:pPr>
            <a:r>
              <a:rPr lang="es-MX" sz="2000" i="1" dirty="0">
                <a:latin typeface="Times New Roman" panose="02020603050405020304" pitchFamily="18" charset="0"/>
                <a:cs typeface="Times New Roman" panose="02020603050405020304" pitchFamily="18" charset="0"/>
              </a:rPr>
              <a:t>¡Adiós, tristes obispos bolcheviques!</a:t>
            </a:r>
          </a:p>
          <a:p>
            <a:pPr lvl="0" algn="just">
              <a:lnSpc>
                <a:spcPct val="125000"/>
              </a:lnSpc>
            </a:pPr>
            <a:r>
              <a:rPr lang="es-MX" sz="2000" i="1" dirty="0">
                <a:latin typeface="Times New Roman" panose="02020603050405020304" pitchFamily="18" charset="0"/>
                <a:cs typeface="Times New Roman" panose="02020603050405020304" pitchFamily="18" charset="0"/>
              </a:rPr>
              <a:t>¡Adiós, gobernadores en desorden!</a:t>
            </a:r>
          </a:p>
          <a:p>
            <a:pPr lvl="0" algn="just">
              <a:lnSpc>
                <a:spcPct val="125000"/>
              </a:lnSpc>
            </a:pPr>
            <a:r>
              <a:rPr lang="es-MX" sz="2000" i="1" dirty="0">
                <a:latin typeface="Times New Roman" panose="02020603050405020304" pitchFamily="18" charset="0"/>
                <a:cs typeface="Times New Roman" panose="02020603050405020304" pitchFamily="18" charset="0"/>
              </a:rPr>
              <a:t>¡Adiós, vino que está en el agua como vino!</a:t>
            </a:r>
          </a:p>
          <a:p>
            <a:pPr lvl="0" algn="just">
              <a:lnSpc>
                <a:spcPct val="125000"/>
              </a:lnSpc>
            </a:pPr>
            <a:r>
              <a:rPr lang="es-MX" sz="2000" i="1" dirty="0">
                <a:latin typeface="Times New Roman" panose="02020603050405020304" pitchFamily="18" charset="0"/>
                <a:cs typeface="Times New Roman" panose="02020603050405020304" pitchFamily="18" charset="0"/>
              </a:rPr>
              <a:t>¡Adiós, alcohol que está en la lluvia!</a:t>
            </a:r>
          </a:p>
          <a:p>
            <a:pPr lvl="0" algn="just"/>
            <a:endParaRPr lang="es-MX" sz="1400" i="1" dirty="0">
              <a:latin typeface="Times New Roman" panose="02020603050405020304" pitchFamily="18" charset="0"/>
              <a:cs typeface="Times New Roman" panose="02020603050405020304" pitchFamily="18" charset="0"/>
            </a:endParaRPr>
          </a:p>
        </p:txBody>
      </p:sp>
      <p:sp>
        <p:nvSpPr>
          <p:cNvPr id="2" name="TextShape 1">
            <a:extLst>
              <a:ext uri="{FF2B5EF4-FFF2-40B4-BE49-F238E27FC236}">
                <a16:creationId xmlns:a16="http://schemas.microsoft.com/office/drawing/2014/main" id="{48B9ABDE-8093-C22D-C448-65C3896D30D3}"/>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por competencias: Literatura</a:t>
            </a:r>
            <a:endParaRPr lang="es-PE" sz="2800" b="1" strike="noStrike" spc="-1" dirty="0">
              <a:solidFill>
                <a:srgbClr val="FFFFFF"/>
              </a:solidFill>
              <a:latin typeface="Book Antiqua" panose="02040602050305030304" pitchFamily="18" charset="0"/>
            </a:endParaRPr>
          </a:p>
        </p:txBody>
      </p:sp>
      <p:sp>
        <p:nvSpPr>
          <p:cNvPr id="3" name="4 CuadroTexto">
            <a:extLst>
              <a:ext uri="{FF2B5EF4-FFF2-40B4-BE49-F238E27FC236}">
                <a16:creationId xmlns:a16="http://schemas.microsoft.com/office/drawing/2014/main" id="{F1E37E06-775D-E360-FC15-AECF2724B879}"/>
              </a:ext>
            </a:extLst>
          </p:cNvPr>
          <p:cNvSpPr txBox="1"/>
          <p:nvPr/>
        </p:nvSpPr>
        <p:spPr>
          <a:xfrm>
            <a:off x="5722293" y="3707980"/>
            <a:ext cx="4345895" cy="1074820"/>
          </a:xfrm>
          <a:prstGeom prst="rect">
            <a:avLst/>
          </a:prstGeom>
          <a:noFill/>
        </p:spPr>
        <p:txBody>
          <a:bodyPr wrap="square" rtlCol="0">
            <a:noAutofit/>
          </a:bodyPr>
          <a:lstStyle/>
          <a:p>
            <a:r>
              <a:rPr lang="es-MX" sz="1600" b="1" dirty="0">
                <a:latin typeface="Times New Roman" panose="02020603050405020304" pitchFamily="18" charset="0"/>
                <a:cs typeface="Times New Roman" panose="02020603050405020304" pitchFamily="18" charset="0"/>
              </a:rPr>
              <a:t>Solución. </a:t>
            </a:r>
            <a:r>
              <a:rPr lang="es-MX" sz="1600" dirty="0">
                <a:latin typeface="Times New Roman" panose="02020603050405020304" pitchFamily="18" charset="0"/>
                <a:cs typeface="Times New Roman" panose="02020603050405020304" pitchFamily="18" charset="0"/>
              </a:rPr>
              <a:t>La figura dominante es la anáfora, pues la palabra “adiós” se repite al inicio de cada verso con el objetivo de enfatizar un sentimiento de despedida.</a:t>
            </a:r>
          </a:p>
        </p:txBody>
      </p:sp>
      <p:sp>
        <p:nvSpPr>
          <p:cNvPr id="5" name="CuadroTexto 4">
            <a:extLst>
              <a:ext uri="{FF2B5EF4-FFF2-40B4-BE49-F238E27FC236}">
                <a16:creationId xmlns:a16="http://schemas.microsoft.com/office/drawing/2014/main" id="{AF6C9D1F-A6C4-13BC-AD6A-73BA38DE7177}"/>
              </a:ext>
            </a:extLst>
          </p:cNvPr>
          <p:cNvSpPr txBox="1"/>
          <p:nvPr/>
        </p:nvSpPr>
        <p:spPr>
          <a:xfrm>
            <a:off x="291826" y="3802872"/>
            <a:ext cx="5430467" cy="1200329"/>
          </a:xfrm>
          <a:prstGeom prst="rect">
            <a:avLst/>
          </a:prstGeom>
          <a:noFill/>
        </p:spPr>
        <p:txBody>
          <a:bodyPr wrap="square" rtlCol="0">
            <a:spAutoFit/>
          </a:bodyPr>
          <a:lstStyle/>
          <a:p>
            <a:pPr defTabSz="457200"/>
            <a:r>
              <a:rPr lang="es-PE" dirty="0">
                <a:latin typeface="Book Antiqua" panose="02040602050305030304" pitchFamily="18" charset="0"/>
                <a:cs typeface="Times New Roman" panose="02020603050405020304" pitchFamily="18" charset="0"/>
              </a:rPr>
              <a:t>A. </a:t>
            </a:r>
            <a:r>
              <a:rPr lang="es-MX" dirty="0">
                <a:latin typeface="Book Antiqua" panose="02040602050305030304" pitchFamily="18" charset="0"/>
                <a:cs typeface="Times New Roman" panose="02020603050405020304" pitchFamily="18" charset="0"/>
              </a:rPr>
              <a:t>Anáfora, mediante el empleo del término </a:t>
            </a:r>
            <a:r>
              <a:rPr lang="es-MX" i="1" dirty="0">
                <a:latin typeface="Book Antiqua" panose="02040602050305030304" pitchFamily="18" charset="0"/>
                <a:cs typeface="Times New Roman" panose="02020603050405020304" pitchFamily="18" charset="0"/>
              </a:rPr>
              <a:t>adiós</a:t>
            </a:r>
            <a:r>
              <a:rPr lang="es-MX" dirty="0">
                <a:latin typeface="Book Antiqua" panose="02040602050305030304" pitchFamily="18" charset="0"/>
                <a:cs typeface="Times New Roman" panose="02020603050405020304" pitchFamily="18" charset="0"/>
              </a:rPr>
              <a:t>. </a:t>
            </a:r>
          </a:p>
          <a:p>
            <a:pPr defTabSz="457200"/>
            <a:r>
              <a:rPr lang="es-MX" dirty="0">
                <a:solidFill>
                  <a:prstClr val="black"/>
                </a:solidFill>
                <a:latin typeface="Book Antiqua" panose="02040602050305030304" pitchFamily="18" charset="0"/>
                <a:cs typeface="Times New Roman" panose="02020603050405020304" pitchFamily="18" charset="0"/>
              </a:rPr>
              <a:t>B. Hipérbaton, en «gobernadores en desorden».</a:t>
            </a:r>
          </a:p>
          <a:p>
            <a:pPr defTabSz="457200"/>
            <a:r>
              <a:rPr lang="es-MX" dirty="0">
                <a:solidFill>
                  <a:prstClr val="black"/>
                </a:solidFill>
                <a:latin typeface="Book Antiqua" panose="02040602050305030304" pitchFamily="18" charset="0"/>
                <a:cs typeface="Times New Roman" panose="02020603050405020304" pitchFamily="18" charset="0"/>
              </a:rPr>
              <a:t>C. Metáfora, por el empleo de la palabra </a:t>
            </a:r>
            <a:r>
              <a:rPr lang="es-MX" i="1" dirty="0">
                <a:solidFill>
                  <a:prstClr val="black"/>
                </a:solidFill>
                <a:latin typeface="Book Antiqua" panose="02040602050305030304" pitchFamily="18" charset="0"/>
                <a:cs typeface="Times New Roman" panose="02020603050405020304" pitchFamily="18" charset="0"/>
              </a:rPr>
              <a:t>vino</a:t>
            </a:r>
            <a:r>
              <a:rPr lang="es-MX" dirty="0">
                <a:solidFill>
                  <a:prstClr val="black"/>
                </a:solidFill>
                <a:latin typeface="Book Antiqua" panose="02040602050305030304" pitchFamily="18" charset="0"/>
                <a:cs typeface="Times New Roman" panose="02020603050405020304" pitchFamily="18" charset="0"/>
              </a:rPr>
              <a:t>.</a:t>
            </a:r>
          </a:p>
          <a:p>
            <a:pPr defTabSz="457200"/>
            <a:r>
              <a:rPr lang="es-MX" dirty="0">
                <a:solidFill>
                  <a:prstClr val="black"/>
                </a:solidFill>
                <a:latin typeface="Book Antiqua" panose="02040602050305030304" pitchFamily="18" charset="0"/>
                <a:cs typeface="Times New Roman" panose="02020603050405020304" pitchFamily="18" charset="0"/>
              </a:rPr>
              <a:t>D. Símil, en el verso «alcohol que está en la lluvia».</a:t>
            </a:r>
          </a:p>
        </p:txBody>
      </p:sp>
      <p:sp>
        <p:nvSpPr>
          <p:cNvPr id="4" name="CuadroTexto 3">
            <a:extLst>
              <a:ext uri="{FF2B5EF4-FFF2-40B4-BE49-F238E27FC236}">
                <a16:creationId xmlns:a16="http://schemas.microsoft.com/office/drawing/2014/main" id="{536C688D-E185-6352-566F-8AA0E77F69DC}"/>
              </a:ext>
            </a:extLst>
          </p:cNvPr>
          <p:cNvSpPr txBox="1"/>
          <p:nvPr/>
        </p:nvSpPr>
        <p:spPr>
          <a:xfrm>
            <a:off x="5307661" y="3659185"/>
            <a:ext cx="246185" cy="415498"/>
          </a:xfrm>
          <a:prstGeom prst="rect">
            <a:avLst/>
          </a:prstGeom>
          <a:noFill/>
        </p:spPr>
        <p:txBody>
          <a:bodyPr wrap="square" rtlCol="0">
            <a:spAutoFit/>
          </a:bodyPr>
          <a:lstStyle/>
          <a:p>
            <a:r>
              <a:rPr lang="es-PE" sz="2100" dirty="0">
                <a:solidFill>
                  <a:srgbClr val="FF0000"/>
                </a:solidFill>
                <a:latin typeface="Times New Roman" panose="02020603050405020304" pitchFamily="18" charset="0"/>
                <a:cs typeface="Times New Roman" panose="02020603050405020304" pitchFamily="18" charset="0"/>
              </a:rPr>
              <a:t>*</a:t>
            </a:r>
          </a:p>
        </p:txBody>
      </p:sp>
      <p:sp>
        <p:nvSpPr>
          <p:cNvPr id="8" name="CuadroTexto 7">
            <a:extLst>
              <a:ext uri="{FF2B5EF4-FFF2-40B4-BE49-F238E27FC236}">
                <a16:creationId xmlns:a16="http://schemas.microsoft.com/office/drawing/2014/main" id="{72B8E153-99EC-4532-9D73-509E17F92BA9}"/>
              </a:ext>
            </a:extLst>
          </p:cNvPr>
          <p:cNvSpPr txBox="1"/>
          <p:nvPr/>
        </p:nvSpPr>
        <p:spPr>
          <a:xfrm>
            <a:off x="5309009" y="1326311"/>
            <a:ext cx="4771616" cy="1477328"/>
          </a:xfrm>
          <a:prstGeom prst="rect">
            <a:avLst/>
          </a:prstGeom>
          <a:noFill/>
        </p:spPr>
        <p:txBody>
          <a:bodyPr wrap="square">
            <a:spAutoFit/>
          </a:bodyPr>
          <a:lstStyle/>
          <a:p>
            <a:pPr lvl="0"/>
            <a:endParaRPr lang="es-MX" sz="1800" dirty="0">
              <a:latin typeface="Times New Roman" panose="02020603050405020304" pitchFamily="18" charset="0"/>
              <a:cs typeface="Times New Roman" panose="02020603050405020304" pitchFamily="18" charset="0"/>
            </a:endParaRPr>
          </a:p>
          <a:p>
            <a:pPr lvl="0"/>
            <a:r>
              <a:rPr lang="es-MX" sz="1800" dirty="0">
                <a:latin typeface="Times New Roman" panose="02020603050405020304" pitchFamily="18" charset="0"/>
                <a:cs typeface="Times New Roman" panose="02020603050405020304" pitchFamily="18" charset="0"/>
              </a:rPr>
              <a:t>En el fragmento citado del poema «Despedida recordando un adiós», de César Vallejo, elija la alternativa que muestra el uso correcto de una figura literaria.</a:t>
            </a:r>
          </a:p>
        </p:txBody>
      </p:sp>
    </p:spTree>
    <p:extLst>
      <p:ext uri="{BB962C8B-B14F-4D97-AF65-F5344CB8AC3E}">
        <p14:creationId xmlns:p14="http://schemas.microsoft.com/office/powerpoint/2010/main" val="2321059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2"/>
          <p:cNvSpPr txBox="1"/>
          <p:nvPr/>
        </p:nvSpPr>
        <p:spPr>
          <a:xfrm>
            <a:off x="350874" y="1350000"/>
            <a:ext cx="9369126" cy="3510000"/>
          </a:xfrm>
          <a:prstGeom prst="rect">
            <a:avLst/>
          </a:prstGeom>
          <a:noFill/>
          <a:ln w="0">
            <a:noFill/>
          </a:ln>
        </p:spPr>
        <p:txBody>
          <a:bodyPr lIns="0" tIns="0" rIns="0" bIns="0">
            <a:noAutofit/>
          </a:bodyPr>
          <a:lstStyle/>
          <a:p>
            <a:pPr lvl="0"/>
            <a:r>
              <a:rPr lang="es-MX" sz="1900" dirty="0">
                <a:latin typeface="Times New Roman" panose="02020603050405020304" pitchFamily="18" charset="0"/>
                <a:cs typeface="Times New Roman" panose="02020603050405020304" pitchFamily="18" charset="0"/>
              </a:rPr>
              <a:t>El protagonista de la novela </a:t>
            </a:r>
            <a:r>
              <a:rPr lang="es-MX" sz="1900" i="1" dirty="0">
                <a:latin typeface="Times New Roman" panose="02020603050405020304" pitchFamily="18" charset="0"/>
                <a:cs typeface="Times New Roman" panose="02020603050405020304" pitchFamily="18" charset="0"/>
              </a:rPr>
              <a:t>Crimen y castigo</a:t>
            </a:r>
            <a:r>
              <a:rPr lang="es-MX" sz="1900" dirty="0">
                <a:latin typeface="Times New Roman" panose="02020603050405020304" pitchFamily="18" charset="0"/>
                <a:cs typeface="Times New Roman" panose="02020603050405020304" pitchFamily="18" charset="0"/>
              </a:rPr>
              <a:t>, </a:t>
            </a:r>
            <a:r>
              <a:rPr lang="es-MX" sz="1900" dirty="0" err="1">
                <a:latin typeface="Times New Roman" panose="02020603050405020304" pitchFamily="18" charset="0"/>
                <a:cs typeface="Times New Roman" panose="02020603050405020304" pitchFamily="18" charset="0"/>
              </a:rPr>
              <a:t>Raskólnikov</a:t>
            </a:r>
            <a:r>
              <a:rPr lang="es-MX" sz="1900" dirty="0">
                <a:latin typeface="Times New Roman" panose="02020603050405020304" pitchFamily="18" charset="0"/>
                <a:cs typeface="Times New Roman" panose="02020603050405020304" pitchFamily="18" charset="0"/>
              </a:rPr>
              <a:t> devela un aspecto característico de su personalidad:</a:t>
            </a:r>
          </a:p>
          <a:p>
            <a:pPr lvl="0"/>
            <a:endParaRPr lang="es-MX" sz="700" dirty="0">
              <a:latin typeface="Times New Roman" panose="02020603050405020304" pitchFamily="18" charset="0"/>
              <a:cs typeface="Times New Roman" panose="02020603050405020304" pitchFamily="18" charset="0"/>
            </a:endParaRPr>
          </a:p>
          <a:p>
            <a:pPr lvl="0"/>
            <a:r>
              <a:rPr lang="es-MX" sz="1900" dirty="0">
                <a:latin typeface="Times New Roman" panose="02020603050405020304" pitchFamily="18" charset="0"/>
                <a:cs typeface="Times New Roman" panose="02020603050405020304" pitchFamily="18" charset="0"/>
              </a:rPr>
              <a:t>A. la creencia de su superioridad sobre la ley y la moral.</a:t>
            </a:r>
          </a:p>
          <a:p>
            <a:pPr lvl="0"/>
            <a:r>
              <a:rPr lang="es-MX" sz="1900" dirty="0">
                <a:latin typeface="Times New Roman" panose="02020603050405020304" pitchFamily="18" charset="0"/>
                <a:cs typeface="Times New Roman" panose="02020603050405020304" pitchFamily="18" charset="0"/>
              </a:rPr>
              <a:t>B. el conflicto interno de carácter psicológico y religioso.</a:t>
            </a:r>
          </a:p>
          <a:p>
            <a:pPr lvl="0"/>
            <a:r>
              <a:rPr lang="es-MX" sz="1900" dirty="0">
                <a:latin typeface="Times New Roman" panose="02020603050405020304" pitchFamily="18" charset="0"/>
                <a:cs typeface="Times New Roman" panose="02020603050405020304" pitchFamily="18" charset="0"/>
              </a:rPr>
              <a:t>C. la preocupación por el bienestar de su propia familia.</a:t>
            </a:r>
          </a:p>
          <a:p>
            <a:pPr lvl="0"/>
            <a:r>
              <a:rPr lang="es-MX" sz="1900" dirty="0">
                <a:latin typeface="Times New Roman" panose="02020603050405020304" pitchFamily="18" charset="0"/>
                <a:cs typeface="Times New Roman" panose="02020603050405020304" pitchFamily="18" charset="0"/>
              </a:rPr>
              <a:t>D. la profunda solidaridad con el sufrimiento humano.</a:t>
            </a:r>
          </a:p>
        </p:txBody>
      </p:sp>
      <p:sp>
        <p:nvSpPr>
          <p:cNvPr id="2" name="TextShape 1">
            <a:extLst>
              <a:ext uri="{FF2B5EF4-FFF2-40B4-BE49-F238E27FC236}">
                <a16:creationId xmlns:a16="http://schemas.microsoft.com/office/drawing/2014/main" id="{48B9ABDE-8093-C22D-C448-65C3896D30D3}"/>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por competencias: Literatura</a:t>
            </a:r>
            <a:endParaRPr lang="es-PE" sz="2800" b="1" strike="noStrike" spc="-1" dirty="0">
              <a:solidFill>
                <a:srgbClr val="FFFFFF"/>
              </a:solidFill>
              <a:latin typeface="Book Antiqua" panose="02040602050305030304" pitchFamily="18" charset="0"/>
            </a:endParaRPr>
          </a:p>
        </p:txBody>
      </p:sp>
      <p:sp>
        <p:nvSpPr>
          <p:cNvPr id="6" name="4 CuadroTexto">
            <a:extLst>
              <a:ext uri="{FF2B5EF4-FFF2-40B4-BE49-F238E27FC236}">
                <a16:creationId xmlns:a16="http://schemas.microsoft.com/office/drawing/2014/main" id="{F52E6832-C521-F7B3-6F2E-420BAC1104EC}"/>
              </a:ext>
            </a:extLst>
          </p:cNvPr>
          <p:cNvSpPr txBox="1"/>
          <p:nvPr/>
        </p:nvSpPr>
        <p:spPr>
          <a:xfrm>
            <a:off x="6141494" y="3805169"/>
            <a:ext cx="3578506" cy="1246282"/>
          </a:xfrm>
          <a:prstGeom prst="rect">
            <a:avLst/>
          </a:prstGeom>
          <a:noFill/>
        </p:spPr>
        <p:txBody>
          <a:bodyPr wrap="square" rtlCol="0">
            <a:noAutofit/>
          </a:bodyPr>
          <a:lstStyle/>
          <a:p>
            <a:r>
              <a:rPr lang="es-PE" sz="1900" b="1" dirty="0">
                <a:latin typeface="Times New Roman" panose="02020603050405020304" pitchFamily="18" charset="0"/>
                <a:cs typeface="Times New Roman" panose="02020603050405020304" pitchFamily="18" charset="0"/>
              </a:rPr>
              <a:t>Solución.</a:t>
            </a:r>
            <a:r>
              <a:rPr lang="es-PE" sz="1900" dirty="0">
                <a:latin typeface="Times New Roman" panose="02020603050405020304" pitchFamily="18" charset="0"/>
                <a:cs typeface="Times New Roman" panose="02020603050405020304" pitchFamily="18" charset="0"/>
              </a:rPr>
              <a:t> </a:t>
            </a:r>
            <a:r>
              <a:rPr lang="es-MX" sz="1900" dirty="0" err="1">
                <a:latin typeface="Times New Roman" panose="02020603050405020304" pitchFamily="18" charset="0"/>
                <a:cs typeface="Times New Roman" panose="02020603050405020304" pitchFamily="18" charset="0"/>
              </a:rPr>
              <a:t>Raskólnikov</a:t>
            </a:r>
            <a:r>
              <a:rPr lang="es-MX" sz="1900" dirty="0">
                <a:latin typeface="Times New Roman" panose="02020603050405020304" pitchFamily="18" charset="0"/>
                <a:cs typeface="Times New Roman" panose="02020603050405020304" pitchFamily="18" charset="0"/>
              </a:rPr>
              <a:t> se caracteriza por se conflictivo y al mismo tiempo religioso.</a:t>
            </a:r>
            <a:endParaRPr lang="es-PE" sz="1900" dirty="0">
              <a:latin typeface="Times New Roman" panose="02020603050405020304" pitchFamily="18" charset="0"/>
              <a:cs typeface="Times New Roman" panose="02020603050405020304" pitchFamily="18" charset="0"/>
            </a:endParaRPr>
          </a:p>
        </p:txBody>
      </p:sp>
      <p:sp>
        <p:nvSpPr>
          <p:cNvPr id="5" name="CuadroTexto 4">
            <a:extLst>
              <a:ext uri="{FF2B5EF4-FFF2-40B4-BE49-F238E27FC236}">
                <a16:creationId xmlns:a16="http://schemas.microsoft.com/office/drawing/2014/main" id="{5F40C1D8-42C1-DC33-084E-B56798C22FA8}"/>
              </a:ext>
            </a:extLst>
          </p:cNvPr>
          <p:cNvSpPr txBox="1"/>
          <p:nvPr/>
        </p:nvSpPr>
        <p:spPr>
          <a:xfrm>
            <a:off x="5744308" y="2356177"/>
            <a:ext cx="246185" cy="415498"/>
          </a:xfrm>
          <a:prstGeom prst="rect">
            <a:avLst/>
          </a:prstGeom>
          <a:noFill/>
        </p:spPr>
        <p:txBody>
          <a:bodyPr wrap="square" rtlCol="0">
            <a:spAutoFit/>
          </a:bodyPr>
          <a:lstStyle/>
          <a:p>
            <a:r>
              <a:rPr lang="es-PE" sz="21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39297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2"/>
          <p:cNvSpPr txBox="1"/>
          <p:nvPr/>
        </p:nvSpPr>
        <p:spPr>
          <a:xfrm>
            <a:off x="350874" y="1350000"/>
            <a:ext cx="9369126" cy="3510000"/>
          </a:xfrm>
          <a:prstGeom prst="rect">
            <a:avLst/>
          </a:prstGeom>
          <a:noFill/>
          <a:ln w="0">
            <a:noFill/>
          </a:ln>
        </p:spPr>
        <p:txBody>
          <a:bodyPr lIns="0" tIns="0" rIns="0" bIns="0">
            <a:noAutofit/>
          </a:bodyPr>
          <a:lstStyle/>
          <a:p>
            <a:pPr lvl="0"/>
            <a:r>
              <a:rPr lang="es-MX" sz="1900" dirty="0">
                <a:latin typeface="Times New Roman" panose="02020603050405020304" pitchFamily="18" charset="0"/>
                <a:cs typeface="Times New Roman" panose="02020603050405020304" pitchFamily="18" charset="0"/>
              </a:rPr>
              <a:t>«Yo necesitaba saber entonces, y saberlo cuanto antes, si yo era también un piojo, como todos, o un hombre. ¿Estaba facultado para transgredir la ley o no lo estaba? ¿Me atrevería a traspasar los límites y aprehender o no? ¿Era yo una criatura que tiembla, o tenía derecho?».</a:t>
            </a:r>
          </a:p>
          <a:p>
            <a:pPr lvl="0"/>
            <a:endParaRPr lang="es-MX" sz="700" dirty="0">
              <a:latin typeface="Times New Roman" panose="02020603050405020304" pitchFamily="18" charset="0"/>
              <a:cs typeface="Times New Roman" panose="02020603050405020304" pitchFamily="18" charset="0"/>
            </a:endParaRPr>
          </a:p>
          <a:p>
            <a:pPr lvl="0"/>
            <a:r>
              <a:rPr lang="es-MX" sz="1900" dirty="0">
                <a:latin typeface="Times New Roman" panose="02020603050405020304" pitchFamily="18" charset="0"/>
                <a:cs typeface="Times New Roman" panose="02020603050405020304" pitchFamily="18" charset="0"/>
              </a:rPr>
              <a:t>El fragmento citado pertenece a </a:t>
            </a:r>
            <a:r>
              <a:rPr lang="es-MX" sz="1900" i="1" dirty="0">
                <a:latin typeface="Times New Roman" panose="02020603050405020304" pitchFamily="18" charset="0"/>
                <a:cs typeface="Times New Roman" panose="02020603050405020304" pitchFamily="18" charset="0"/>
              </a:rPr>
              <a:t>Crimen y castigo</a:t>
            </a:r>
            <a:r>
              <a:rPr lang="es-MX" sz="1900" dirty="0">
                <a:latin typeface="Times New Roman" panose="02020603050405020304" pitchFamily="18" charset="0"/>
                <a:cs typeface="Times New Roman" panose="02020603050405020304" pitchFamily="18" charset="0"/>
              </a:rPr>
              <a:t>, de Fedor Dostoievski. En él, </a:t>
            </a:r>
            <a:r>
              <a:rPr lang="es-MX" sz="1900" dirty="0" err="1">
                <a:latin typeface="Times New Roman" panose="02020603050405020304" pitchFamily="18" charset="0"/>
                <a:cs typeface="Times New Roman" panose="02020603050405020304" pitchFamily="18" charset="0"/>
              </a:rPr>
              <a:t>Raskólnikov</a:t>
            </a:r>
            <a:r>
              <a:rPr lang="es-MX" sz="1900" dirty="0">
                <a:latin typeface="Times New Roman" panose="02020603050405020304" pitchFamily="18" charset="0"/>
                <a:cs typeface="Times New Roman" panose="02020603050405020304" pitchFamily="18" charset="0"/>
              </a:rPr>
              <a:t> se confiesa a Sonia y en su confesión devela un aspecto característico de su personalidad, que es</a:t>
            </a:r>
          </a:p>
          <a:p>
            <a:pPr lvl="0"/>
            <a:endParaRPr lang="es-MX" sz="700" dirty="0">
              <a:latin typeface="Times New Roman" panose="02020603050405020304" pitchFamily="18" charset="0"/>
              <a:cs typeface="Times New Roman" panose="02020603050405020304" pitchFamily="18" charset="0"/>
            </a:endParaRPr>
          </a:p>
          <a:p>
            <a:pPr lvl="0"/>
            <a:r>
              <a:rPr lang="es-MX" sz="1900" dirty="0">
                <a:latin typeface="Times New Roman" panose="02020603050405020304" pitchFamily="18" charset="0"/>
                <a:cs typeface="Times New Roman" panose="02020603050405020304" pitchFamily="18" charset="0"/>
              </a:rPr>
              <a:t>A. la creencia de su superioridad sobre la ley y la moral.</a:t>
            </a:r>
          </a:p>
          <a:p>
            <a:pPr lvl="0"/>
            <a:r>
              <a:rPr lang="es-MX" sz="1900" dirty="0">
                <a:latin typeface="Times New Roman" panose="02020603050405020304" pitchFamily="18" charset="0"/>
                <a:cs typeface="Times New Roman" panose="02020603050405020304" pitchFamily="18" charset="0"/>
              </a:rPr>
              <a:t>B. el conflicto interno de carácter psicológico y religioso.</a:t>
            </a:r>
          </a:p>
          <a:p>
            <a:pPr lvl="0"/>
            <a:r>
              <a:rPr lang="es-MX" sz="1900" dirty="0">
                <a:latin typeface="Times New Roman" panose="02020603050405020304" pitchFamily="18" charset="0"/>
                <a:cs typeface="Times New Roman" panose="02020603050405020304" pitchFamily="18" charset="0"/>
              </a:rPr>
              <a:t>C. la preocupación por el bienestar de su propia familia.</a:t>
            </a:r>
          </a:p>
          <a:p>
            <a:pPr lvl="0"/>
            <a:r>
              <a:rPr lang="es-MX" sz="1900" dirty="0">
                <a:latin typeface="Times New Roman" panose="02020603050405020304" pitchFamily="18" charset="0"/>
                <a:cs typeface="Times New Roman" panose="02020603050405020304" pitchFamily="18" charset="0"/>
              </a:rPr>
              <a:t>D. la profunda solidaridad con el sufrimiento humano.</a:t>
            </a:r>
          </a:p>
        </p:txBody>
      </p:sp>
      <p:sp>
        <p:nvSpPr>
          <p:cNvPr id="2" name="TextShape 1">
            <a:extLst>
              <a:ext uri="{FF2B5EF4-FFF2-40B4-BE49-F238E27FC236}">
                <a16:creationId xmlns:a16="http://schemas.microsoft.com/office/drawing/2014/main" id="{48B9ABDE-8093-C22D-C448-65C3896D30D3}"/>
              </a:ext>
            </a:extLst>
          </p:cNvPr>
          <p:cNvSpPr txBox="1"/>
          <p:nvPr/>
        </p:nvSpPr>
        <p:spPr>
          <a:xfrm>
            <a:off x="350874" y="182013"/>
            <a:ext cx="9369126" cy="892731"/>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por competencias: Literatura</a:t>
            </a:r>
            <a:endParaRPr lang="es-PE" sz="2800" b="1" strike="noStrike" spc="-1" dirty="0">
              <a:solidFill>
                <a:srgbClr val="FFFFFF"/>
              </a:solidFill>
              <a:latin typeface="Book Antiqua" panose="02040602050305030304" pitchFamily="18" charset="0"/>
            </a:endParaRPr>
          </a:p>
        </p:txBody>
      </p:sp>
      <p:sp>
        <p:nvSpPr>
          <p:cNvPr id="6" name="4 CuadroTexto">
            <a:extLst>
              <a:ext uri="{FF2B5EF4-FFF2-40B4-BE49-F238E27FC236}">
                <a16:creationId xmlns:a16="http://schemas.microsoft.com/office/drawing/2014/main" id="{F52E6832-C521-F7B3-6F2E-420BAC1104EC}"/>
              </a:ext>
            </a:extLst>
          </p:cNvPr>
          <p:cNvSpPr txBox="1"/>
          <p:nvPr/>
        </p:nvSpPr>
        <p:spPr>
          <a:xfrm>
            <a:off x="6141494" y="3805169"/>
            <a:ext cx="3731376" cy="1683368"/>
          </a:xfrm>
          <a:prstGeom prst="rect">
            <a:avLst/>
          </a:prstGeom>
          <a:noFill/>
        </p:spPr>
        <p:txBody>
          <a:bodyPr wrap="square" rtlCol="0">
            <a:noAutofit/>
          </a:bodyPr>
          <a:lstStyle/>
          <a:p>
            <a:r>
              <a:rPr lang="es-PE" sz="1600" b="1" dirty="0">
                <a:latin typeface="Times New Roman" panose="02020603050405020304" pitchFamily="18" charset="0"/>
                <a:cs typeface="Times New Roman" panose="02020603050405020304" pitchFamily="18" charset="0"/>
              </a:rPr>
              <a:t>Solución.</a:t>
            </a:r>
            <a:r>
              <a:rPr lang="es-PE" sz="1600" dirty="0">
                <a:latin typeface="Times New Roman" panose="02020603050405020304" pitchFamily="18" charset="0"/>
                <a:cs typeface="Times New Roman" panose="02020603050405020304" pitchFamily="18" charset="0"/>
              </a:rPr>
              <a:t> </a:t>
            </a:r>
            <a:r>
              <a:rPr lang="es-MX" sz="1600" dirty="0">
                <a:latin typeface="Times New Roman" panose="02020603050405020304" pitchFamily="18" charset="0"/>
                <a:cs typeface="Times New Roman" panose="02020603050405020304" pitchFamily="18" charset="0"/>
              </a:rPr>
              <a:t>En la obra, </a:t>
            </a:r>
            <a:r>
              <a:rPr lang="es-MX" sz="1600" dirty="0" err="1">
                <a:latin typeface="Times New Roman" panose="02020603050405020304" pitchFamily="18" charset="0"/>
                <a:cs typeface="Times New Roman" panose="02020603050405020304" pitchFamily="18" charset="0"/>
              </a:rPr>
              <a:t>Raskólnikov</a:t>
            </a:r>
            <a:r>
              <a:rPr lang="es-MX" sz="1600" dirty="0">
                <a:latin typeface="Times New Roman" panose="02020603050405020304" pitchFamily="18" charset="0"/>
                <a:cs typeface="Times New Roman" panose="02020603050405020304" pitchFamily="18" charset="0"/>
              </a:rPr>
              <a:t> el conflicto entre no cumplir la ley y la afirmación de su propia moral. Este conflicto se ve incrementado por su postura frente a la religión.</a:t>
            </a:r>
            <a:endParaRPr lang="es-PE" sz="1600" dirty="0">
              <a:latin typeface="Times New Roman" panose="02020603050405020304" pitchFamily="18" charset="0"/>
              <a:cs typeface="Times New Roman" panose="02020603050405020304" pitchFamily="18" charset="0"/>
            </a:endParaRPr>
          </a:p>
        </p:txBody>
      </p:sp>
      <p:sp>
        <p:nvSpPr>
          <p:cNvPr id="5" name="CuadroTexto 4">
            <a:extLst>
              <a:ext uri="{FF2B5EF4-FFF2-40B4-BE49-F238E27FC236}">
                <a16:creationId xmlns:a16="http://schemas.microsoft.com/office/drawing/2014/main" id="{5F40C1D8-42C1-DC33-084E-B56798C22FA8}"/>
              </a:ext>
            </a:extLst>
          </p:cNvPr>
          <p:cNvSpPr txBox="1"/>
          <p:nvPr/>
        </p:nvSpPr>
        <p:spPr>
          <a:xfrm>
            <a:off x="5756031" y="3364355"/>
            <a:ext cx="246185" cy="415498"/>
          </a:xfrm>
          <a:prstGeom prst="rect">
            <a:avLst/>
          </a:prstGeom>
          <a:noFill/>
        </p:spPr>
        <p:txBody>
          <a:bodyPr wrap="square" rtlCol="0">
            <a:spAutoFit/>
          </a:bodyPr>
          <a:lstStyle/>
          <a:p>
            <a:r>
              <a:rPr lang="es-PE" sz="21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4383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68542-AF01-8B2E-277F-BCB286305CB0}"/>
            </a:ext>
          </a:extLst>
        </p:cNvPr>
        <p:cNvGrpSpPr/>
        <p:nvPr/>
      </p:nvGrpSpPr>
      <p:grpSpPr>
        <a:xfrm>
          <a:off x="0" y="0"/>
          <a:ext cx="0" cy="0"/>
          <a:chOff x="0" y="0"/>
          <a:chExt cx="0" cy="0"/>
        </a:xfrm>
      </p:grpSpPr>
      <p:sp>
        <p:nvSpPr>
          <p:cNvPr id="119" name="TextShape 2">
            <a:extLst>
              <a:ext uri="{FF2B5EF4-FFF2-40B4-BE49-F238E27FC236}">
                <a16:creationId xmlns:a16="http://schemas.microsoft.com/office/drawing/2014/main" id="{E0A3FD6E-0FD3-11FC-1D8B-D21B2476D7DE}"/>
              </a:ext>
            </a:extLst>
          </p:cNvPr>
          <p:cNvSpPr txBox="1"/>
          <p:nvPr/>
        </p:nvSpPr>
        <p:spPr>
          <a:xfrm>
            <a:off x="350874" y="1350000"/>
            <a:ext cx="5651342" cy="3510000"/>
          </a:xfrm>
          <a:prstGeom prst="rect">
            <a:avLst/>
          </a:prstGeom>
          <a:noFill/>
          <a:ln w="0">
            <a:noFill/>
          </a:ln>
        </p:spPr>
        <p:txBody>
          <a:bodyPr lIns="0" tIns="0" rIns="0" bIns="0">
            <a:noAutofit/>
          </a:bodyPr>
          <a:lstStyle/>
          <a:p>
            <a:pPr lvl="0"/>
            <a:endParaRPr lang="es-MX" sz="700" dirty="0">
              <a:latin typeface="Times New Roman" panose="02020603050405020304" pitchFamily="18" charset="0"/>
              <a:cs typeface="Times New Roman" panose="02020603050405020304" pitchFamily="18" charset="0"/>
            </a:endParaRPr>
          </a:p>
          <a:p>
            <a:pPr lvl="0"/>
            <a:r>
              <a:rPr lang="es-PE" sz="2000" dirty="0">
                <a:latin typeface="Book Antiqua" panose="02040602050305030304" pitchFamily="18" charset="0"/>
              </a:rPr>
              <a:t>Indique qué personaje es la matriarca de la familia Buendía de </a:t>
            </a:r>
            <a:r>
              <a:rPr lang="es-PE" sz="2000" i="1" dirty="0">
                <a:latin typeface="Book Antiqua" panose="02040602050305030304" pitchFamily="18" charset="0"/>
              </a:rPr>
              <a:t>Cien años de soledad </a:t>
            </a:r>
            <a:r>
              <a:rPr lang="es-PE" sz="2000" dirty="0">
                <a:latin typeface="Book Antiqua" panose="02040602050305030304" pitchFamily="18" charset="0"/>
              </a:rPr>
              <a:t>de García Márquez</a:t>
            </a:r>
          </a:p>
          <a:p>
            <a:r>
              <a:rPr lang="es-PE" sz="2000" dirty="0"/>
              <a:t> </a:t>
            </a:r>
            <a:endParaRPr lang="es-MX" sz="2000" dirty="0">
              <a:latin typeface="Times New Roman" panose="02020603050405020304" pitchFamily="18" charset="0"/>
              <a:cs typeface="Times New Roman" panose="02020603050405020304" pitchFamily="18" charset="0"/>
            </a:endParaRPr>
          </a:p>
          <a:p>
            <a:pPr marL="342900" lvl="0" indent="-342900">
              <a:buFont typeface="+mj-lt"/>
              <a:buAutoNum type="alphaUcPeriod"/>
            </a:pPr>
            <a:r>
              <a:rPr lang="es-PE" sz="2000" dirty="0">
                <a:latin typeface="Book Antiqua" panose="02040602050305030304" pitchFamily="18" charset="0"/>
              </a:rPr>
              <a:t>Úrsula Iguarán *</a:t>
            </a:r>
          </a:p>
          <a:p>
            <a:pPr marL="342900" lvl="0" indent="-342900">
              <a:buFont typeface="+mj-lt"/>
              <a:buAutoNum type="alphaUcPeriod"/>
            </a:pPr>
            <a:r>
              <a:rPr lang="es-PE" sz="2000" dirty="0">
                <a:latin typeface="Book Antiqua" panose="02040602050305030304" pitchFamily="18" charset="0"/>
              </a:rPr>
              <a:t>Remedios la bella</a:t>
            </a:r>
          </a:p>
          <a:p>
            <a:pPr marL="342900" lvl="0" indent="-342900">
              <a:buFont typeface="+mj-lt"/>
              <a:buAutoNum type="alphaUcPeriod"/>
            </a:pPr>
            <a:r>
              <a:rPr lang="es-PE" sz="2000" dirty="0">
                <a:latin typeface="Book Antiqua" panose="02040602050305030304" pitchFamily="18" charset="0"/>
              </a:rPr>
              <a:t>Amaranta Úrsula</a:t>
            </a:r>
          </a:p>
          <a:p>
            <a:pPr marL="342900" lvl="0" indent="-342900">
              <a:buFont typeface="+mj-lt"/>
              <a:buAutoNum type="alphaUcPeriod"/>
            </a:pPr>
            <a:r>
              <a:rPr lang="es-PE" sz="2000" dirty="0">
                <a:latin typeface="Book Antiqua" panose="02040602050305030304" pitchFamily="18" charset="0"/>
              </a:rPr>
              <a:t>Rebeca</a:t>
            </a:r>
          </a:p>
          <a:p>
            <a:pPr marL="342900" lvl="0" indent="-342900">
              <a:buFont typeface="+mj-lt"/>
              <a:buAutoNum type="alphaUcPeriod"/>
            </a:pPr>
            <a:r>
              <a:rPr lang="es-PE" sz="2000" dirty="0">
                <a:latin typeface="Book Antiqua" panose="02040602050305030304" pitchFamily="18" charset="0"/>
              </a:rPr>
              <a:t>Pilar Ternera</a:t>
            </a:r>
          </a:p>
          <a:p>
            <a:r>
              <a:rPr lang="es-PE" sz="2000" dirty="0"/>
              <a:t> </a:t>
            </a:r>
          </a:p>
        </p:txBody>
      </p:sp>
      <p:sp>
        <p:nvSpPr>
          <p:cNvPr id="2" name="TextShape 1">
            <a:extLst>
              <a:ext uri="{FF2B5EF4-FFF2-40B4-BE49-F238E27FC236}">
                <a16:creationId xmlns:a16="http://schemas.microsoft.com/office/drawing/2014/main" id="{CE3BAE42-E5A3-6F08-88D3-97F8C056CEE4}"/>
              </a:ext>
            </a:extLst>
          </p:cNvPr>
          <p:cNvSpPr txBox="1"/>
          <p:nvPr/>
        </p:nvSpPr>
        <p:spPr>
          <a:xfrm>
            <a:off x="350874" y="182013"/>
            <a:ext cx="5790620" cy="892731"/>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por competencias: Literatura</a:t>
            </a:r>
            <a:endParaRPr lang="es-PE" sz="2800" b="1" strike="noStrike" spc="-1" dirty="0">
              <a:solidFill>
                <a:srgbClr val="FFFFFF"/>
              </a:solidFill>
              <a:latin typeface="Book Antiqua" panose="02040602050305030304" pitchFamily="18" charset="0"/>
            </a:endParaRPr>
          </a:p>
        </p:txBody>
      </p:sp>
      <p:sp>
        <p:nvSpPr>
          <p:cNvPr id="6" name="4 CuadroTexto">
            <a:extLst>
              <a:ext uri="{FF2B5EF4-FFF2-40B4-BE49-F238E27FC236}">
                <a16:creationId xmlns:a16="http://schemas.microsoft.com/office/drawing/2014/main" id="{F363A07D-7D72-8613-3329-414FDC65E728}"/>
              </a:ext>
            </a:extLst>
          </p:cNvPr>
          <p:cNvSpPr txBox="1"/>
          <p:nvPr/>
        </p:nvSpPr>
        <p:spPr>
          <a:xfrm>
            <a:off x="5598155" y="3042479"/>
            <a:ext cx="3939131" cy="2092087"/>
          </a:xfrm>
          <a:prstGeom prst="rect">
            <a:avLst/>
          </a:prstGeom>
          <a:noFill/>
        </p:spPr>
        <p:txBody>
          <a:bodyPr wrap="square" rtlCol="0">
            <a:noAutofit/>
          </a:bodyPr>
          <a:lstStyle/>
          <a:p>
            <a:r>
              <a:rPr lang="es-PE" sz="1400" b="1" dirty="0">
                <a:latin typeface="Book Antiqua" panose="02040602050305030304" pitchFamily="18" charset="0"/>
                <a:cs typeface="Times New Roman" panose="02020603050405020304" pitchFamily="18" charset="0"/>
              </a:rPr>
              <a:t>Solución.</a:t>
            </a:r>
            <a:r>
              <a:rPr lang="es-PE" sz="1400" dirty="0">
                <a:latin typeface="Book Antiqua" panose="02040602050305030304" pitchFamily="18" charset="0"/>
                <a:cs typeface="Times New Roman" panose="02020603050405020304" pitchFamily="18" charset="0"/>
              </a:rPr>
              <a:t> </a:t>
            </a:r>
            <a:r>
              <a:rPr lang="es-PE" sz="1400" dirty="0">
                <a:latin typeface="Book Antiqua" panose="02040602050305030304" pitchFamily="18" charset="0"/>
              </a:rPr>
              <a:t>Úrsula Iguarán es la matriarca de la familia Buendía en la mencionada novela</a:t>
            </a:r>
          </a:p>
          <a:p>
            <a:endParaRPr lang="es-PE"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3229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C0D20-CF57-5F7A-BC7A-26D9AA3DD487}"/>
            </a:ext>
          </a:extLst>
        </p:cNvPr>
        <p:cNvGrpSpPr/>
        <p:nvPr/>
      </p:nvGrpSpPr>
      <p:grpSpPr>
        <a:xfrm>
          <a:off x="0" y="0"/>
          <a:ext cx="0" cy="0"/>
          <a:chOff x="0" y="0"/>
          <a:chExt cx="0" cy="0"/>
        </a:xfrm>
      </p:grpSpPr>
      <p:sp>
        <p:nvSpPr>
          <p:cNvPr id="119" name="TextShape 2">
            <a:extLst>
              <a:ext uri="{FF2B5EF4-FFF2-40B4-BE49-F238E27FC236}">
                <a16:creationId xmlns:a16="http://schemas.microsoft.com/office/drawing/2014/main" id="{8701F6EA-1F71-8279-58BD-5A14065943B4}"/>
              </a:ext>
            </a:extLst>
          </p:cNvPr>
          <p:cNvSpPr txBox="1"/>
          <p:nvPr/>
        </p:nvSpPr>
        <p:spPr>
          <a:xfrm>
            <a:off x="350874" y="1074744"/>
            <a:ext cx="5651342" cy="3785256"/>
          </a:xfrm>
          <a:prstGeom prst="rect">
            <a:avLst/>
          </a:prstGeom>
          <a:noFill/>
          <a:ln w="0">
            <a:noFill/>
          </a:ln>
        </p:spPr>
        <p:txBody>
          <a:bodyPr lIns="0" tIns="0" rIns="0" bIns="0">
            <a:noAutofit/>
          </a:bodyPr>
          <a:lstStyle/>
          <a:p>
            <a:pPr lvl="0"/>
            <a:endParaRPr lang="es-MX" sz="700" dirty="0">
              <a:latin typeface="Times New Roman" panose="02020603050405020304" pitchFamily="18" charset="0"/>
              <a:cs typeface="Times New Roman" panose="02020603050405020304" pitchFamily="18" charset="0"/>
            </a:endParaRPr>
          </a:p>
          <a:p>
            <a:pPr lvl="0"/>
            <a:r>
              <a:rPr lang="es-PE" dirty="0">
                <a:latin typeface="Book Antiqua" panose="02040602050305030304" pitchFamily="18" charset="0"/>
              </a:rPr>
              <a:t>Aunque la siguiente imagen no es fiel a la trama de la novela </a:t>
            </a:r>
            <a:r>
              <a:rPr lang="es-PE" i="1" dirty="0">
                <a:latin typeface="Book Antiqua" panose="02040602050305030304" pitchFamily="18" charset="0"/>
              </a:rPr>
              <a:t>Cien años de Soledad</a:t>
            </a:r>
            <a:r>
              <a:rPr lang="es-PE" dirty="0">
                <a:latin typeface="Book Antiqua" panose="02040602050305030304" pitchFamily="18" charset="0"/>
              </a:rPr>
              <a:t> de Gabriel García Márquez, su intención es mostrar dos circunstancias de uno de los personajes de esta obra. Analice la imagen, señale de quien se trata y cuáles son las circunstancias a las que alude.</a:t>
            </a:r>
          </a:p>
          <a:p>
            <a:pPr lvl="0"/>
            <a:endParaRPr lang="es-PE" dirty="0">
              <a:latin typeface="Book Antiqua" panose="02040602050305030304" pitchFamily="18" charset="0"/>
            </a:endParaRPr>
          </a:p>
          <a:p>
            <a:r>
              <a:rPr lang="es-PE" dirty="0"/>
              <a:t> </a:t>
            </a:r>
            <a:endParaRPr lang="es-MX" sz="1900" dirty="0">
              <a:latin typeface="Times New Roman" panose="02020603050405020304" pitchFamily="18" charset="0"/>
              <a:cs typeface="Times New Roman" panose="02020603050405020304" pitchFamily="18" charset="0"/>
            </a:endParaRPr>
          </a:p>
          <a:p>
            <a:pPr marL="342900" lvl="0" indent="-342900">
              <a:buFont typeface="+mj-lt"/>
              <a:buAutoNum type="alphaUcPeriod"/>
            </a:pPr>
            <a:r>
              <a:rPr lang="es-PE" sz="1600" dirty="0">
                <a:latin typeface="Book Antiqua" panose="02040602050305030304" pitchFamily="18" charset="0"/>
              </a:rPr>
              <a:t>Úrsula Iguarán, su diminuto tamaño y su muerte *</a:t>
            </a:r>
          </a:p>
          <a:p>
            <a:pPr marL="342900" lvl="0" indent="-342900">
              <a:buFont typeface="+mj-lt"/>
              <a:buAutoNum type="alphaUcPeriod"/>
            </a:pPr>
            <a:r>
              <a:rPr lang="es-PE" sz="1600" dirty="0">
                <a:latin typeface="Book Antiqua" panose="02040602050305030304" pitchFamily="18" charset="0"/>
              </a:rPr>
              <a:t>Remedios la bella, su ascensión al cielo y su inconfundible olor</a:t>
            </a:r>
          </a:p>
          <a:p>
            <a:pPr marL="342900" lvl="0" indent="-342900">
              <a:buFont typeface="+mj-lt"/>
              <a:buAutoNum type="alphaUcPeriod"/>
            </a:pPr>
            <a:r>
              <a:rPr lang="es-PE" sz="1600" dirty="0">
                <a:latin typeface="Book Antiqua" panose="02040602050305030304" pitchFamily="18" charset="0"/>
              </a:rPr>
              <a:t>Amaranta Úrsula, su regreso de Europa y su muerte</a:t>
            </a:r>
          </a:p>
          <a:p>
            <a:pPr marL="342900" lvl="0" indent="-342900">
              <a:buFont typeface="+mj-lt"/>
              <a:buAutoNum type="alphaUcPeriod"/>
            </a:pPr>
            <a:r>
              <a:rPr lang="es-PE" sz="1600" dirty="0">
                <a:latin typeface="Book Antiqua" panose="02040602050305030304" pitchFamily="18" charset="0"/>
              </a:rPr>
              <a:t>Rebeca, su orfandad y su hábito de comer tierra</a:t>
            </a:r>
          </a:p>
          <a:p>
            <a:pPr marL="342900" lvl="0" indent="-342900">
              <a:buFont typeface="+mj-lt"/>
              <a:buAutoNum type="alphaUcPeriod"/>
            </a:pPr>
            <a:r>
              <a:rPr lang="es-PE" sz="1600" dirty="0">
                <a:latin typeface="Book Antiqua" panose="02040602050305030304" pitchFamily="18" charset="0"/>
              </a:rPr>
              <a:t>Pilar Ternera, sus predicciones del futuro y su entierro</a:t>
            </a:r>
          </a:p>
          <a:p>
            <a:r>
              <a:rPr lang="es-PE" dirty="0"/>
              <a:t> </a:t>
            </a:r>
          </a:p>
        </p:txBody>
      </p:sp>
      <p:sp>
        <p:nvSpPr>
          <p:cNvPr id="2" name="TextShape 1">
            <a:extLst>
              <a:ext uri="{FF2B5EF4-FFF2-40B4-BE49-F238E27FC236}">
                <a16:creationId xmlns:a16="http://schemas.microsoft.com/office/drawing/2014/main" id="{52E520AA-298D-2912-FCE3-3D44560D5E85}"/>
              </a:ext>
            </a:extLst>
          </p:cNvPr>
          <p:cNvSpPr txBox="1"/>
          <p:nvPr/>
        </p:nvSpPr>
        <p:spPr>
          <a:xfrm>
            <a:off x="350874" y="182013"/>
            <a:ext cx="5790620" cy="892731"/>
          </a:xfrm>
          <a:prstGeom prst="rect">
            <a:avLst/>
          </a:prstGeom>
          <a:noFill/>
          <a:ln w="0">
            <a:noFill/>
          </a:ln>
        </p:spPr>
        <p:txBody>
          <a:bodyPr lIns="0" tIns="0" rIns="0" bIns="0" anchor="ctr" anchorCtr="0">
            <a:noAutofit/>
          </a:bodyPr>
          <a:lstStyle/>
          <a:p>
            <a:r>
              <a:rPr lang="es-PE" sz="2800" b="1" spc="-1" dirty="0">
                <a:solidFill>
                  <a:srgbClr val="FFFFFF"/>
                </a:solidFill>
                <a:latin typeface="Book Antiqua" panose="02040602050305030304" pitchFamily="18" charset="0"/>
              </a:rPr>
              <a:t>Ítem por competencias: Literatura</a:t>
            </a:r>
            <a:endParaRPr lang="es-PE" sz="2800" b="1" strike="noStrike" spc="-1" dirty="0">
              <a:solidFill>
                <a:srgbClr val="FFFFFF"/>
              </a:solidFill>
              <a:latin typeface="Book Antiqua" panose="02040602050305030304" pitchFamily="18" charset="0"/>
            </a:endParaRPr>
          </a:p>
        </p:txBody>
      </p:sp>
      <p:sp>
        <p:nvSpPr>
          <p:cNvPr id="6" name="4 CuadroTexto">
            <a:extLst>
              <a:ext uri="{FF2B5EF4-FFF2-40B4-BE49-F238E27FC236}">
                <a16:creationId xmlns:a16="http://schemas.microsoft.com/office/drawing/2014/main" id="{65F9ECCA-977A-BB6E-A346-17F77740371A}"/>
              </a:ext>
            </a:extLst>
          </p:cNvPr>
          <p:cNvSpPr txBox="1"/>
          <p:nvPr/>
        </p:nvSpPr>
        <p:spPr>
          <a:xfrm>
            <a:off x="6141494" y="2835275"/>
            <a:ext cx="3939131" cy="2092087"/>
          </a:xfrm>
          <a:prstGeom prst="rect">
            <a:avLst/>
          </a:prstGeom>
          <a:noFill/>
        </p:spPr>
        <p:txBody>
          <a:bodyPr wrap="square" rtlCol="0">
            <a:noAutofit/>
          </a:bodyPr>
          <a:lstStyle/>
          <a:p>
            <a:r>
              <a:rPr lang="es-PE" sz="1400" b="1" dirty="0">
                <a:latin typeface="Book Antiqua" panose="02040602050305030304" pitchFamily="18" charset="0"/>
                <a:cs typeface="Times New Roman" panose="02020603050405020304" pitchFamily="18" charset="0"/>
              </a:rPr>
              <a:t>Solución.</a:t>
            </a:r>
            <a:r>
              <a:rPr lang="es-PE" sz="1400" dirty="0">
                <a:latin typeface="Book Antiqua" panose="02040602050305030304" pitchFamily="18" charset="0"/>
                <a:cs typeface="Times New Roman" panose="02020603050405020304" pitchFamily="18" charset="0"/>
              </a:rPr>
              <a:t> </a:t>
            </a:r>
            <a:r>
              <a:rPr lang="es-PE" sz="1400" dirty="0">
                <a:latin typeface="Book Antiqua" panose="02040602050305030304" pitchFamily="18" charset="0"/>
              </a:rPr>
              <a:t>Úrsula Iguarán es la matriarca que a una edad avanzada comienza a empequeñecer (a tal punto que sus nietos jugaban con ella como si fuera una muñeca) y eso se evidencia en la imagen si se compara el tamaño de las manos que la sostienen con el tamaño de su cuerpo. También la imagen hace alusión a su muerte pues ella, un personaje siempre muy activo, ya se encuentra en reposo. La muerte está simbolizada, además, por la noche. </a:t>
            </a:r>
          </a:p>
          <a:p>
            <a:endParaRPr lang="es-PE" sz="1900" dirty="0">
              <a:latin typeface="Times New Roman" panose="02020603050405020304" pitchFamily="18" charset="0"/>
              <a:cs typeface="Times New Roman" panose="02020603050405020304" pitchFamily="18" charset="0"/>
            </a:endParaRPr>
          </a:p>
        </p:txBody>
      </p:sp>
      <p:sp>
        <p:nvSpPr>
          <p:cNvPr id="5" name="CuadroTexto 4">
            <a:extLst>
              <a:ext uri="{FF2B5EF4-FFF2-40B4-BE49-F238E27FC236}">
                <a16:creationId xmlns:a16="http://schemas.microsoft.com/office/drawing/2014/main" id="{16A533BC-7CB6-CD22-53C5-74D0C5351103}"/>
              </a:ext>
            </a:extLst>
          </p:cNvPr>
          <p:cNvSpPr txBox="1"/>
          <p:nvPr/>
        </p:nvSpPr>
        <p:spPr>
          <a:xfrm>
            <a:off x="5040312" y="3324599"/>
            <a:ext cx="246185" cy="415498"/>
          </a:xfrm>
          <a:prstGeom prst="rect">
            <a:avLst/>
          </a:prstGeom>
          <a:noFill/>
        </p:spPr>
        <p:txBody>
          <a:bodyPr wrap="square" rtlCol="0">
            <a:spAutoFit/>
          </a:bodyPr>
          <a:lstStyle/>
          <a:p>
            <a:r>
              <a:rPr lang="es-PE" sz="2100" dirty="0">
                <a:solidFill>
                  <a:srgbClr val="FF0000"/>
                </a:solidFill>
                <a:latin typeface="Times New Roman" panose="02020603050405020304" pitchFamily="18" charset="0"/>
                <a:cs typeface="Times New Roman" panose="02020603050405020304" pitchFamily="18" charset="0"/>
              </a:rPr>
              <a:t>*</a:t>
            </a:r>
          </a:p>
        </p:txBody>
      </p:sp>
      <p:pic>
        <p:nvPicPr>
          <p:cNvPr id="3" name="Imagen 2">
            <a:extLst>
              <a:ext uri="{FF2B5EF4-FFF2-40B4-BE49-F238E27FC236}">
                <a16:creationId xmlns:a16="http://schemas.microsoft.com/office/drawing/2014/main" id="{90A024EF-F382-AE81-04F2-C797F5B5370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7191" y="420552"/>
            <a:ext cx="3482560" cy="2321706"/>
          </a:xfrm>
          <a:prstGeom prst="rect">
            <a:avLst/>
          </a:prstGeom>
          <a:noFill/>
          <a:ln>
            <a:noFill/>
          </a:ln>
        </p:spPr>
      </p:pic>
    </p:spTree>
    <p:extLst>
      <p:ext uri="{BB962C8B-B14F-4D97-AF65-F5344CB8AC3E}">
        <p14:creationId xmlns:p14="http://schemas.microsoft.com/office/powerpoint/2010/main" val="2960889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3717B-B7A6-365A-A991-D8E77D7B0327}"/>
            </a:ext>
          </a:extLst>
        </p:cNvPr>
        <p:cNvGrpSpPr/>
        <p:nvPr/>
      </p:nvGrpSpPr>
      <p:grpSpPr>
        <a:xfrm>
          <a:off x="0" y="0"/>
          <a:ext cx="0" cy="0"/>
          <a:chOff x="0" y="0"/>
          <a:chExt cx="0" cy="0"/>
        </a:xfrm>
      </p:grpSpPr>
      <p:sp>
        <p:nvSpPr>
          <p:cNvPr id="90" name="TextShape 1">
            <a:extLst>
              <a:ext uri="{FF2B5EF4-FFF2-40B4-BE49-F238E27FC236}">
                <a16:creationId xmlns:a16="http://schemas.microsoft.com/office/drawing/2014/main" id="{3AF76E05-8223-910E-8162-BD3C67400821}"/>
              </a:ext>
            </a:extLst>
          </p:cNvPr>
          <p:cNvSpPr txBox="1"/>
          <p:nvPr/>
        </p:nvSpPr>
        <p:spPr>
          <a:xfrm>
            <a:off x="360000" y="270000"/>
            <a:ext cx="9360000" cy="720000"/>
          </a:xfrm>
          <a:prstGeom prst="rect">
            <a:avLst/>
          </a:prstGeom>
          <a:noFill/>
          <a:ln w="0">
            <a:noFill/>
          </a:ln>
        </p:spPr>
        <p:txBody>
          <a:bodyPr lIns="0" tIns="0" rIns="0" bIns="0" anchor="ctr" anchorCtr="0">
            <a:noAutofit/>
          </a:bodyPr>
          <a:lstStyle/>
          <a:p>
            <a:pPr algn="ctr">
              <a:spcBef>
                <a:spcPct val="0"/>
              </a:spcBef>
              <a:spcAft>
                <a:spcPts val="600"/>
              </a:spcAft>
            </a:pPr>
            <a:r>
              <a:rPr lang="es-MX" sz="2800" b="1" strike="noStrike" kern="1200" spc="-1" dirty="0">
                <a:solidFill>
                  <a:srgbClr val="FFFFFF"/>
                </a:solidFill>
                <a:latin typeface="Book Antiqua" panose="02040602050305030304" pitchFamily="18" charset="0"/>
              </a:rPr>
              <a:t>Ejemplo de construcción de ítem</a:t>
            </a:r>
            <a:endParaRPr lang="en-US" sz="2800" b="1" strike="noStrike" kern="1200" spc="-1" dirty="0">
              <a:solidFill>
                <a:srgbClr val="FFFFFF"/>
              </a:solidFill>
              <a:latin typeface="Book Antiqua" panose="02040602050305030304" pitchFamily="18" charset="0"/>
            </a:endParaRPr>
          </a:p>
        </p:txBody>
      </p:sp>
      <p:sp>
        <p:nvSpPr>
          <p:cNvPr id="91" name="TextShape 2">
            <a:extLst>
              <a:ext uri="{FF2B5EF4-FFF2-40B4-BE49-F238E27FC236}">
                <a16:creationId xmlns:a16="http://schemas.microsoft.com/office/drawing/2014/main" id="{D75993E6-7F71-98B7-125F-0A370AF607A3}"/>
              </a:ext>
            </a:extLst>
          </p:cNvPr>
          <p:cNvSpPr txBox="1"/>
          <p:nvPr/>
        </p:nvSpPr>
        <p:spPr>
          <a:xfrm>
            <a:off x="359999" y="1152939"/>
            <a:ext cx="9359999" cy="3970045"/>
          </a:xfrm>
          <a:prstGeom prst="rect">
            <a:avLst/>
          </a:prstGeom>
          <a:noFill/>
          <a:ln w="0">
            <a:noFill/>
          </a:ln>
        </p:spPr>
        <p:txBody>
          <a:bodyPr lIns="0" tIns="0" rIns="0" bIns="0">
            <a:normAutofit/>
          </a:bodyPr>
          <a:lstStyle/>
          <a:p>
            <a:pPr lvl="0"/>
            <a:r>
              <a:rPr lang="es-PE" sz="2400" dirty="0">
                <a:latin typeface="Book Antiqua" panose="02040602050305030304" pitchFamily="18" charset="0"/>
              </a:rPr>
              <a:t>Señale una característica del Romanticismo europeo.  </a:t>
            </a:r>
          </a:p>
          <a:p>
            <a:pPr lvl="0"/>
            <a:endParaRPr lang="es-PE" sz="2400" dirty="0">
              <a:latin typeface="Book Antiqua" panose="02040602050305030304" pitchFamily="18" charset="0"/>
            </a:endParaRPr>
          </a:p>
          <a:p>
            <a:pPr marL="342900" lvl="0" indent="-342900">
              <a:buFont typeface="+mj-lt"/>
              <a:buAutoNum type="alphaUcPeriod"/>
            </a:pPr>
            <a:r>
              <a:rPr lang="es-PE" sz="2400" dirty="0">
                <a:latin typeface="Book Antiqua" panose="02040602050305030304" pitchFamily="18" charset="0"/>
              </a:rPr>
              <a:t>Culto al yo *</a:t>
            </a:r>
          </a:p>
          <a:p>
            <a:pPr marL="342900" lvl="0" indent="-342900">
              <a:buFont typeface="+mj-lt"/>
              <a:buAutoNum type="alphaUcPeriod"/>
            </a:pPr>
            <a:r>
              <a:rPr lang="es-PE" sz="2400" dirty="0">
                <a:latin typeface="Book Antiqua" panose="02040602050305030304" pitchFamily="18" charset="0"/>
              </a:rPr>
              <a:t>Respeto por las reglas clásicas</a:t>
            </a:r>
          </a:p>
          <a:p>
            <a:pPr marL="342900" lvl="0" indent="-342900">
              <a:buFont typeface="+mj-lt"/>
              <a:buAutoNum type="alphaUcPeriod"/>
            </a:pPr>
            <a:r>
              <a:rPr lang="es-PE" sz="2400" dirty="0">
                <a:latin typeface="Book Antiqua" panose="02040602050305030304" pitchFamily="18" charset="0"/>
              </a:rPr>
              <a:t>Alejamiento de la naturaleza</a:t>
            </a:r>
          </a:p>
          <a:p>
            <a:pPr marL="342900" lvl="0" indent="-342900">
              <a:buFont typeface="+mj-lt"/>
              <a:buAutoNum type="alphaUcPeriod"/>
            </a:pPr>
            <a:r>
              <a:rPr lang="es-PE" sz="2400" dirty="0">
                <a:latin typeface="Book Antiqua" panose="02040602050305030304" pitchFamily="18" charset="0"/>
              </a:rPr>
              <a:t>Exaltación del Renacimiento </a:t>
            </a:r>
          </a:p>
          <a:p>
            <a:r>
              <a:rPr lang="es-PE" sz="2400" dirty="0"/>
              <a:t> </a:t>
            </a:r>
          </a:p>
          <a:p>
            <a:pPr>
              <a:spcAft>
                <a:spcPts val="853"/>
              </a:spcAft>
            </a:pPr>
            <a:endParaRPr lang="es-PE" sz="2600" strike="noStrike" spc="-1" dirty="0">
              <a:solidFill>
                <a:srgbClr val="1C1C1C"/>
              </a:solidFill>
              <a:latin typeface="Book Antiqua" panose="02040602050305030304" pitchFamily="18" charset="0"/>
            </a:endParaRPr>
          </a:p>
        </p:txBody>
      </p:sp>
    </p:spTree>
    <p:extLst>
      <p:ext uri="{BB962C8B-B14F-4D97-AF65-F5344CB8AC3E}">
        <p14:creationId xmlns:p14="http://schemas.microsoft.com/office/powerpoint/2010/main" val="9881257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4712D-D851-4D3B-AB2E-D54365B499EB}"/>
            </a:ext>
          </a:extLst>
        </p:cNvPr>
        <p:cNvGrpSpPr/>
        <p:nvPr/>
      </p:nvGrpSpPr>
      <p:grpSpPr>
        <a:xfrm>
          <a:off x="0" y="0"/>
          <a:ext cx="0" cy="0"/>
          <a:chOff x="0" y="0"/>
          <a:chExt cx="0" cy="0"/>
        </a:xfrm>
      </p:grpSpPr>
      <p:sp>
        <p:nvSpPr>
          <p:cNvPr id="90" name="TextShape 1">
            <a:extLst>
              <a:ext uri="{FF2B5EF4-FFF2-40B4-BE49-F238E27FC236}">
                <a16:creationId xmlns:a16="http://schemas.microsoft.com/office/drawing/2014/main" id="{D6363CD3-3BC2-E920-8CF7-B6AF81D58EC1}"/>
              </a:ext>
            </a:extLst>
          </p:cNvPr>
          <p:cNvSpPr txBox="1"/>
          <p:nvPr/>
        </p:nvSpPr>
        <p:spPr>
          <a:xfrm>
            <a:off x="360000" y="270000"/>
            <a:ext cx="9360000" cy="720000"/>
          </a:xfrm>
          <a:prstGeom prst="rect">
            <a:avLst/>
          </a:prstGeom>
          <a:noFill/>
          <a:ln w="0">
            <a:noFill/>
          </a:ln>
        </p:spPr>
        <p:txBody>
          <a:bodyPr lIns="0" tIns="0" rIns="0" bIns="0" anchor="ctr" anchorCtr="0">
            <a:noAutofit/>
          </a:bodyPr>
          <a:lstStyle/>
          <a:p>
            <a:pPr algn="ctr">
              <a:spcBef>
                <a:spcPct val="0"/>
              </a:spcBef>
              <a:spcAft>
                <a:spcPts val="600"/>
              </a:spcAft>
            </a:pPr>
            <a:r>
              <a:rPr lang="es-MX" sz="2800" b="1" spc="-1" dirty="0">
                <a:solidFill>
                  <a:srgbClr val="FFFFFF"/>
                </a:solidFill>
                <a:latin typeface="Book Antiqua" panose="02040602050305030304" pitchFamily="18" charset="0"/>
              </a:rPr>
              <a:t>Ejemplo de construcción de ítem</a:t>
            </a:r>
            <a:endParaRPr lang="en-US" sz="2800" b="1" spc="-1" dirty="0">
              <a:solidFill>
                <a:srgbClr val="FFFFFF"/>
              </a:solidFill>
              <a:latin typeface="Book Antiqua" panose="02040602050305030304" pitchFamily="18" charset="0"/>
            </a:endParaRPr>
          </a:p>
        </p:txBody>
      </p:sp>
      <p:sp>
        <p:nvSpPr>
          <p:cNvPr id="91" name="TextShape 2">
            <a:extLst>
              <a:ext uri="{FF2B5EF4-FFF2-40B4-BE49-F238E27FC236}">
                <a16:creationId xmlns:a16="http://schemas.microsoft.com/office/drawing/2014/main" id="{12DAE7DA-3933-A40D-B147-BEE2A6B5B202}"/>
              </a:ext>
            </a:extLst>
          </p:cNvPr>
          <p:cNvSpPr txBox="1"/>
          <p:nvPr/>
        </p:nvSpPr>
        <p:spPr>
          <a:xfrm>
            <a:off x="359999" y="1789043"/>
            <a:ext cx="9359999" cy="3333941"/>
          </a:xfrm>
          <a:prstGeom prst="rect">
            <a:avLst/>
          </a:prstGeom>
          <a:noFill/>
          <a:ln w="0">
            <a:noFill/>
          </a:ln>
        </p:spPr>
        <p:txBody>
          <a:bodyPr lIns="0" tIns="0" rIns="0" bIns="0">
            <a:normAutofit/>
          </a:bodyPr>
          <a:lstStyle/>
          <a:p>
            <a:pPr lvl="0"/>
            <a:r>
              <a:rPr lang="es-PE" sz="2000" dirty="0">
                <a:latin typeface="Book Antiqua" panose="02040602050305030304" pitchFamily="18" charset="0"/>
              </a:rPr>
              <a:t>El Romanticismo europeo mostró, como uno de sus rasgos, un espíritu contradictorio que se manifestó en una persistente vacilación entre sentimientos opuestos. Señale, luego de leer el siguiente fragmento de la leyenda “La ajorca de oro” de Gustavo Adolfo Bécquer, cuál es la alternativa que mejor expresa esa condición contradictoria.</a:t>
            </a:r>
          </a:p>
          <a:p>
            <a:r>
              <a:rPr lang="es-PE" sz="1600" dirty="0">
                <a:latin typeface="Book Antiqua" panose="02040602050305030304" pitchFamily="18" charset="0"/>
              </a:rPr>
              <a:t> </a:t>
            </a:r>
          </a:p>
          <a:p>
            <a:r>
              <a:rPr lang="es-PE" dirty="0"/>
              <a:t> </a:t>
            </a:r>
          </a:p>
          <a:p>
            <a:pPr>
              <a:spcAft>
                <a:spcPts val="853"/>
              </a:spcAft>
            </a:pPr>
            <a:endParaRPr lang="es-PE" sz="2600" strike="noStrike" spc="-1" dirty="0">
              <a:solidFill>
                <a:srgbClr val="1C1C1C"/>
              </a:solidFill>
              <a:latin typeface="Book Antiqua" panose="02040602050305030304" pitchFamily="18" charset="0"/>
            </a:endParaRPr>
          </a:p>
        </p:txBody>
      </p:sp>
    </p:spTree>
    <p:extLst>
      <p:ext uri="{BB962C8B-B14F-4D97-AF65-F5344CB8AC3E}">
        <p14:creationId xmlns:p14="http://schemas.microsoft.com/office/powerpoint/2010/main" val="20944142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B3754-717B-6BBF-556E-B5798ACFB7C6}"/>
            </a:ext>
          </a:extLst>
        </p:cNvPr>
        <p:cNvGrpSpPr/>
        <p:nvPr/>
      </p:nvGrpSpPr>
      <p:grpSpPr>
        <a:xfrm>
          <a:off x="0" y="0"/>
          <a:ext cx="0" cy="0"/>
          <a:chOff x="0" y="0"/>
          <a:chExt cx="0" cy="0"/>
        </a:xfrm>
      </p:grpSpPr>
      <p:sp>
        <p:nvSpPr>
          <p:cNvPr id="90" name="TextShape 1">
            <a:extLst>
              <a:ext uri="{FF2B5EF4-FFF2-40B4-BE49-F238E27FC236}">
                <a16:creationId xmlns:a16="http://schemas.microsoft.com/office/drawing/2014/main" id="{BC3A092E-30B2-A168-69AE-A38A01D4E47D}"/>
              </a:ext>
            </a:extLst>
          </p:cNvPr>
          <p:cNvSpPr txBox="1"/>
          <p:nvPr/>
        </p:nvSpPr>
        <p:spPr>
          <a:xfrm>
            <a:off x="360000" y="270000"/>
            <a:ext cx="9360000" cy="720000"/>
          </a:xfrm>
          <a:prstGeom prst="rect">
            <a:avLst/>
          </a:prstGeom>
          <a:noFill/>
          <a:ln w="0">
            <a:noFill/>
          </a:ln>
        </p:spPr>
        <p:txBody>
          <a:bodyPr lIns="0" tIns="0" rIns="0" bIns="0" anchor="ctr" anchorCtr="0">
            <a:noAutofit/>
          </a:bodyPr>
          <a:lstStyle/>
          <a:p>
            <a:pPr algn="ctr">
              <a:spcBef>
                <a:spcPct val="0"/>
              </a:spcBef>
              <a:spcAft>
                <a:spcPts val="600"/>
              </a:spcAft>
            </a:pPr>
            <a:r>
              <a:rPr lang="es-MX" sz="2800" b="1" spc="-1" dirty="0">
                <a:solidFill>
                  <a:srgbClr val="FFFFFF"/>
                </a:solidFill>
                <a:latin typeface="Book Antiqua" panose="02040602050305030304" pitchFamily="18" charset="0"/>
              </a:rPr>
              <a:t>Ejemplo de construcción de ítem</a:t>
            </a:r>
            <a:endParaRPr lang="en-US" sz="2800" b="1" spc="-1" dirty="0">
              <a:solidFill>
                <a:srgbClr val="FFFFFF"/>
              </a:solidFill>
              <a:latin typeface="Book Antiqua" panose="02040602050305030304" pitchFamily="18" charset="0"/>
            </a:endParaRPr>
          </a:p>
        </p:txBody>
      </p:sp>
      <p:sp>
        <p:nvSpPr>
          <p:cNvPr id="91" name="TextShape 2">
            <a:extLst>
              <a:ext uri="{FF2B5EF4-FFF2-40B4-BE49-F238E27FC236}">
                <a16:creationId xmlns:a16="http://schemas.microsoft.com/office/drawing/2014/main" id="{CF0C3C17-16BF-9212-2904-FF410F3BEC83}"/>
              </a:ext>
            </a:extLst>
          </p:cNvPr>
          <p:cNvSpPr txBox="1"/>
          <p:nvPr/>
        </p:nvSpPr>
        <p:spPr>
          <a:xfrm>
            <a:off x="359999" y="1152939"/>
            <a:ext cx="9359999" cy="3970045"/>
          </a:xfrm>
          <a:prstGeom prst="rect">
            <a:avLst/>
          </a:prstGeom>
          <a:noFill/>
          <a:ln w="0">
            <a:noFill/>
          </a:ln>
        </p:spPr>
        <p:txBody>
          <a:bodyPr lIns="0" tIns="0" rIns="0" bIns="0">
            <a:normAutofit/>
          </a:bodyPr>
          <a:lstStyle/>
          <a:p>
            <a:pPr lvl="0"/>
            <a:r>
              <a:rPr lang="es-PE" sz="2000" dirty="0">
                <a:latin typeface="Book Antiqua" panose="02040602050305030304" pitchFamily="18" charset="0"/>
              </a:rPr>
              <a:t>El Romanticismo europeo mostró, como uno de sus rasgos, un espíritu contradictorio que se manifestó en una persistente vacilación entre sentimientos opuestos. Señale, luego de leer el siguiente fragmento de la leyenda “La ajorca de oro” de Gustavo Adolfo Bécquer, cuál es la alternativa que mejor expresa esa condición contradictoria.</a:t>
            </a:r>
          </a:p>
          <a:p>
            <a:r>
              <a:rPr lang="es-PE" sz="2000" dirty="0">
                <a:latin typeface="Book Antiqua" panose="02040602050305030304" pitchFamily="18" charset="0"/>
              </a:rPr>
              <a:t> </a:t>
            </a:r>
          </a:p>
          <a:p>
            <a:r>
              <a:rPr lang="es-PE" sz="2000" dirty="0">
                <a:latin typeface="Book Antiqua" panose="02040602050305030304" pitchFamily="18" charset="0"/>
              </a:rPr>
              <a:t>«Él la amaba; la amaba con ese amor que no conoce freno ni límites; la amaba con ese amor en que se busca un goce y sólo se encuentran martirios; amor que se asemeja a la felicidad, y que, no obstante, parece infundir el cielo para la expiación de una culpa ».</a:t>
            </a:r>
          </a:p>
          <a:p>
            <a:endParaRPr lang="es-PE" sz="2000" dirty="0">
              <a:latin typeface="Book Antiqua" panose="02040602050305030304" pitchFamily="18" charset="0"/>
            </a:endParaRPr>
          </a:p>
          <a:p>
            <a:pPr>
              <a:spcAft>
                <a:spcPts val="853"/>
              </a:spcAft>
            </a:pPr>
            <a:endParaRPr lang="es-PE" sz="2600" strike="noStrike" spc="-1" dirty="0">
              <a:solidFill>
                <a:srgbClr val="1C1C1C"/>
              </a:solidFill>
              <a:latin typeface="Book Antiqua" panose="02040602050305030304" pitchFamily="18" charset="0"/>
            </a:endParaRPr>
          </a:p>
        </p:txBody>
      </p:sp>
    </p:spTree>
    <p:extLst>
      <p:ext uri="{BB962C8B-B14F-4D97-AF65-F5344CB8AC3E}">
        <p14:creationId xmlns:p14="http://schemas.microsoft.com/office/powerpoint/2010/main" val="23024626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1539C-8455-4C78-738F-FF6E96EB3BE7}"/>
            </a:ext>
          </a:extLst>
        </p:cNvPr>
        <p:cNvGrpSpPr/>
        <p:nvPr/>
      </p:nvGrpSpPr>
      <p:grpSpPr>
        <a:xfrm>
          <a:off x="0" y="0"/>
          <a:ext cx="0" cy="0"/>
          <a:chOff x="0" y="0"/>
          <a:chExt cx="0" cy="0"/>
        </a:xfrm>
      </p:grpSpPr>
      <p:sp>
        <p:nvSpPr>
          <p:cNvPr id="90" name="TextShape 1">
            <a:extLst>
              <a:ext uri="{FF2B5EF4-FFF2-40B4-BE49-F238E27FC236}">
                <a16:creationId xmlns:a16="http://schemas.microsoft.com/office/drawing/2014/main" id="{BC2F1570-D78B-A6BE-5732-15E493AA3C41}"/>
              </a:ext>
            </a:extLst>
          </p:cNvPr>
          <p:cNvSpPr txBox="1"/>
          <p:nvPr/>
        </p:nvSpPr>
        <p:spPr>
          <a:xfrm>
            <a:off x="360000" y="270000"/>
            <a:ext cx="9360000" cy="720000"/>
          </a:xfrm>
          <a:prstGeom prst="rect">
            <a:avLst/>
          </a:prstGeom>
          <a:noFill/>
          <a:ln w="0">
            <a:noFill/>
          </a:ln>
        </p:spPr>
        <p:txBody>
          <a:bodyPr lIns="0" tIns="0" rIns="0" bIns="0" anchor="ctr" anchorCtr="0">
            <a:noAutofit/>
          </a:bodyPr>
          <a:lstStyle/>
          <a:p>
            <a:pPr algn="ctr">
              <a:spcBef>
                <a:spcPct val="0"/>
              </a:spcBef>
              <a:spcAft>
                <a:spcPts val="600"/>
              </a:spcAft>
            </a:pPr>
            <a:r>
              <a:rPr lang="es-MX" sz="2800" b="1" spc="-1" dirty="0">
                <a:solidFill>
                  <a:srgbClr val="FFFFFF"/>
                </a:solidFill>
                <a:latin typeface="Book Antiqua" panose="02040602050305030304" pitchFamily="18" charset="0"/>
              </a:rPr>
              <a:t>Ejemplo de construcción de ítem</a:t>
            </a:r>
            <a:endParaRPr lang="en-US" sz="2800" b="1" spc="-1" dirty="0">
              <a:solidFill>
                <a:srgbClr val="FFFFFF"/>
              </a:solidFill>
              <a:latin typeface="Book Antiqua" panose="02040602050305030304" pitchFamily="18" charset="0"/>
            </a:endParaRPr>
          </a:p>
        </p:txBody>
      </p:sp>
      <p:sp>
        <p:nvSpPr>
          <p:cNvPr id="91" name="TextShape 2">
            <a:extLst>
              <a:ext uri="{FF2B5EF4-FFF2-40B4-BE49-F238E27FC236}">
                <a16:creationId xmlns:a16="http://schemas.microsoft.com/office/drawing/2014/main" id="{A23CD4BE-52AE-DD30-E80B-F8541E4A3E49}"/>
              </a:ext>
            </a:extLst>
          </p:cNvPr>
          <p:cNvSpPr txBox="1"/>
          <p:nvPr/>
        </p:nvSpPr>
        <p:spPr>
          <a:xfrm>
            <a:off x="359999" y="1152939"/>
            <a:ext cx="9359999" cy="3970045"/>
          </a:xfrm>
          <a:prstGeom prst="rect">
            <a:avLst/>
          </a:prstGeom>
          <a:noFill/>
          <a:ln w="0">
            <a:noFill/>
          </a:ln>
        </p:spPr>
        <p:txBody>
          <a:bodyPr lIns="0" tIns="0" rIns="0" bIns="0">
            <a:normAutofit/>
          </a:bodyPr>
          <a:lstStyle/>
          <a:p>
            <a:pPr lvl="0"/>
            <a:r>
              <a:rPr lang="es-PE" sz="1600" dirty="0">
                <a:latin typeface="Book Antiqua" panose="02040602050305030304" pitchFamily="18" charset="0"/>
              </a:rPr>
              <a:t>El Romanticismo europeo mostró, como uno de sus rasgos, un espíritu contradictorio que se manifestó en una persistente vacilación entre sentimientos opuestos. Señale, luego de leer el siguiente fragmento de la leyenda “La ajorca de oro” de Gustavo Adolfo Bécquer, cuál es la alternativa que mejor expresa esa condición contradictoria.</a:t>
            </a:r>
          </a:p>
          <a:p>
            <a:r>
              <a:rPr lang="es-PE" sz="1600" dirty="0">
                <a:latin typeface="Book Antiqua" panose="02040602050305030304" pitchFamily="18" charset="0"/>
              </a:rPr>
              <a:t> </a:t>
            </a:r>
          </a:p>
          <a:p>
            <a:r>
              <a:rPr lang="es-PE" sz="1600" dirty="0">
                <a:latin typeface="Book Antiqua" panose="02040602050305030304" pitchFamily="18" charset="0"/>
              </a:rPr>
              <a:t>«Él la amaba; la amaba con ese amor que no conoce freno ni límites; la amaba con ese amor en que se busca un goce y sólo se encuentran martirios; amor que se asemeja a la felicidad, y que, no obstante, parece infundir el cielo para la expiación de una culpa ».</a:t>
            </a:r>
          </a:p>
          <a:p>
            <a:endParaRPr lang="es-PE" sz="1600" dirty="0">
              <a:latin typeface="Book Antiqua" panose="02040602050305030304" pitchFamily="18" charset="0"/>
            </a:endParaRPr>
          </a:p>
          <a:p>
            <a:pPr marL="342900" lvl="0" indent="-342900">
              <a:buFont typeface="+mj-lt"/>
              <a:buAutoNum type="alphaUcPeriod"/>
            </a:pPr>
            <a:r>
              <a:rPr lang="es-PE" sz="1600" dirty="0">
                <a:latin typeface="Book Antiqua" panose="02040602050305030304" pitchFamily="18" charset="0"/>
              </a:rPr>
              <a:t>amor en que se busca un goce y sólo se encuentran martirios </a:t>
            </a:r>
          </a:p>
          <a:p>
            <a:pPr marL="342900" lvl="0" indent="-342900">
              <a:buFont typeface="+mj-lt"/>
              <a:buAutoNum type="alphaUcPeriod"/>
            </a:pPr>
            <a:r>
              <a:rPr lang="es-PE" sz="1600" dirty="0">
                <a:latin typeface="Book Antiqua" panose="02040602050305030304" pitchFamily="18" charset="0"/>
              </a:rPr>
              <a:t>parece infundir el cielo para la expiación de una culpa</a:t>
            </a:r>
          </a:p>
          <a:p>
            <a:pPr marL="342900" lvl="0" indent="-342900">
              <a:buFont typeface="+mj-lt"/>
              <a:buAutoNum type="alphaUcPeriod"/>
            </a:pPr>
            <a:r>
              <a:rPr lang="es-PE" sz="1600" dirty="0">
                <a:latin typeface="Book Antiqua" panose="02040602050305030304" pitchFamily="18" charset="0"/>
              </a:rPr>
              <a:t>amor que se asemeja a la felicidad</a:t>
            </a:r>
          </a:p>
          <a:p>
            <a:pPr marL="342900" lvl="0" indent="-342900">
              <a:buFont typeface="+mj-lt"/>
              <a:buAutoNum type="alphaUcPeriod"/>
            </a:pPr>
            <a:r>
              <a:rPr lang="es-PE" sz="1600" dirty="0">
                <a:latin typeface="Book Antiqua" panose="02040602050305030304" pitchFamily="18" charset="0"/>
              </a:rPr>
              <a:t>la amaba con ese amor que no conoce freno ni límites</a:t>
            </a:r>
          </a:p>
          <a:p>
            <a:r>
              <a:rPr lang="es-PE" dirty="0"/>
              <a:t> </a:t>
            </a:r>
          </a:p>
          <a:p>
            <a:pPr>
              <a:spcAft>
                <a:spcPts val="853"/>
              </a:spcAft>
            </a:pPr>
            <a:endParaRPr lang="es-PE" sz="2600" strike="noStrike" spc="-1" dirty="0">
              <a:solidFill>
                <a:srgbClr val="1C1C1C"/>
              </a:solidFill>
              <a:latin typeface="Book Antiqua" panose="02040602050305030304" pitchFamily="18" charset="0"/>
            </a:endParaRPr>
          </a:p>
        </p:txBody>
      </p:sp>
    </p:spTree>
    <p:extLst>
      <p:ext uri="{BB962C8B-B14F-4D97-AF65-F5344CB8AC3E}">
        <p14:creationId xmlns:p14="http://schemas.microsoft.com/office/powerpoint/2010/main" val="23618510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A827C-E1D7-BC1B-2BDC-BBFC467A26E8}"/>
            </a:ext>
          </a:extLst>
        </p:cNvPr>
        <p:cNvGrpSpPr/>
        <p:nvPr/>
      </p:nvGrpSpPr>
      <p:grpSpPr>
        <a:xfrm>
          <a:off x="0" y="0"/>
          <a:ext cx="0" cy="0"/>
          <a:chOff x="0" y="0"/>
          <a:chExt cx="0" cy="0"/>
        </a:xfrm>
      </p:grpSpPr>
      <p:sp>
        <p:nvSpPr>
          <p:cNvPr id="90" name="TextShape 1">
            <a:extLst>
              <a:ext uri="{FF2B5EF4-FFF2-40B4-BE49-F238E27FC236}">
                <a16:creationId xmlns:a16="http://schemas.microsoft.com/office/drawing/2014/main" id="{1D268B71-4E70-E372-7B4F-C07B2D1DEF1F}"/>
              </a:ext>
            </a:extLst>
          </p:cNvPr>
          <p:cNvSpPr txBox="1"/>
          <p:nvPr/>
        </p:nvSpPr>
        <p:spPr>
          <a:xfrm>
            <a:off x="360000" y="270000"/>
            <a:ext cx="9360000" cy="720000"/>
          </a:xfrm>
          <a:prstGeom prst="rect">
            <a:avLst/>
          </a:prstGeom>
          <a:noFill/>
          <a:ln w="0">
            <a:noFill/>
          </a:ln>
        </p:spPr>
        <p:txBody>
          <a:bodyPr lIns="0" tIns="0" rIns="0" bIns="0" anchor="ctr" anchorCtr="0">
            <a:noAutofit/>
          </a:bodyPr>
          <a:lstStyle/>
          <a:p>
            <a:pPr algn="ctr">
              <a:spcBef>
                <a:spcPct val="0"/>
              </a:spcBef>
              <a:spcAft>
                <a:spcPts val="600"/>
              </a:spcAft>
            </a:pPr>
            <a:r>
              <a:rPr lang="es-MX" sz="2800" b="1" spc="-1" dirty="0">
                <a:solidFill>
                  <a:srgbClr val="FFFFFF"/>
                </a:solidFill>
                <a:latin typeface="Book Antiqua" panose="02040602050305030304" pitchFamily="18" charset="0"/>
              </a:rPr>
              <a:t>Ejemplo de construcción de ítem</a:t>
            </a:r>
            <a:endParaRPr lang="en-US" sz="2800" b="1" spc="-1" dirty="0">
              <a:solidFill>
                <a:srgbClr val="FFFFFF"/>
              </a:solidFill>
              <a:latin typeface="Book Antiqua" panose="02040602050305030304" pitchFamily="18" charset="0"/>
            </a:endParaRPr>
          </a:p>
        </p:txBody>
      </p:sp>
      <p:sp>
        <p:nvSpPr>
          <p:cNvPr id="91" name="TextShape 2">
            <a:extLst>
              <a:ext uri="{FF2B5EF4-FFF2-40B4-BE49-F238E27FC236}">
                <a16:creationId xmlns:a16="http://schemas.microsoft.com/office/drawing/2014/main" id="{D9261FCE-6A5D-5FF1-8CA7-F4128ABDE476}"/>
              </a:ext>
            </a:extLst>
          </p:cNvPr>
          <p:cNvSpPr txBox="1"/>
          <p:nvPr/>
        </p:nvSpPr>
        <p:spPr>
          <a:xfrm>
            <a:off x="359999" y="1152939"/>
            <a:ext cx="9359999" cy="3970045"/>
          </a:xfrm>
          <a:prstGeom prst="rect">
            <a:avLst/>
          </a:prstGeom>
          <a:noFill/>
          <a:ln w="0">
            <a:noFill/>
          </a:ln>
        </p:spPr>
        <p:txBody>
          <a:bodyPr lIns="0" tIns="0" rIns="0" bIns="0">
            <a:normAutofit/>
          </a:bodyPr>
          <a:lstStyle/>
          <a:p>
            <a:pPr lvl="0"/>
            <a:r>
              <a:rPr lang="es-PE" sz="1600" dirty="0">
                <a:latin typeface="Book Antiqua" panose="02040602050305030304" pitchFamily="18" charset="0"/>
              </a:rPr>
              <a:t>El Romanticismo europeo mostró, como uno de sus rasgos, un espíritu contradictorio que se manifestó en una persistente vacilación entre sentimientos opuestos. Señale, luego de leer el siguiente fragmento de la leyenda “La ajorca de oro” de Gustavo Adolfo Bécquer, cuál es la alternativa que mejor expresa esa condición contradictoria.</a:t>
            </a:r>
          </a:p>
          <a:p>
            <a:r>
              <a:rPr lang="es-PE" sz="1600" dirty="0">
                <a:latin typeface="Book Antiqua" panose="02040602050305030304" pitchFamily="18" charset="0"/>
              </a:rPr>
              <a:t> </a:t>
            </a:r>
          </a:p>
          <a:p>
            <a:r>
              <a:rPr lang="es-PE" sz="1600" dirty="0">
                <a:latin typeface="Book Antiqua" panose="02040602050305030304" pitchFamily="18" charset="0"/>
              </a:rPr>
              <a:t>«Él la amaba; la amaba con ese amor que no conoce freno ni límites; la amaba con ese amor en que se busca un goce y sólo se encuentran martirios; amor que se asemeja a la felicidad, y que, no obstante, parece infundir el cielo para la expiación de una culpa ».</a:t>
            </a:r>
          </a:p>
          <a:p>
            <a:endParaRPr lang="es-PE" sz="1600" dirty="0">
              <a:latin typeface="Book Antiqua" panose="02040602050305030304" pitchFamily="18" charset="0"/>
            </a:endParaRPr>
          </a:p>
          <a:p>
            <a:pPr marL="342900" lvl="0" indent="-342900">
              <a:buFont typeface="+mj-lt"/>
              <a:buAutoNum type="alphaUcPeriod"/>
            </a:pPr>
            <a:r>
              <a:rPr lang="es-PE" sz="1600" dirty="0">
                <a:latin typeface="Book Antiqua" panose="02040602050305030304" pitchFamily="18" charset="0"/>
              </a:rPr>
              <a:t>amor en que se busca un goce y sólo se encuentran martirios *</a:t>
            </a:r>
          </a:p>
          <a:p>
            <a:pPr marL="342900" lvl="0" indent="-342900">
              <a:buFont typeface="+mj-lt"/>
              <a:buAutoNum type="alphaUcPeriod"/>
            </a:pPr>
            <a:r>
              <a:rPr lang="es-PE" sz="1600" dirty="0">
                <a:latin typeface="Book Antiqua" panose="02040602050305030304" pitchFamily="18" charset="0"/>
              </a:rPr>
              <a:t>parece infundir el cielo para la expiación de una culpa</a:t>
            </a:r>
          </a:p>
          <a:p>
            <a:pPr marL="342900" lvl="0" indent="-342900">
              <a:buFont typeface="+mj-lt"/>
              <a:buAutoNum type="alphaUcPeriod"/>
            </a:pPr>
            <a:r>
              <a:rPr lang="es-PE" sz="1600" dirty="0">
                <a:latin typeface="Book Antiqua" panose="02040602050305030304" pitchFamily="18" charset="0"/>
              </a:rPr>
              <a:t>amor que se asemeja a la felicidad</a:t>
            </a:r>
          </a:p>
          <a:p>
            <a:pPr marL="342900" lvl="0" indent="-342900">
              <a:buFont typeface="+mj-lt"/>
              <a:buAutoNum type="alphaUcPeriod"/>
            </a:pPr>
            <a:r>
              <a:rPr lang="es-PE" sz="1600" dirty="0">
                <a:latin typeface="Book Antiqua" panose="02040602050305030304" pitchFamily="18" charset="0"/>
              </a:rPr>
              <a:t>la amaba con ese amor que no conoce freno ni límites</a:t>
            </a:r>
          </a:p>
          <a:p>
            <a:r>
              <a:rPr lang="es-PE" dirty="0"/>
              <a:t> </a:t>
            </a:r>
          </a:p>
          <a:p>
            <a:pPr>
              <a:spcAft>
                <a:spcPts val="853"/>
              </a:spcAft>
            </a:pPr>
            <a:endParaRPr lang="es-PE" sz="2600" strike="noStrike" spc="-1" dirty="0">
              <a:solidFill>
                <a:srgbClr val="1C1C1C"/>
              </a:solidFill>
              <a:latin typeface="Book Antiqua" panose="02040602050305030304" pitchFamily="18" charset="0"/>
            </a:endParaRPr>
          </a:p>
        </p:txBody>
      </p:sp>
      <p:sp>
        <p:nvSpPr>
          <p:cNvPr id="3" name="CuadroTexto 2">
            <a:extLst>
              <a:ext uri="{FF2B5EF4-FFF2-40B4-BE49-F238E27FC236}">
                <a16:creationId xmlns:a16="http://schemas.microsoft.com/office/drawing/2014/main" id="{3E9BC073-D7CB-0036-13F4-CEBB5E760967}"/>
              </a:ext>
            </a:extLst>
          </p:cNvPr>
          <p:cNvSpPr txBox="1"/>
          <p:nvPr/>
        </p:nvSpPr>
        <p:spPr>
          <a:xfrm>
            <a:off x="6029739" y="3065763"/>
            <a:ext cx="3865355" cy="1927772"/>
          </a:xfrm>
          <a:prstGeom prst="rect">
            <a:avLst/>
          </a:prstGeom>
          <a:noFill/>
        </p:spPr>
        <p:txBody>
          <a:bodyPr wrap="square">
            <a:spAutoFit/>
          </a:bodyPr>
          <a:lstStyle/>
          <a:p>
            <a:pPr marL="457200">
              <a:lnSpc>
                <a:spcPct val="107000"/>
              </a:lnSpc>
              <a:buNone/>
            </a:pPr>
            <a:r>
              <a:rPr lang="es-PE" sz="1400" b="1"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Solución:</a:t>
            </a:r>
            <a:endParaRPr lang="es-PE" sz="1400" dirty="0">
              <a:effectLst/>
              <a:latin typeface="Book Antiqua" panose="02040602050305030304" pitchFamily="18" charset="0"/>
              <a:ea typeface="Aptos" panose="020B0004020202020204" pitchFamily="34" charset="0"/>
              <a:cs typeface="Times New Roman" panose="02020603050405020304" pitchFamily="18" charset="0"/>
            </a:endParaRPr>
          </a:p>
          <a:p>
            <a:pPr marL="457200">
              <a:lnSpc>
                <a:spcPct val="107000"/>
              </a:lnSpc>
              <a:buNone/>
            </a:pPr>
            <a:r>
              <a:rPr lang="es-PE" sz="14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En el texto de Bécquer el espíritu contradictorio del Romanticismo, se expresa mejor en el fragmento</a:t>
            </a:r>
            <a:r>
              <a:rPr lang="es-PE" sz="1400" dirty="0">
                <a:effectLst/>
                <a:latin typeface="Book Antiqua" panose="02040602050305030304" pitchFamily="18" charset="0"/>
                <a:ea typeface="Aptos" panose="020B0004020202020204" pitchFamily="34" charset="0"/>
                <a:cs typeface="Times New Roman" panose="02020603050405020304" pitchFamily="18" charset="0"/>
              </a:rPr>
              <a:t> </a:t>
            </a:r>
            <a:r>
              <a:rPr lang="es-PE" sz="1400" dirty="0">
                <a:solidFill>
                  <a:srgbClr val="000000"/>
                </a:solidFill>
                <a:effectLst/>
                <a:latin typeface="Book Antiqua" panose="02040602050305030304" pitchFamily="18" charset="0"/>
                <a:ea typeface="Aptos" panose="020B0004020202020204" pitchFamily="34" charset="0"/>
                <a:cs typeface="Times New Roman" panose="02020603050405020304" pitchFamily="18" charset="0"/>
              </a:rPr>
              <a:t>“amor en que se busca un goce y sólo se encuentran martirios” porque el amor se entiende al mismo tiempo como gozo y sufrimiento.</a:t>
            </a:r>
            <a:endParaRPr lang="es-PE" sz="1400" dirty="0">
              <a:effectLst/>
              <a:latin typeface="Book Antiqua" panose="0204060205030503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9919753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5F67D4-309C-FE4A-C397-9163928513D9}"/>
              </a:ext>
            </a:extLst>
          </p:cNvPr>
          <p:cNvSpPr>
            <a:spLocks noGrp="1"/>
          </p:cNvSpPr>
          <p:nvPr>
            <p:ph type="title"/>
          </p:nvPr>
        </p:nvSpPr>
        <p:spPr/>
        <p:txBody>
          <a:bodyPr/>
          <a:lstStyle/>
          <a:p>
            <a:r>
              <a:rPr lang="es-MX" b="1" dirty="0">
                <a:solidFill>
                  <a:schemeClr val="bg1"/>
                </a:solidFill>
                <a:latin typeface="Book Antiqua" panose="02040602050305030304" pitchFamily="18" charset="0"/>
              </a:rPr>
              <a:t>Ejercicio Literatura</a:t>
            </a:r>
            <a:endParaRPr lang="es-PE" b="1" dirty="0">
              <a:solidFill>
                <a:schemeClr val="bg1"/>
              </a:solidFill>
              <a:latin typeface="Book Antiqua" panose="02040602050305030304" pitchFamily="18" charset="0"/>
            </a:endParaRPr>
          </a:p>
        </p:txBody>
      </p:sp>
      <p:sp>
        <p:nvSpPr>
          <p:cNvPr id="3" name="Marcador de texto 2">
            <a:extLst>
              <a:ext uri="{FF2B5EF4-FFF2-40B4-BE49-F238E27FC236}">
                <a16:creationId xmlns:a16="http://schemas.microsoft.com/office/drawing/2014/main" id="{33AC45A3-6BF9-A978-5361-A0430DC56DB6}"/>
              </a:ext>
            </a:extLst>
          </p:cNvPr>
          <p:cNvSpPr>
            <a:spLocks noGrp="1"/>
          </p:cNvSpPr>
          <p:nvPr>
            <p:ph type="body"/>
          </p:nvPr>
        </p:nvSpPr>
        <p:spPr/>
        <p:txBody>
          <a:bodyPr>
            <a:normAutofit/>
          </a:bodyPr>
          <a:lstStyle/>
          <a:p>
            <a:pPr marL="0" indent="0">
              <a:buNone/>
            </a:pPr>
            <a:r>
              <a:rPr lang="es-MX" sz="2400" dirty="0">
                <a:latin typeface="Book Antiqua" panose="02040602050305030304" pitchFamily="18" charset="0"/>
              </a:rPr>
              <a:t>Indique qué característica de la Generación del 50 se manifestó en sus escritos.</a:t>
            </a:r>
          </a:p>
          <a:p>
            <a:pPr marL="457200" indent="-457200">
              <a:buFont typeface="+mj-lt"/>
              <a:buAutoNum type="alphaUcPeriod"/>
            </a:pPr>
            <a:endParaRPr lang="es-PE" sz="2400" dirty="0">
              <a:latin typeface="Book Antiqua" panose="02040602050305030304" pitchFamily="18" charset="0"/>
            </a:endParaRPr>
          </a:p>
          <a:p>
            <a:pPr marL="457200" lvl="0" indent="-457200">
              <a:buFont typeface="+mj-lt"/>
              <a:buAutoNum type="alphaUcPeriod"/>
            </a:pPr>
            <a:r>
              <a:rPr lang="es-PE" sz="2400" dirty="0">
                <a:latin typeface="Book Antiqua" panose="02040602050305030304" pitchFamily="18" charset="0"/>
              </a:rPr>
              <a:t>Sensibilidad social *</a:t>
            </a:r>
          </a:p>
          <a:p>
            <a:pPr marL="457200" lvl="0" indent="-457200">
              <a:buFont typeface="+mj-lt"/>
              <a:buAutoNum type="alphaUcPeriod"/>
            </a:pPr>
            <a:r>
              <a:rPr lang="es-PE" sz="2400" dirty="0">
                <a:latin typeface="Book Antiqua" panose="02040602050305030304" pitchFamily="18" charset="0"/>
              </a:rPr>
              <a:t>Sentimiento nacionalista</a:t>
            </a:r>
          </a:p>
          <a:p>
            <a:pPr marL="457200" lvl="0" indent="-457200">
              <a:buFont typeface="+mj-lt"/>
              <a:buAutoNum type="alphaUcPeriod"/>
            </a:pPr>
            <a:r>
              <a:rPr lang="es-PE" sz="2400" dirty="0">
                <a:latin typeface="Book Antiqua" panose="02040602050305030304" pitchFamily="18" charset="0"/>
              </a:rPr>
              <a:t>Influencia indigenista </a:t>
            </a:r>
          </a:p>
          <a:p>
            <a:pPr marL="457200" lvl="0" indent="-457200">
              <a:buFont typeface="+mj-lt"/>
              <a:buAutoNum type="alphaUcPeriod"/>
            </a:pPr>
            <a:r>
              <a:rPr lang="es-PE" sz="2400" dirty="0">
                <a:latin typeface="Book Antiqua" panose="02040602050305030304" pitchFamily="18" charset="0"/>
              </a:rPr>
              <a:t>Tono nostálgico</a:t>
            </a:r>
          </a:p>
          <a:p>
            <a:pPr marL="457200" lvl="0" indent="-457200">
              <a:buFont typeface="+mj-lt"/>
              <a:buAutoNum type="alphaUcPeriod"/>
            </a:pPr>
            <a:r>
              <a:rPr lang="es-PE" sz="2400" dirty="0">
                <a:latin typeface="Book Antiqua" panose="02040602050305030304" pitchFamily="18" charset="0"/>
              </a:rPr>
              <a:t>Apego a la realidad</a:t>
            </a:r>
          </a:p>
          <a:p>
            <a:endParaRPr lang="es-PE" dirty="0"/>
          </a:p>
        </p:txBody>
      </p:sp>
    </p:spTree>
    <p:extLst>
      <p:ext uri="{BB962C8B-B14F-4D97-AF65-F5344CB8AC3E}">
        <p14:creationId xmlns:p14="http://schemas.microsoft.com/office/powerpoint/2010/main" val="27806865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7BE13-A40A-5D37-0528-62C2ECAD4098}"/>
            </a:ext>
          </a:extLst>
        </p:cNvPr>
        <p:cNvGrpSpPr/>
        <p:nvPr/>
      </p:nvGrpSpPr>
      <p:grpSpPr>
        <a:xfrm>
          <a:off x="0" y="0"/>
          <a:ext cx="0" cy="0"/>
          <a:chOff x="0" y="0"/>
          <a:chExt cx="0" cy="0"/>
        </a:xfrm>
      </p:grpSpPr>
      <p:sp>
        <p:nvSpPr>
          <p:cNvPr id="90" name="TextShape 1">
            <a:extLst>
              <a:ext uri="{FF2B5EF4-FFF2-40B4-BE49-F238E27FC236}">
                <a16:creationId xmlns:a16="http://schemas.microsoft.com/office/drawing/2014/main" id="{1471D2BB-B2D6-4A7D-8BDE-BC4E19B804C3}"/>
              </a:ext>
            </a:extLst>
          </p:cNvPr>
          <p:cNvSpPr txBox="1"/>
          <p:nvPr/>
        </p:nvSpPr>
        <p:spPr>
          <a:xfrm>
            <a:off x="360000" y="270000"/>
            <a:ext cx="9360000" cy="720000"/>
          </a:xfrm>
          <a:prstGeom prst="rect">
            <a:avLst/>
          </a:prstGeom>
          <a:noFill/>
          <a:ln w="0">
            <a:noFill/>
          </a:ln>
        </p:spPr>
        <p:txBody>
          <a:bodyPr lIns="0" tIns="0" rIns="0" bIns="0" anchor="ctr" anchorCtr="0">
            <a:noAutofit/>
          </a:bodyPr>
          <a:lstStyle/>
          <a:p>
            <a:pPr>
              <a:spcBef>
                <a:spcPct val="0"/>
              </a:spcBef>
              <a:spcAft>
                <a:spcPts val="600"/>
              </a:spcAft>
            </a:pPr>
            <a:r>
              <a:rPr lang="es-MX" sz="4000" b="1" spc="-1" dirty="0">
                <a:solidFill>
                  <a:srgbClr val="FFFFFF"/>
                </a:solidFill>
                <a:latin typeface="Book Antiqua" panose="02040602050305030304" pitchFamily="18" charset="0"/>
              </a:rPr>
              <a:t>Ejercicio Lenguaje</a:t>
            </a:r>
            <a:endParaRPr lang="en-US" sz="4000" b="1" strike="noStrike" kern="1200" spc="-1" dirty="0">
              <a:solidFill>
                <a:srgbClr val="FFFFFF"/>
              </a:solidFill>
              <a:latin typeface="Book Antiqua" panose="02040602050305030304" pitchFamily="18" charset="0"/>
            </a:endParaRPr>
          </a:p>
        </p:txBody>
      </p:sp>
      <p:sp>
        <p:nvSpPr>
          <p:cNvPr id="91" name="TextShape 2">
            <a:extLst>
              <a:ext uri="{FF2B5EF4-FFF2-40B4-BE49-F238E27FC236}">
                <a16:creationId xmlns:a16="http://schemas.microsoft.com/office/drawing/2014/main" id="{868CB704-6B4D-BECC-505E-F9BE0BDC5D46}"/>
              </a:ext>
            </a:extLst>
          </p:cNvPr>
          <p:cNvSpPr txBox="1"/>
          <p:nvPr/>
        </p:nvSpPr>
        <p:spPr>
          <a:xfrm>
            <a:off x="359999" y="1152939"/>
            <a:ext cx="9359999" cy="3970045"/>
          </a:xfrm>
          <a:prstGeom prst="rect">
            <a:avLst/>
          </a:prstGeom>
          <a:noFill/>
          <a:ln w="0">
            <a:noFill/>
          </a:ln>
        </p:spPr>
        <p:txBody>
          <a:bodyPr lIns="0" tIns="0" rIns="0" bIns="0">
            <a:normAutofit/>
          </a:bodyPr>
          <a:lstStyle/>
          <a:p>
            <a:r>
              <a:rPr lang="es-PE" sz="2400" dirty="0">
                <a:latin typeface="Book Antiqua" panose="02040602050305030304" pitchFamily="18" charset="0"/>
              </a:rPr>
              <a:t>Cuando el lenguaje cumple función fática o de contacto, el elemento de la comunicación que destaca es</a:t>
            </a:r>
          </a:p>
          <a:p>
            <a:endParaRPr lang="es-PE" sz="2400" dirty="0">
              <a:latin typeface="Book Antiqua" panose="02040602050305030304" pitchFamily="18" charset="0"/>
            </a:endParaRPr>
          </a:p>
          <a:p>
            <a:r>
              <a:rPr lang="es-PE" sz="2400" dirty="0">
                <a:latin typeface="Book Antiqua" panose="02040602050305030304" pitchFamily="18" charset="0"/>
              </a:rPr>
              <a:t>A) el código. </a:t>
            </a:r>
          </a:p>
          <a:p>
            <a:r>
              <a:rPr lang="es-PE" sz="2400" dirty="0">
                <a:latin typeface="Book Antiqua" panose="02040602050305030304" pitchFamily="18" charset="0"/>
              </a:rPr>
              <a:t>B) el referente. </a:t>
            </a:r>
          </a:p>
          <a:p>
            <a:r>
              <a:rPr lang="es-PE" sz="2400" dirty="0">
                <a:latin typeface="Book Antiqua" panose="02040602050305030304" pitchFamily="18" charset="0"/>
              </a:rPr>
              <a:t>C) el canal. </a:t>
            </a:r>
          </a:p>
          <a:p>
            <a:r>
              <a:rPr lang="es-PE" sz="2400" dirty="0">
                <a:latin typeface="Book Antiqua" panose="02040602050305030304" pitchFamily="18" charset="0"/>
              </a:rPr>
              <a:t>D) el emisor. </a:t>
            </a:r>
          </a:p>
          <a:p>
            <a:r>
              <a:rPr lang="es-PE" sz="2400" dirty="0">
                <a:latin typeface="Book Antiqua" panose="02040602050305030304" pitchFamily="18" charset="0"/>
              </a:rPr>
              <a:t>E) el mensaje. </a:t>
            </a:r>
          </a:p>
        </p:txBody>
      </p:sp>
    </p:spTree>
    <p:extLst>
      <p:ext uri="{BB962C8B-B14F-4D97-AF65-F5344CB8AC3E}">
        <p14:creationId xmlns:p14="http://schemas.microsoft.com/office/powerpoint/2010/main" val="10886003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extShape 1"/>
          <p:cNvSpPr txBox="1"/>
          <p:nvPr/>
        </p:nvSpPr>
        <p:spPr>
          <a:xfrm>
            <a:off x="360000" y="270000"/>
            <a:ext cx="9360000" cy="720000"/>
          </a:xfrm>
          <a:prstGeom prst="rect">
            <a:avLst/>
          </a:prstGeom>
          <a:noFill/>
          <a:ln w="0">
            <a:noFill/>
          </a:ln>
        </p:spPr>
        <p:txBody>
          <a:bodyPr lIns="0" tIns="0" rIns="0" bIns="0" anchor="b">
            <a:noAutofit/>
          </a:bodyPr>
          <a:lstStyle/>
          <a:p>
            <a:endParaRPr lang="es-PE" sz="2400" b="1" strike="noStrike" spc="-1">
              <a:solidFill>
                <a:srgbClr val="FFFFFF"/>
              </a:solidFill>
              <a:latin typeface="Source Sans Pro Black"/>
            </a:endParaRPr>
          </a:p>
        </p:txBody>
      </p:sp>
      <p:sp>
        <p:nvSpPr>
          <p:cNvPr id="5" name="Título 1">
            <a:extLst>
              <a:ext uri="{FF2B5EF4-FFF2-40B4-BE49-F238E27FC236}">
                <a16:creationId xmlns:a16="http://schemas.microsoft.com/office/drawing/2014/main" id="{4F2512C7-66E1-CD4E-A235-ACE70A9EDCE6}"/>
              </a:ext>
            </a:extLst>
          </p:cNvPr>
          <p:cNvSpPr txBox="1">
            <a:spLocks/>
          </p:cNvSpPr>
          <p:nvPr/>
        </p:nvSpPr>
        <p:spPr>
          <a:xfrm>
            <a:off x="5614737" y="1638427"/>
            <a:ext cx="2837218" cy="57395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3600" dirty="0">
                <a:solidFill>
                  <a:srgbClr val="C00000"/>
                </a:solidFill>
                <a:latin typeface="Book Antiqua" panose="02040602050305030304" pitchFamily="18" charset="0"/>
                <a:cs typeface="Times New Roman" panose="02020603050405020304" pitchFamily="18" charset="0"/>
              </a:rPr>
              <a:t>Muchas gracias</a:t>
            </a:r>
            <a:endParaRPr lang="es-PE" sz="3600" dirty="0">
              <a:solidFill>
                <a:srgbClr val="C00000"/>
              </a:solidFill>
              <a:latin typeface="Book Antiqua" panose="02040602050305030304" pitchFamily="18" charset="0"/>
              <a:cs typeface="Times New Roman" panose="02020603050405020304" pitchFamily="18" charset="0"/>
            </a:endParaRPr>
          </a:p>
        </p:txBody>
      </p:sp>
      <p:sp>
        <p:nvSpPr>
          <p:cNvPr id="6" name="Marcador de contenido 2">
            <a:extLst>
              <a:ext uri="{FF2B5EF4-FFF2-40B4-BE49-F238E27FC236}">
                <a16:creationId xmlns:a16="http://schemas.microsoft.com/office/drawing/2014/main" id="{2A5E7B89-BF7B-0D0C-7C36-45C83BEEE7B1}"/>
              </a:ext>
            </a:extLst>
          </p:cNvPr>
          <p:cNvSpPr txBox="1">
            <a:spLocks/>
          </p:cNvSpPr>
          <p:nvPr/>
        </p:nvSpPr>
        <p:spPr>
          <a:xfrm>
            <a:off x="5145210" y="2665741"/>
            <a:ext cx="3776272" cy="1134018"/>
          </a:xfrm>
          <a:prstGeom prst="rect">
            <a:avLst/>
          </a:prstGeom>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3000" b="0" i="0" u="none" strike="noStrike" kern="1200" cap="none" spc="0" normalizeH="0" baseline="0" noProof="0" dirty="0" err="1">
                <a:ln>
                  <a:noFill/>
                </a:ln>
                <a:solidFill>
                  <a:srgbClr val="44546A"/>
                </a:solidFill>
                <a:effectLst/>
                <a:uLnTx/>
                <a:uFillTx/>
                <a:latin typeface="Book Antiqua" panose="02040602050305030304" pitchFamily="18" charset="0"/>
                <a:ea typeface="+mn-ea"/>
                <a:cs typeface="Times New Roman" panose="02020603050405020304" pitchFamily="18" charset="0"/>
              </a:rPr>
              <a:t>Guissela</a:t>
            </a:r>
            <a:r>
              <a:rPr kumimoji="0" lang="es-MX" sz="3000" b="0" i="0" u="none" strike="noStrike" kern="1200" cap="none" spc="0" normalizeH="0" baseline="0" noProof="0" dirty="0">
                <a:ln>
                  <a:noFill/>
                </a:ln>
                <a:solidFill>
                  <a:srgbClr val="44546A"/>
                </a:solidFill>
                <a:effectLst/>
                <a:uLnTx/>
                <a:uFillTx/>
                <a:latin typeface="Book Antiqua" panose="02040602050305030304" pitchFamily="18" charset="0"/>
                <a:ea typeface="+mn-ea"/>
                <a:cs typeface="Times New Roman" panose="02020603050405020304" pitchFamily="18" charset="0"/>
              </a:rPr>
              <a:t> Gonzales Fernández</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MX" sz="3000" b="0" i="0" u="none" strike="noStrike" kern="1200" cap="none" spc="0" normalizeH="0" baseline="0" noProof="0" dirty="0">
                <a:ln>
                  <a:noFill/>
                </a:ln>
                <a:solidFill>
                  <a:sysClr val="windowText" lastClr="000000"/>
                </a:solidFill>
                <a:effectLst/>
                <a:uLnTx/>
                <a:uFillTx/>
                <a:latin typeface="Book Antiqua" panose="02040602050305030304" pitchFamily="18" charset="0"/>
                <a:ea typeface="+mn-ea"/>
                <a:cs typeface="Times New Roman" panose="02020603050405020304" pitchFamily="18" charset="0"/>
              </a:rPr>
              <a:t>ggonzalesf@unmsm.edu.pe</a:t>
            </a:r>
            <a:endParaRPr kumimoji="0" lang="es-PE" sz="3000" b="0" i="0" u="none" strike="noStrike" kern="1200" cap="none" spc="0" normalizeH="0" baseline="0" noProof="0" dirty="0">
              <a:ln>
                <a:noFill/>
              </a:ln>
              <a:solidFill>
                <a:sysClr val="windowText" lastClr="000000"/>
              </a:solidFill>
              <a:effectLst/>
              <a:uLnTx/>
              <a:uFillTx/>
              <a:latin typeface="Book Antiqua" panose="02040602050305030304" pitchFamily="18" charset="0"/>
              <a:ea typeface="+mn-ea"/>
              <a:cs typeface="Times New Roman" panose="02020603050405020304" pitchFamily="18" charset="0"/>
            </a:endParaRPr>
          </a:p>
        </p:txBody>
      </p:sp>
      <p:pic>
        <p:nvPicPr>
          <p:cNvPr id="7" name="Graphic 6" descr="Apretón de manos">
            <a:extLst>
              <a:ext uri="{FF2B5EF4-FFF2-40B4-BE49-F238E27FC236}">
                <a16:creationId xmlns:a16="http://schemas.microsoft.com/office/drawing/2014/main" id="{EEF9EDBD-406C-9E1D-8452-E867FF28B2E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91841" y="1827870"/>
            <a:ext cx="2293351" cy="2293351"/>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69CC4-CADC-DC26-FAFB-09232FBB69F2}"/>
            </a:ext>
          </a:extLst>
        </p:cNvPr>
        <p:cNvGrpSpPr/>
        <p:nvPr/>
      </p:nvGrpSpPr>
      <p:grpSpPr>
        <a:xfrm>
          <a:off x="0" y="0"/>
          <a:ext cx="0" cy="0"/>
          <a:chOff x="0" y="0"/>
          <a:chExt cx="0" cy="0"/>
        </a:xfrm>
      </p:grpSpPr>
      <p:sp>
        <p:nvSpPr>
          <p:cNvPr id="90" name="TextShape 1">
            <a:extLst>
              <a:ext uri="{FF2B5EF4-FFF2-40B4-BE49-F238E27FC236}">
                <a16:creationId xmlns:a16="http://schemas.microsoft.com/office/drawing/2014/main" id="{034F5205-635E-C910-56ED-CA39AF54AFF6}"/>
              </a:ext>
            </a:extLst>
          </p:cNvPr>
          <p:cNvSpPr txBox="1"/>
          <p:nvPr/>
        </p:nvSpPr>
        <p:spPr>
          <a:xfrm>
            <a:off x="360000" y="270000"/>
            <a:ext cx="9360000" cy="720000"/>
          </a:xfrm>
          <a:prstGeom prst="rect">
            <a:avLst/>
          </a:prstGeom>
          <a:noFill/>
          <a:ln w="0">
            <a:noFill/>
          </a:ln>
        </p:spPr>
        <p:txBody>
          <a:bodyPr lIns="0" tIns="0" rIns="0" bIns="0" anchor="ctr" anchorCtr="0">
            <a:noAutofit/>
          </a:bodyPr>
          <a:lstStyle/>
          <a:p>
            <a:pPr algn="ctr">
              <a:spcBef>
                <a:spcPct val="0"/>
              </a:spcBef>
              <a:spcAft>
                <a:spcPts val="600"/>
              </a:spcAft>
            </a:pPr>
            <a:r>
              <a:rPr lang="es-MX" sz="2800" b="1" spc="-1" dirty="0">
                <a:solidFill>
                  <a:srgbClr val="FFFFFF"/>
                </a:solidFill>
                <a:latin typeface="Book Antiqua" panose="02040602050305030304" pitchFamily="18" charset="0"/>
              </a:rPr>
              <a:t>Í</a:t>
            </a:r>
            <a:r>
              <a:rPr lang="es-MX" sz="2800" b="1" strike="noStrike" kern="1200" spc="-1" dirty="0">
                <a:solidFill>
                  <a:srgbClr val="FFFFFF"/>
                </a:solidFill>
                <a:latin typeface="Book Antiqua" panose="02040602050305030304" pitchFamily="18" charset="0"/>
              </a:rPr>
              <a:t>tems para trabajar en clase: Literatura </a:t>
            </a:r>
            <a:endParaRPr lang="en-US" sz="2800" b="1" strike="noStrike" kern="1200" spc="-1" dirty="0">
              <a:solidFill>
                <a:srgbClr val="FFFFFF"/>
              </a:solidFill>
              <a:latin typeface="Book Antiqua" panose="02040602050305030304" pitchFamily="18" charset="0"/>
            </a:endParaRPr>
          </a:p>
        </p:txBody>
      </p:sp>
      <p:sp>
        <p:nvSpPr>
          <p:cNvPr id="91" name="TextShape 2">
            <a:extLst>
              <a:ext uri="{FF2B5EF4-FFF2-40B4-BE49-F238E27FC236}">
                <a16:creationId xmlns:a16="http://schemas.microsoft.com/office/drawing/2014/main" id="{7A0CD2A3-696B-5FC5-2291-C780F0D0A98B}"/>
              </a:ext>
            </a:extLst>
          </p:cNvPr>
          <p:cNvSpPr txBox="1"/>
          <p:nvPr/>
        </p:nvSpPr>
        <p:spPr>
          <a:xfrm>
            <a:off x="359999" y="1074421"/>
            <a:ext cx="9359999" cy="4048564"/>
          </a:xfrm>
          <a:prstGeom prst="rect">
            <a:avLst/>
          </a:prstGeom>
          <a:noFill/>
          <a:ln w="0">
            <a:noFill/>
          </a:ln>
        </p:spPr>
        <p:txBody>
          <a:bodyPr lIns="0" tIns="0" rIns="0" bIns="0">
            <a:normAutofit/>
          </a:bodyPr>
          <a:lstStyle/>
          <a:p>
            <a:endParaRPr lang="es-PE" dirty="0"/>
          </a:p>
          <a:p>
            <a:pPr marL="342900" indent="-342900">
              <a:buFont typeface="+mj-lt"/>
              <a:buAutoNum type="arabicPeriod"/>
            </a:pPr>
            <a:r>
              <a:rPr lang="es-PE" dirty="0"/>
              <a:t>Elabore un ítem de temática libre. Tome en consideración el tipo de pregunta que va a formular, el nivel de dificultad y la destreza cognitiva que se pretende evaluar.</a:t>
            </a:r>
          </a:p>
          <a:p>
            <a:pPr marL="342900" indent="-342900">
              <a:buFont typeface="+mj-lt"/>
              <a:buAutoNum type="arabicPeriod"/>
            </a:pPr>
            <a:endParaRPr lang="es-PE" dirty="0"/>
          </a:p>
          <a:p>
            <a:pPr marL="342900" indent="-342900">
              <a:buFont typeface="+mj-lt"/>
              <a:buAutoNum type="arabicPeriod"/>
            </a:pPr>
            <a:r>
              <a:rPr lang="es-PE" dirty="0"/>
              <a:t>Transforme el ítem propuesto en un ítem con enfoque por competencias. </a:t>
            </a:r>
          </a:p>
          <a:p>
            <a:pPr marL="342900" indent="-342900">
              <a:buFont typeface="+mj-lt"/>
              <a:buAutoNum type="arabicPeriod"/>
            </a:pPr>
            <a:endParaRPr lang="es-PE" dirty="0"/>
          </a:p>
          <a:p>
            <a:r>
              <a:rPr lang="es-PE" sz="1400" dirty="0"/>
              <a:t>Los yaravíes de Melgar son</a:t>
            </a:r>
          </a:p>
          <a:p>
            <a:endParaRPr lang="es-PE" sz="1400" dirty="0"/>
          </a:p>
          <a:p>
            <a:r>
              <a:rPr lang="es-PE" sz="1400" dirty="0"/>
              <a:t>A) composiciones amorosas en quechua. </a:t>
            </a:r>
          </a:p>
          <a:p>
            <a:r>
              <a:rPr lang="es-PE" sz="1400" dirty="0"/>
              <a:t>B) cantos breves de carácter eglógico.</a:t>
            </a:r>
          </a:p>
          <a:p>
            <a:r>
              <a:rPr lang="es-PE" sz="1400" dirty="0"/>
              <a:t>C) poemas </a:t>
            </a:r>
            <a:r>
              <a:rPr lang="es-PE" sz="1400" dirty="0" err="1"/>
              <a:t>alabatorios</a:t>
            </a:r>
            <a:r>
              <a:rPr lang="es-PE" sz="1400" dirty="0"/>
              <a:t> de intención patriótica. </a:t>
            </a:r>
          </a:p>
          <a:p>
            <a:r>
              <a:rPr lang="es-PE" sz="1400" dirty="0"/>
              <a:t>D) poemas elegiacos de amor y ausencia. </a:t>
            </a:r>
          </a:p>
          <a:p>
            <a:r>
              <a:rPr lang="es-PE" sz="1400" dirty="0"/>
              <a:t>E) expresiones románticas bajo el molde becqueriano. </a:t>
            </a:r>
          </a:p>
          <a:p>
            <a:r>
              <a:rPr lang="es-PE" dirty="0"/>
              <a:t> </a:t>
            </a:r>
          </a:p>
          <a:p>
            <a:r>
              <a:rPr lang="es-PE" dirty="0"/>
              <a:t>3. Elabore un ítem que se centre en la obra de Manuel González Prada. Nivel difícil. Ítem de secuencia verdadero falso.</a:t>
            </a:r>
          </a:p>
        </p:txBody>
      </p:sp>
    </p:spTree>
    <p:extLst>
      <p:ext uri="{BB962C8B-B14F-4D97-AF65-F5344CB8AC3E}">
        <p14:creationId xmlns:p14="http://schemas.microsoft.com/office/powerpoint/2010/main" val="34848622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F6634-7B90-2FC2-BD40-85E5DAFAA9E3}"/>
            </a:ext>
          </a:extLst>
        </p:cNvPr>
        <p:cNvGrpSpPr/>
        <p:nvPr/>
      </p:nvGrpSpPr>
      <p:grpSpPr>
        <a:xfrm>
          <a:off x="0" y="0"/>
          <a:ext cx="0" cy="0"/>
          <a:chOff x="0" y="0"/>
          <a:chExt cx="0" cy="0"/>
        </a:xfrm>
      </p:grpSpPr>
      <p:sp>
        <p:nvSpPr>
          <p:cNvPr id="90" name="TextShape 1">
            <a:extLst>
              <a:ext uri="{FF2B5EF4-FFF2-40B4-BE49-F238E27FC236}">
                <a16:creationId xmlns:a16="http://schemas.microsoft.com/office/drawing/2014/main" id="{E1343BEE-C472-DA36-2C66-C0D08AE72572}"/>
              </a:ext>
            </a:extLst>
          </p:cNvPr>
          <p:cNvSpPr txBox="1"/>
          <p:nvPr/>
        </p:nvSpPr>
        <p:spPr>
          <a:xfrm>
            <a:off x="360000" y="270000"/>
            <a:ext cx="9360000" cy="720000"/>
          </a:xfrm>
          <a:prstGeom prst="rect">
            <a:avLst/>
          </a:prstGeom>
          <a:noFill/>
          <a:ln w="0">
            <a:noFill/>
          </a:ln>
        </p:spPr>
        <p:txBody>
          <a:bodyPr lIns="0" tIns="0" rIns="0" bIns="0" anchor="ctr" anchorCtr="0">
            <a:noAutofit/>
          </a:bodyPr>
          <a:lstStyle/>
          <a:p>
            <a:pPr algn="ctr">
              <a:spcBef>
                <a:spcPct val="0"/>
              </a:spcBef>
              <a:spcAft>
                <a:spcPts val="600"/>
              </a:spcAft>
            </a:pPr>
            <a:r>
              <a:rPr lang="es-MX" sz="2800" b="1" spc="-1" dirty="0">
                <a:solidFill>
                  <a:srgbClr val="FFFFFF"/>
                </a:solidFill>
                <a:latin typeface="Book Antiqua" panose="02040602050305030304" pitchFamily="18" charset="0"/>
              </a:rPr>
              <a:t>Í</a:t>
            </a:r>
            <a:r>
              <a:rPr lang="es-MX" sz="2800" b="1" strike="noStrike" kern="1200" spc="-1" dirty="0">
                <a:solidFill>
                  <a:srgbClr val="FFFFFF"/>
                </a:solidFill>
                <a:latin typeface="Book Antiqua" panose="02040602050305030304" pitchFamily="18" charset="0"/>
              </a:rPr>
              <a:t>tems para trabajar en clase: Lengua</a:t>
            </a:r>
            <a:endParaRPr lang="en-US" sz="2800" b="1" strike="noStrike" kern="1200" spc="-1" dirty="0">
              <a:solidFill>
                <a:srgbClr val="FFFFFF"/>
              </a:solidFill>
              <a:latin typeface="Book Antiqua" panose="02040602050305030304" pitchFamily="18" charset="0"/>
            </a:endParaRPr>
          </a:p>
        </p:txBody>
      </p:sp>
      <p:sp>
        <p:nvSpPr>
          <p:cNvPr id="91" name="TextShape 2">
            <a:extLst>
              <a:ext uri="{FF2B5EF4-FFF2-40B4-BE49-F238E27FC236}">
                <a16:creationId xmlns:a16="http://schemas.microsoft.com/office/drawing/2014/main" id="{39C15A34-24B6-75B5-7A93-1473E47A82D9}"/>
              </a:ext>
            </a:extLst>
          </p:cNvPr>
          <p:cNvSpPr txBox="1"/>
          <p:nvPr/>
        </p:nvSpPr>
        <p:spPr>
          <a:xfrm>
            <a:off x="359999" y="1152939"/>
            <a:ext cx="9359999" cy="3970045"/>
          </a:xfrm>
          <a:prstGeom prst="rect">
            <a:avLst/>
          </a:prstGeom>
          <a:noFill/>
          <a:ln w="0">
            <a:noFill/>
          </a:ln>
        </p:spPr>
        <p:txBody>
          <a:bodyPr lIns="0" tIns="0" rIns="0" bIns="0">
            <a:normAutofit/>
          </a:bodyPr>
          <a:lstStyle/>
          <a:p>
            <a:pPr marL="342900" indent="-342900">
              <a:buFont typeface="+mj-lt"/>
              <a:buAutoNum type="arabicPeriod"/>
            </a:pPr>
            <a:r>
              <a:rPr lang="es-PE" dirty="0"/>
              <a:t>Elabore un ítem de temática libre. Tome en consideración el tipo de pregunta que va a formular, el nivel de dificultad y la destreza cognitiva que se pretende evaluar.</a:t>
            </a:r>
          </a:p>
          <a:p>
            <a:pPr marL="342900" indent="-342900">
              <a:buFont typeface="+mj-lt"/>
              <a:buAutoNum type="arabicPeriod"/>
            </a:pPr>
            <a:endParaRPr lang="es-PE" dirty="0"/>
          </a:p>
          <a:p>
            <a:pPr marL="342900" indent="-342900">
              <a:buFont typeface="+mj-lt"/>
              <a:buAutoNum type="arabicPeriod"/>
            </a:pPr>
            <a:r>
              <a:rPr lang="es-PE" dirty="0"/>
              <a:t>Transforme el ítem propuesto en un ítem con enfoque por competencias. </a:t>
            </a:r>
          </a:p>
          <a:p>
            <a:pPr marL="342900" indent="-342900">
              <a:buFont typeface="+mj-lt"/>
              <a:buAutoNum type="arabicPeriod"/>
            </a:pPr>
            <a:endParaRPr lang="es-PE" dirty="0"/>
          </a:p>
          <a:p>
            <a:r>
              <a:rPr lang="es-PE" sz="1200" dirty="0"/>
              <a:t>Señale la opción en la que se ha aplicado correctamente las reglas del acento escrito.</a:t>
            </a:r>
          </a:p>
          <a:p>
            <a:r>
              <a:rPr lang="es-PE" sz="1200" dirty="0"/>
              <a:t> </a:t>
            </a:r>
          </a:p>
          <a:p>
            <a:r>
              <a:rPr lang="es-PE" sz="1200" dirty="0"/>
              <a:t>A) Sé que </a:t>
            </a:r>
            <a:r>
              <a:rPr lang="es-PE" sz="1200" dirty="0" err="1"/>
              <a:t>dió</a:t>
            </a:r>
            <a:r>
              <a:rPr lang="es-PE" sz="1200" dirty="0"/>
              <a:t> todo de sí. </a:t>
            </a:r>
          </a:p>
          <a:p>
            <a:r>
              <a:rPr lang="es-PE" sz="1200" dirty="0"/>
              <a:t>B) Te convocó a </a:t>
            </a:r>
            <a:r>
              <a:rPr lang="es-PE" sz="1200" dirty="0" err="1"/>
              <a:t>tí</a:t>
            </a:r>
            <a:r>
              <a:rPr lang="es-PE" sz="1200" dirty="0"/>
              <a:t> y a mí. </a:t>
            </a:r>
          </a:p>
          <a:p>
            <a:r>
              <a:rPr lang="es-PE" sz="1200" dirty="0"/>
              <a:t>C) En exceso, él te hace daño. </a:t>
            </a:r>
          </a:p>
          <a:p>
            <a:r>
              <a:rPr lang="es-PE" sz="1200" dirty="0"/>
              <a:t>D) Dinos si estás ahí. </a:t>
            </a:r>
          </a:p>
          <a:p>
            <a:r>
              <a:rPr lang="es-PE" sz="1200" dirty="0"/>
              <a:t>E) Él </a:t>
            </a:r>
            <a:r>
              <a:rPr lang="es-PE" sz="1200" dirty="0" err="1"/>
              <a:t>dá</a:t>
            </a:r>
            <a:r>
              <a:rPr lang="es-PE" sz="1200" dirty="0"/>
              <a:t> para más. </a:t>
            </a:r>
          </a:p>
          <a:p>
            <a:r>
              <a:rPr lang="es-PE" dirty="0"/>
              <a:t> </a:t>
            </a:r>
          </a:p>
          <a:p>
            <a:r>
              <a:rPr lang="es-PE" dirty="0"/>
              <a:t>3. Elabore un ítem que se centre en el uso correcto de la coma. Nivel difícil. Ítem para completar o con dos columnas </a:t>
            </a:r>
            <a:r>
              <a:rPr lang="es-PE"/>
              <a:t>para relacionar.</a:t>
            </a:r>
            <a:endParaRPr lang="es-PE" dirty="0"/>
          </a:p>
          <a:p>
            <a:endParaRPr lang="es-PE" dirty="0"/>
          </a:p>
        </p:txBody>
      </p:sp>
    </p:spTree>
    <p:extLst>
      <p:ext uri="{BB962C8B-B14F-4D97-AF65-F5344CB8AC3E}">
        <p14:creationId xmlns:p14="http://schemas.microsoft.com/office/powerpoint/2010/main" val="29938246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27A97-1544-7CD8-D430-304CE3A8C159}"/>
            </a:ext>
          </a:extLst>
        </p:cNvPr>
        <p:cNvGrpSpPr/>
        <p:nvPr/>
      </p:nvGrpSpPr>
      <p:grpSpPr>
        <a:xfrm>
          <a:off x="0" y="0"/>
          <a:ext cx="0" cy="0"/>
          <a:chOff x="0" y="0"/>
          <a:chExt cx="0" cy="0"/>
        </a:xfrm>
      </p:grpSpPr>
      <p:sp>
        <p:nvSpPr>
          <p:cNvPr id="90" name="TextShape 1">
            <a:extLst>
              <a:ext uri="{FF2B5EF4-FFF2-40B4-BE49-F238E27FC236}">
                <a16:creationId xmlns:a16="http://schemas.microsoft.com/office/drawing/2014/main" id="{FB4ABC61-165B-B377-CD33-3E9B7EF3195C}"/>
              </a:ext>
            </a:extLst>
          </p:cNvPr>
          <p:cNvSpPr txBox="1"/>
          <p:nvPr/>
        </p:nvSpPr>
        <p:spPr>
          <a:xfrm>
            <a:off x="360000" y="270000"/>
            <a:ext cx="9360000" cy="720000"/>
          </a:xfrm>
          <a:prstGeom prst="rect">
            <a:avLst/>
          </a:prstGeom>
          <a:noFill/>
          <a:ln w="0">
            <a:noFill/>
          </a:ln>
        </p:spPr>
        <p:txBody>
          <a:bodyPr lIns="0" tIns="0" rIns="0" bIns="0" anchor="ctr" anchorCtr="0">
            <a:noAutofit/>
          </a:bodyPr>
          <a:lstStyle/>
          <a:p>
            <a:pPr algn="ctr">
              <a:spcBef>
                <a:spcPct val="0"/>
              </a:spcBef>
              <a:spcAft>
                <a:spcPts val="600"/>
              </a:spcAft>
            </a:pPr>
            <a:r>
              <a:rPr lang="es-MX" sz="2800" b="1" spc="-1" dirty="0">
                <a:solidFill>
                  <a:srgbClr val="FFFFFF"/>
                </a:solidFill>
                <a:latin typeface="Book Antiqua" panose="02040602050305030304" pitchFamily="18" charset="0"/>
              </a:rPr>
              <a:t>Í</a:t>
            </a:r>
            <a:r>
              <a:rPr lang="es-MX" sz="2800" b="1" strike="noStrike" kern="1200" spc="-1" dirty="0">
                <a:solidFill>
                  <a:srgbClr val="FFFFFF"/>
                </a:solidFill>
                <a:latin typeface="Book Antiqua" panose="02040602050305030304" pitchFamily="18" charset="0"/>
              </a:rPr>
              <a:t>tems para trabajar en clase: Habilidad verbal</a:t>
            </a:r>
            <a:endParaRPr lang="en-US" sz="2800" b="1" strike="noStrike" kern="1200" spc="-1" dirty="0">
              <a:solidFill>
                <a:srgbClr val="FFFFFF"/>
              </a:solidFill>
              <a:latin typeface="Book Antiqua" panose="02040602050305030304" pitchFamily="18" charset="0"/>
            </a:endParaRPr>
          </a:p>
        </p:txBody>
      </p:sp>
      <p:sp>
        <p:nvSpPr>
          <p:cNvPr id="91" name="TextShape 2">
            <a:extLst>
              <a:ext uri="{FF2B5EF4-FFF2-40B4-BE49-F238E27FC236}">
                <a16:creationId xmlns:a16="http://schemas.microsoft.com/office/drawing/2014/main" id="{269D011E-4BC9-DA00-C57F-8623B1C3FCA5}"/>
              </a:ext>
            </a:extLst>
          </p:cNvPr>
          <p:cNvSpPr txBox="1"/>
          <p:nvPr/>
        </p:nvSpPr>
        <p:spPr>
          <a:xfrm>
            <a:off x="359999" y="1152939"/>
            <a:ext cx="9359999" cy="3970045"/>
          </a:xfrm>
          <a:prstGeom prst="rect">
            <a:avLst/>
          </a:prstGeom>
          <a:noFill/>
          <a:ln w="0">
            <a:noFill/>
          </a:ln>
        </p:spPr>
        <p:txBody>
          <a:bodyPr lIns="0" tIns="0" rIns="0" bIns="0">
            <a:normAutofit/>
          </a:bodyPr>
          <a:lstStyle/>
          <a:p>
            <a:r>
              <a:rPr lang="es-PE" dirty="0"/>
              <a:t>Trabaje un texto dialectico y a partir de él elabore los siguientes tipos de preguntas</a:t>
            </a:r>
          </a:p>
          <a:p>
            <a:endParaRPr lang="es-PE" dirty="0"/>
          </a:p>
          <a:p>
            <a:r>
              <a:rPr lang="es-MX" dirty="0"/>
              <a:t> </a:t>
            </a:r>
          </a:p>
          <a:p>
            <a:pPr marL="342900" indent="-342900">
              <a:buFont typeface="+mj-lt"/>
              <a:buAutoNum type="arabicPeriod"/>
            </a:pPr>
            <a:r>
              <a:rPr lang="es-MX" dirty="0"/>
              <a:t>Idea principal	</a:t>
            </a:r>
          </a:p>
          <a:p>
            <a:pPr marL="342900" indent="-342900">
              <a:buFont typeface="+mj-lt"/>
              <a:buAutoNum type="arabicPeriod"/>
            </a:pPr>
            <a:r>
              <a:rPr lang="es-MX" dirty="0"/>
              <a:t>Síntesis</a:t>
            </a:r>
          </a:p>
          <a:p>
            <a:pPr marL="342900" indent="-342900">
              <a:buFont typeface="+mj-lt"/>
              <a:buAutoNum type="arabicPeriod"/>
            </a:pPr>
            <a:r>
              <a:rPr lang="es-MX" dirty="0"/>
              <a:t>Sentido contextual</a:t>
            </a:r>
          </a:p>
          <a:p>
            <a:pPr marL="342900" indent="-342900">
              <a:buFont typeface="+mj-lt"/>
              <a:buAutoNum type="arabicPeriod"/>
            </a:pPr>
            <a:r>
              <a:rPr lang="es-MX" dirty="0"/>
              <a:t>Compatibilidad</a:t>
            </a:r>
          </a:p>
          <a:p>
            <a:pPr marL="342900" indent="-342900">
              <a:buFont typeface="+mj-lt"/>
              <a:buAutoNum type="arabicPeriod"/>
            </a:pPr>
            <a:r>
              <a:rPr lang="es-MX" dirty="0"/>
              <a:t>Inferencia</a:t>
            </a:r>
          </a:p>
          <a:p>
            <a:pPr marL="342900" indent="-342900">
              <a:buFont typeface="+mj-lt"/>
              <a:buAutoNum type="arabicPeriod"/>
            </a:pPr>
            <a:r>
              <a:rPr lang="es-MX" dirty="0"/>
              <a:t>Extrapolación</a:t>
            </a:r>
          </a:p>
          <a:p>
            <a:r>
              <a:rPr lang="es-PE" dirty="0"/>
              <a:t> </a:t>
            </a:r>
          </a:p>
          <a:p>
            <a:endParaRPr lang="es-PE" dirty="0"/>
          </a:p>
        </p:txBody>
      </p:sp>
    </p:spTree>
    <p:extLst>
      <p:ext uri="{BB962C8B-B14F-4D97-AF65-F5344CB8AC3E}">
        <p14:creationId xmlns:p14="http://schemas.microsoft.com/office/powerpoint/2010/main" val="2175517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AE6F2518-B084-4896-AF52-66CC2144AA26}"/>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13810</TotalTime>
  <Words>5512</Words>
  <Application>Microsoft Office PowerPoint</Application>
  <PresentationFormat>Personalizado</PresentationFormat>
  <Paragraphs>481</Paragraphs>
  <Slides>66</Slides>
  <Notes>2</Notes>
  <HiddenSlides>0</HiddenSlides>
  <MMClips>0</MMClips>
  <ScaleCrop>false</ScaleCrop>
  <HeadingPairs>
    <vt:vector size="6" baseType="variant">
      <vt:variant>
        <vt:lpstr>Fuentes usadas</vt:lpstr>
      </vt:variant>
      <vt:variant>
        <vt:i4>9</vt:i4>
      </vt:variant>
      <vt:variant>
        <vt:lpstr>Tema</vt:lpstr>
      </vt:variant>
      <vt:variant>
        <vt:i4>3</vt:i4>
      </vt:variant>
      <vt:variant>
        <vt:lpstr>Títulos de diapositiva</vt:lpstr>
      </vt:variant>
      <vt:variant>
        <vt:i4>66</vt:i4>
      </vt:variant>
    </vt:vector>
  </HeadingPairs>
  <TitlesOfParts>
    <vt:vector size="78" baseType="lpstr">
      <vt:lpstr>Arial</vt:lpstr>
      <vt:lpstr>Book Antiqua</vt:lpstr>
      <vt:lpstr>Calibri</vt:lpstr>
      <vt:lpstr>Calibri Light</vt:lpstr>
      <vt:lpstr>Source Sans Pro Black</vt:lpstr>
      <vt:lpstr>Source Sans Pro Light</vt:lpstr>
      <vt:lpstr>Source Sans Pro Semibold</vt:lpstr>
      <vt:lpstr>Times New Roman</vt:lpstr>
      <vt:lpstr>Wingdings</vt:lpstr>
      <vt:lpstr>Office Theme</vt:lpstr>
      <vt:lpstr>Office Theme</vt:lpstr>
      <vt:lpstr>Tema de Office</vt:lpstr>
      <vt:lpstr>Presentación de PowerPoint</vt:lpstr>
      <vt:lpstr>¿Qué es ser competente?</vt:lpstr>
      <vt:lpstr>Presentación de PowerPoint</vt:lpstr>
      <vt:lpstr>Presentación de PowerPoint</vt:lpstr>
      <vt:lpstr>Presentación de PowerPoint</vt:lpstr>
      <vt:lpstr>¿Cómo no se debe hacer un ítem según el modelo por competencias?</vt:lpstr>
      <vt:lpstr>Sobre el enunciado (Contexto y/o Cotexto)</vt:lpstr>
      <vt:lpstr>Presentación de PowerPoint</vt:lpstr>
      <vt:lpstr>Presentación de PowerPoint</vt:lpstr>
      <vt:lpstr>Criterios para la graduación de niveles de dificultad de los ítems</vt:lpstr>
      <vt:lpstr>Presentación de PowerPoint</vt:lpstr>
      <vt:lpstr>1. Conocimiento de contenidos temáticos</vt:lpstr>
      <vt:lpstr>Presentación de PowerPoint</vt:lpstr>
      <vt:lpstr>Presentación de PowerPoint</vt:lpstr>
      <vt:lpstr>Pasos para la elaboración de ítems según el enfoque por competencias</vt:lpstr>
      <vt:lpstr>Paso 1: Revisar el temario</vt:lpstr>
      <vt:lpstr>Ejemplo de ítem con opciones para escoger</vt:lpstr>
      <vt:lpstr>Ejemplo de ítem con columnas para relacionar</vt:lpstr>
      <vt:lpstr>Paso 2: Buscar la información necesaria</vt:lpstr>
      <vt:lpstr>Paso 3. Concepción de la pregunta: una destreza cognitiva</vt:lpstr>
      <vt:lpstr>Paso 4: Determinar la posibilidad de insertar el tema elegido en un caso concreto</vt:lpstr>
      <vt:lpstr>Paso 5: Reajustar y reformular el ítem si no está orientado hacia el objetivo</vt:lpstr>
      <vt:lpstr>Paso 6: Procurar un idóneo grado de complejidad en el enunciado o las alternativas </vt:lpstr>
      <vt:lpstr>Paso 7. Revisar y corregir hasta llegar a una versión óptima a nivel formal</vt:lpstr>
      <vt:lpstr>Aspectos formales para la elaboración de ítems</vt:lpstr>
      <vt:lpstr>Aspectos formales para la elaboración de ítems</vt:lpstr>
      <vt:lpstr>Aspectos formales para la elaboración de ítems</vt:lpstr>
      <vt:lpstr>Aspectos formales para la elaboración de ítems</vt:lpstr>
      <vt:lpstr>Presentación de PowerPoint</vt:lpstr>
      <vt:lpstr>Ejemplos de ítems del área de Comunicación </vt:lpstr>
      <vt:lpstr>Presentación de PowerPoint</vt:lpstr>
      <vt:lpstr>Presentación de PowerPoint</vt:lpstr>
      <vt:lpstr>Presentación de PowerPoint</vt:lpstr>
      <vt:lpstr>Presentación de PowerPoint</vt:lpstr>
      <vt:lpstr>Presentación de PowerPoint</vt:lpstr>
      <vt:lpstr>Presentación de PowerPoint</vt:lpstr>
      <vt:lpstr>TEXTO </vt:lpstr>
      <vt:lpstr>Pregunta por tema o  idea principal</vt:lpstr>
      <vt:lpstr>Sentido contextual</vt:lpstr>
      <vt:lpstr>Inferencia</vt:lpstr>
      <vt:lpstr>Incompatibilidad</vt:lpstr>
      <vt:lpstr>Extrapolación </vt:lpstr>
      <vt:lpstr>Extrapolación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Ejercicio Literatura</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Alizarin</dc:title>
  <dc:subject/>
  <dc:creator>RENATO</dc:creator>
  <dc:description/>
  <cp:lastModifiedBy>Pc</cp:lastModifiedBy>
  <cp:revision>145</cp:revision>
  <dcterms:created xsi:type="dcterms:W3CDTF">2021-11-10T09:02:18Z</dcterms:created>
  <dcterms:modified xsi:type="dcterms:W3CDTF">2026-02-20T22:41:28Z</dcterms:modified>
  <dc:language>es-PE</dc:language>
</cp:coreProperties>
</file>